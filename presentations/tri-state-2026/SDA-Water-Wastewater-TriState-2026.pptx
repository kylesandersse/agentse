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no "thanks for having me," no logo warm-up. 50 minutes total, plan ~42 speaking + 8 Q&amp;A.
Say something close to: "Everything I'm going to describe this morning was, at the time it was built, the right answer. That's what makes it hard."
Then introduce yourself briefly and move. Do not spend more than 90 seconds before slide 3 — the hook is the question, not your resume.
TIMING CHECKPOINT: off this slide by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60-75 seconds. The left card is credentials; the right card is the real point.
Land the disclosure line deliberately and slow down on it: "I work for one of the companies that built the problem I'm about to describe."
That sentence buys you the next 40 minutes. It tells a room full of people who have been pitched at this conference for twenty years that this is not that. Do not undercut it with a joke.
TIMING CHECKPOINT: off this slide by 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Ask the question, then stop talking. Count to three. Let it sit.
Almost everyone in the room will answer "we do — we paid for it." The follow-up line on the slide is the trap door: "Not who wrote it. Not who paid for it. Who can MOVE it."
Optional show of hands: "How many of you could take the logic out of the controller in your headworks and run it on a different manufacturer's box next month?" Expect zero hands. Say "Right. Hold onto that — that's the whole talk."
TIMING CHECKPOINT: off this slide by 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 45 seconds. Agendas do not earn attention, they only orient.
The one thing worth saying out loud: "I'm going to spend the first half of this talk on history. Stay with me — the history IS the argument. If you don't see how we got here, the fix sounds like a product pitch."
TIMING CHECKPOINT: off this slide by 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"To understand where this is going, we have to be honest about where it came from. And it starts in a car factory, not a water plant."
TIMING CHECKPOINT: off this slide by 0:05:30.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FOR ACT I — say some version of this before you get into the relay panel: "I'm not a controls engineer. Most of you have probably programmed a PLC — I never have. But I went and dug into why they exist, and it's a better story than I expected."
That's not an apology, and don't deliver it like one. You're not claiming to know this better than the room — you're reporting back on something you found interesting. That's the honest version of your authority for the next ten minutes, and it's a stronger position than pretending expertise you don't have. If someone in the audience knows a detail better than the slide, that's a good outcome, not a threat — let them add it and move on.
Paint the picture physically. A relay panel the size of the back wall of this room. Hundreds of relays. A schematic that only two people in the building can read.
The key idea to plant: logic and wiring were THE SAME PHYSICAL OBJECT. You could not change one without the other. Say that phrase — you'll call back to it three times.
TIMING CHECKPOINT: off this slide by 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Act I. Do not rush it.
The PLC was not invented to add features. It was invented to SEPARATE two things that had been welded together: what the machine does (logic) and how the machine is built (wiring).
Say it plainly: "The PLC was the first act of decoupling in our industry. That's the whole reason it exists. Hold that thought, because in about ten minutes I'm going to argue that we stopped doing it."
Detail worth one sentence: GM bought roughly a million dollars of them, which is what turned an 84th side project into an industry.
STAY INSIDE THE BULLETS. Everything on this slide is a well-sourced fact at the level a non-engineer can say with a straight face — a spec list and a company history, not programming mechanics. Say what's written and stop. Don't try to ad-lib how ladder logic actually works, why solid-state beat relays electrically, or anything else below that line — you don't need to defend engineering you don't do, and reaching for it is the only way this slide goes wrong.
If someone asks something more technical than the slide: "That's a great one for the room — anyone want to add color?" Handing it to an actual controls engineer in the audience makes you look more credible, not less. It's the same move as the disclosure on slide 2.
POCKET FACT, only if asked "who actually invented it": the engineer most associated with it is Dick Morley, at Bedford Associates. You don't need his name on the slide — just don't get caught not knowing it if someone name-checks him.
TIMING CHECKPOINT: off this slide by 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briskly — 90 seconds. This slide exists to set up the third card, which is the first appearance of the villain.
The trade: integration you didn't have to build, in exchange for a stack that only works because one company owns every layer.
Nobody was tricked here. That trade was a genuinely good deal in 1975. Say so — your credibility depends on the audience believing you're being fair.
TIMING CHECKPOINT: off this slide by 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room lives in the top layer, so this is where they recognize themselves. Acknowledge that — "this is probably the screen you were looking at yesterday."
Be generous about what SCADA solved. Visibility, alarming, trending, compliance reporting, running a system too geographically spread out to walk. Real problems, really solved.
Then the setup line for Act II, pointing at the diagram: "Look at what we built. Three layers. Each one solved a real problem. And each one came from a vendor who needed the layer below it to be theirs."
TIMING CHECKPOINT: off this slide by 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bottom line and then pause: "Every one of those promises was kept. That is not the problem."
This is the pivot of the whole talk. You have just spent eight minutes being fair to the technology — which means the room will let you turn now.
Transition: "The problem is what we DIDN'T do. There was a second seam nobody ever cut."
TIMING CHECKPOINT: off this slide by 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beat. Say the subtitle out loud — it's the thesis sentence of the talk.
TIMING CHECKPOINT: off this slide by 0:14:30.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villain reveal. Deliver the title line as a flat statement of fact, not an accusation: "Your control logic has a serial number."
Concrete example that lands with this audience: a pump station sequence — the interlocks, the lead-lag rotation, the alarm logic. It's yours; a utility engineer or an integrator you paid wrote it. But it lives inside a part number. When that part number goes end-of-support, the logic doesn't move. It gets re-engineered, re-tested, re-commissioned. You pay for the same thinking twice.
Callback: "Remember the relay panel? Logic and wiring were the same physical object. We fixed that in 1968. But logic and HARDWARE are still the same object — we just made the object smaller and put a vendor's name on it."
TIMING CHECKPOINT: off this slide by 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you from every vendor talk this audience has sat through. Do not soften it and do not over-apologize — state it and move.
The arc is 1 → 2 → 3: a real constraint became a real engineering answer became a business model. Nobody woke up in 1975 and decided to trap a water utility in 2026. It just compounded.
Read the bottom line naming your own company last and slowest: "...All of us. Including us."
Then transition hard into consequences: "So here's the bill."
TIMING CHECKPOINT: off this slide by 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 45 seconds, don't explain all four here. Just name them and land the closing line.
"Any one of these your utility could absorb. The reason this conversation is happening in 2026 and not 2016 is that all four are arriving in the same budget cycle."
TIMING CHECKPOINT: off this slide by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many of you have a system in service today that's older than the person who maintains it?" Hands will go up. That IS the point.
The 25-35 year figure is from the Frost &amp; Sullivan paper — it's a sector-typical range, not a claim about any one utility.
The line to land: "You pay twice for the same thinking." A utility funded that logic once. Every forced migration makes them fund it again — and re-validating logic in a live plant is where risk actually lives.
TIMING CHECKPOINT: off this slide by 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and factual here — this room includes people who have lived through an incident and they will know if you exaggerate.
Aliquippa is the right example precisely because it was UNSOPHISTICATED: internet-exposed controller, default credentials. No zero-day. The failure was architectural, not clever.
Deliberately skip Oldsmar — it was later attributed to operator error, and citing it costs you credibility with anyone who followed the story.
The line that matters is the last one, and it's the bridge to Act III: you can't patch what you can't take offline, and you can't take it offline when there's no way to test the change first. Nobody in this room is reckless — they're stuck. Say that.
TIMING CHECKPOINT: off this slide by 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get technical about AI — you don't need to and this audience doesn't want it.
The single reframe: AI in water is not a modeling problem, it's an access problem. Every utility already generates the data. It's stranded.
Conroe's five-hours-a-day is the perfect proof because it's not exotic — it's somebody with a clipboard and a spreadsheet, which is happening in half the plants represented in this room. Set up Conroe here so the results slide later lands as a payoff, not a new story.
TIMING CHECKPOINT: off this slide by 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bill that gets the most head-nodding — lead with the human line, not the numbers: "The person who knows WHY that interlock is there didn't document it. They remember it."
Then the numbers, quickly. 21% eligible in five years against a 9% vacancy rate is the one to emphasize — the hole is already there before the retirements.
Close on the mismatch: you cannot hire your way out of this with people who want to learn a proprietary IDE from 1994. The talent you can actually recruit expects the tools they already know.
TIMING CHECKPOINT: off this slide by 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IT AND STOP. Real silence — five full seconds. It will feel long to you and normal to them.
If someone answers, take it. If nobody does, say: "Nobody plans a twenty-year project around a controller with a seven-year support window. But that's exactly what we all do."
This is the emotional hinge of the talk — the room has been absorbing bad news for ten minutes and needs to be handed agency before you offer a solution. Do not skip it for time; cut a proof slide in Act III instead.
TIMING CHECKPOINT: off this slide by 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energy shifts here — you've been diagnosing for fifteen minutes, now you're building. Pick the pace up.
"This isn't a new idea. It's the OLD idea, finished."
TIMING CHECKPOINT: off this slide by 0:29:30.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every urge to add technical detail here. Containers, runtimes, virtualization — none of it belongs on this slide. If someone wants that, it's a Q&amp;A conversation.
The one sentence: "Today the hardware decision IS the software decision. Software-defined automation pulls those two apart."
Then say the bottom line to give the room permission to relax: "That's it. That's the whole technical idea in this talk." It signals you're not going to bury them, and it's true.
TIMING CHECKPOINT: off this slide by 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in second person, not as an analogy announcement. "You land in Phoenix, you get the rental, you've never sat in this car before..."
Let the room arrive at the parallel a beat before you state it. That's what makes an analogy work — the audience feels smart instead of lectured.
Then the turn: "Your control logic is a feature of the controller. Same relationship. Nobody would accept it in a rental car."
TIMING CHECKPOINT: off this slide by 0:32:30.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analogy that will stay with them after lunch — CarPlay explains the feeling, portability explains the STAKE.
Land the middle line hard: portability didn't invent a new phone. It moved an asset from the carrier's balance sheet to the customer's. Overnight, carriers had to compete on service instead of on hostage-taking.
Optional aside if the room is with you: "Notice what happened to phone plan pricing after 1996." Small laugh, real point.
TIMING CHECKPOINT: off this slide by 0:34.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every one of these in operator language. No product names, no acronyms.
"Test before you touch" is the one that answers the cybersecurity slide — this is why patching becomes possible. Make that connection explicitly: "Remember 'you can't patch what you can't take offline'? This is the answer to that."
"Standardize once" is the one that answers the workforce slide.
Bottom line: these aren't features somebody added. They all fall out of the single decision to separate logic from hardware.
TIMING CHECKPOINT: off this slide by 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ninety seconds in the talk for this audience. It is also the slide that proves you meant the disclosure on slide 2.
"Software-defined" is going to be on every booth banner within two years, and most of it will mean "our same proprietary stack, in a VM." That moves the lock-in. It doesn't remove it.
Say clearly: "Ask this of every vendor who shows up — including mine. If the answer is 'it's portable across our portfolio,' that's not open. That's the same deal in a container."
Giving the room a weapon they can use against your own employer is exactly why they'll believe the last five minutes.
TIMING CHECKPOINT: off this slide by 0:37:30.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factual and fast — it's the evidence slide, not a persuasion slide. 75 seconds.
The detail that carries weight with a utility audience isn't the standard number, it's WHO is on the board. ExxonMobil is there as a buyer who got tired of the same problem and organized about it. Novo Nordisk likewise. These are end users, not vendors.
The takeaway line: when the buyers write the standard, portability stops being a favor the vendor grants you.
If someone asks about the Open Process Automation Forum / ExxonMobil's O-PAS work — same movement, process-industry origin, worth acknowledging as a fellow traveler.
TIMING CHECKPOINT: off this slide by 0:39.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slide — this is where the five-hours-a-day from Bill Three gets resolved. Call that back explicitly: "Remember the five hours a day with a clipboard? Minutes."
For a Gulf Coast utility crowd, the 80% recovery figure is the one that matters and Harvey is why. Don't oversell it — just note that Conroe is a city that has thought hard about coming back up after an event.
The most important sentence is the last one: none of this required replacing the plant. This audience's instinctive objection is "we can't afford a rip-and-replace." Answer it before they raise it.
TIMING CHECKPOINT: off this slide by 0:41.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slide — 45 seconds. Do not read all nine numbers. Pick one and move.
Suggested: "İzmir is recovering three thousand cubic meters a day for agriculture in a water-scarce region. Anglian cut leakage ten percent."
The purpose is breadth, not depth: this is not a single lucky reference account. Land the bottom line — different regulators, different climates, same architectural move — and go.
CUT THIS SLIDE FIRST if you're running long.
TIMING CHECKPOINT: off this slide by 0:42.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and narrate this. It's the emotional payoff of the whole talk — the room needs to SEE themselves in it, not evaluate it.
The 4:45 PM beat is the one that actually changes a utility's economics: writing an RFP that doesn't name a brand. Let that one breathe.
Close with the bottom line and mean it: none of this is speculative. Every one of those four is in production somewhere right now.
TIMING CHECKPOINT: off this slide by 0:44.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two minutes. Tri-State's rules are explicit that this is not a sales slot, and more importantly the room will punish a pitch here after you've spent forty minutes earning trust.
Frame it as disclosure, not promotion: "You've listened to me for forty minutes. You're entitled to know where I sit."
The donated-source-code fact is the strongest thing you have and it's genuinely unusual — a vendor gave away the runtime so competitors could ship it. State it flatly and let it do the work.
Then the closing line, and MEAN it: if this leads someone to a competitor's open platform, the talk still worked. Say it, don't wink at it.
VERIFY BEFORE YOU PRESENT: confirm the current project count with SE marketing — 530+ is the last public figure I could source (Aug 2025). Use whatever number is approved on the day.
TIMING CHECKPOINT: off this slide by 0:46.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de-risking slide. Everything before this was "why"; this is the only "how" they need.
The word to repeat is REVERSIBLE. Phase 1 touches no control authority. If it doesn't work out, you unplug an industrial PC and you're exactly where you started.
That framing matters because it moves this out of the capital-project conversation — where it competes with a clarifier rebuild and loses — and into something a utility can actually try.
Don't quote specific pricing from the stage. If asked in Q&amp;A: an industrial PC plus licensing, low single-digit thousands for a pilot, and point them to a follow-up conversation.
TIMING CHECKPOINT: off this slide by 0:47:30.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instructions, not suggestions. Short sentences.
Action 2 is the one that will actually get used, and it's the gift you're giving this room — a single yes/no question that cuts through every vendor pitch they'll hear for the next five years, mine included.
Action 3 matters because the failure mode of this movement is a utility trying it on the most critical asset first and getting scared. Prove it where a failure is inconvenient, not catastrophic.
Close: "None of this requires a budget cycle. All of it changes the next one."
TIMING CHECKPOINT: off this slide by 0:49.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end on "any questions?" — end on the callback, then open the floor.
"In 1968 we decided logic shouldn't be welded to copper. We were right. We just stopped halfway."
Pause. Then: "I've got a few minutes — what did I get wrong?" That framing gets better questions than "any questions?" and it stays consistent with the tone of the whole talk.
ANTICIPATED QUESTIONS
· "What about determinism / safety-rated control?" — Safety instrumented systems stay where they are. Nothing in this talk asks you to move an SIS.
· "Who supports it when it breaks at 2 AM?" — Same integrator model you use now; the difference is you're no longer locked to one vendor's support desk.
· "Our integrator only knows Rockwell." — Fair, and real. Phase 1 doesn't ask them to change anything. It's also why the workforce math eventually favors open.
· "Isn't this just another vendor lock-in with extra steps?" — Best question in the room. Answer: that's exactly why the standard and the non-profit matter more than my product. Point back to the fine-print slide.
· "What does it cost?" — Don't quote numbers from stage. Phase 1 is an industrial PC plus licensing; take it offline.
BRING: the deck on a flash drive, PowerPoint 2013-compatible. Arrive 15 minutes early to load onto the conference laptop. No personal laptop on the projector.
QR code / handout: swap in a link to a follow-up resource rather than printing 300 brochures — the conference explicitly asks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4224528"/>
            <a:ext cx="12188952" cy="2633472"/>
          </a:xfrm>
          <a:prstGeom prst="rect">
            <a:avLst/>
          </a:prstGeom>
          <a:solidFill>
            <a:srgbClr val="0A0A0A"/>
          </a:solidFill>
          <a:ln w="12700">
            <a:solidFill>
              <a:srgbClr val="333333"/>
            </a:solidFill>
            <a:prstDash val="solid"/>
          </a:ln>
        </p:spPr>
      </p:sp>
      <p:sp>
        <p:nvSpPr>
          <p:cNvPr id="3" name="Shape 1"/>
          <p:cNvSpPr/>
          <p:nvPr/>
        </p:nvSpPr>
        <p:spPr>
          <a:xfrm>
            <a:off x="640080" y="868680"/>
            <a:ext cx="3200400" cy="402336"/>
          </a:xfrm>
          <a:prstGeom prst="roundRect">
            <a:avLst>
              <a:gd name="adj" fmla="val 50000"/>
            </a:avLst>
          </a:prstGeom>
          <a:solidFill>
            <a:srgbClr val="3DCD58"/>
          </a:solidFill>
          <a:ln w="12700">
            <a:solidFill>
              <a:srgbClr val="3DCD58"/>
            </a:solidFill>
            <a:prstDash val="solid"/>
          </a:ln>
        </p:spPr>
      </p:sp>
      <p:sp>
        <p:nvSpPr>
          <p:cNvPr id="4" name="Text 2"/>
          <p:cNvSpPr/>
          <p:nvPr/>
        </p:nvSpPr>
        <p:spPr>
          <a:xfrm>
            <a:off x="640080" y="868680"/>
            <a:ext cx="320040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TRI-STATE SEMINAR 2026</a:t>
            </a:r>
            <a:endParaRPr lang="en-US" sz="1500" dirty="0"/>
          </a:p>
        </p:txBody>
      </p:sp>
      <p:sp>
        <p:nvSpPr>
          <p:cNvPr id="5" name="Text 3"/>
          <p:cNvSpPr/>
          <p:nvPr/>
        </p:nvSpPr>
        <p:spPr>
          <a:xfrm>
            <a:off x="640080" y="1554480"/>
            <a:ext cx="10424160" cy="173736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Telegraf" pitchFamily="34" charset="0"/>
                <a:ea typeface="Telegraf" pitchFamily="34" charset="-122"/>
                <a:cs typeface="Telegraf" pitchFamily="34" charset="-120"/>
              </a:rPr>
              <a:t>The Shift to</a:t>
            </a:r>
            <a:endParaRPr lang="en-US" sz="4600" dirty="0"/>
          </a:p>
          <a:p>
            <a:pPr indent="0" marL="0">
              <a:lnSpc>
                <a:spcPts val="5200"/>
              </a:lnSpc>
              <a:buNone/>
            </a:pPr>
            <a:r>
              <a:rPr lang="en-US" sz="4600" b="1" dirty="0">
                <a:solidFill>
                  <a:srgbClr val="FFFFFF"/>
                </a:solidFill>
                <a:latin typeface="Telegraf" pitchFamily="34" charset="0"/>
                <a:ea typeface="Telegraf" pitchFamily="34" charset="-122"/>
                <a:cs typeface="Telegraf" pitchFamily="34" charset="-120"/>
              </a:rPr>
              <a:t>Software-Defined Automation</a:t>
            </a:r>
            <a:endParaRPr lang="en-US" sz="4600" dirty="0"/>
          </a:p>
        </p:txBody>
      </p:sp>
      <p:sp>
        <p:nvSpPr>
          <p:cNvPr id="6" name="Text 4"/>
          <p:cNvSpPr/>
          <p:nvPr/>
        </p:nvSpPr>
        <p:spPr>
          <a:xfrm>
            <a:off x="640080" y="3401568"/>
            <a:ext cx="10424160" cy="640080"/>
          </a:xfrm>
          <a:prstGeom prst="rect">
            <a:avLst/>
          </a:prstGeom>
          <a:noFill/>
          <a:ln/>
        </p:spPr>
        <p:txBody>
          <a:bodyPr wrap="square" lIns="0" tIns="0" rIns="0" bIns="0" rtlCol="0" anchor="ctr"/>
          <a:lstStyle/>
          <a:p>
            <a:pPr indent="0" marL="0">
              <a:buNone/>
            </a:pPr>
            <a:r>
              <a:rPr lang="en-US" sz="3400" i="1" dirty="0">
                <a:solidFill>
                  <a:srgbClr val="3DCD58"/>
                </a:solidFill>
                <a:latin typeface="Telegraf" pitchFamily="34" charset="0"/>
                <a:ea typeface="Telegraf" pitchFamily="34" charset="-122"/>
                <a:cs typeface="Telegraf" pitchFamily="34" charset="-120"/>
              </a:rPr>
              <a:t>in Water &amp; Wastewater</a:t>
            </a:r>
            <a:endParaRPr lang="en-US" sz="3400" dirty="0"/>
          </a:p>
        </p:txBody>
      </p:sp>
      <p:sp>
        <p:nvSpPr>
          <p:cNvPr id="7" name="Text 5"/>
          <p:cNvSpPr/>
          <p:nvPr/>
        </p:nvSpPr>
        <p:spPr>
          <a:xfrm>
            <a:off x="640080" y="4617720"/>
            <a:ext cx="10424160" cy="411480"/>
          </a:xfrm>
          <a:prstGeom prst="rect">
            <a:avLst/>
          </a:prstGeom>
          <a:noFill/>
          <a:ln/>
        </p:spPr>
        <p:txBody>
          <a:bodyPr wrap="square" lIns="0" tIns="0" rIns="0" bIns="0" rtlCol="0" anchor="ctr"/>
          <a:lstStyle/>
          <a:p>
            <a:pPr indent="0" marL="0">
              <a:buNone/>
            </a:pPr>
            <a:r>
              <a:rPr lang="en-US" sz="2100" dirty="0">
                <a:solidFill>
                  <a:srgbClr val="FFFFFF"/>
                </a:solidFill>
                <a:latin typeface="Telegraf" pitchFamily="34" charset="0"/>
                <a:ea typeface="Telegraf" pitchFamily="34" charset="-122"/>
                <a:cs typeface="Telegraf" pitchFamily="34" charset="-120"/>
              </a:rPr>
              <a:t>Kyle Sanders  ·  Business Development Manager, Schneider Electric</a:t>
            </a:r>
            <a:endParaRPr lang="en-US" sz="2100" dirty="0"/>
          </a:p>
        </p:txBody>
      </p:sp>
      <p:sp>
        <p:nvSpPr>
          <p:cNvPr id="8" name="Text 6"/>
          <p:cNvSpPr/>
          <p:nvPr/>
        </p:nvSpPr>
        <p:spPr>
          <a:xfrm>
            <a:off x="640080" y="5120640"/>
            <a:ext cx="10424160" cy="411480"/>
          </a:xfrm>
          <a:prstGeom prst="rect">
            <a:avLst/>
          </a:prstGeom>
          <a:noFill/>
          <a:ln/>
        </p:spPr>
        <p:txBody>
          <a:bodyPr wrap="square" lIns="0" tIns="0" rIns="0" bIns="0" rtlCol="0" anchor="ctr"/>
          <a:lstStyle/>
          <a:p>
            <a:pPr indent="0" marL="0">
              <a:buNone/>
            </a:pPr>
            <a:r>
              <a:rPr lang="en-US" sz="1700" dirty="0">
                <a:solidFill>
                  <a:srgbClr val="6FD9D4"/>
                </a:solidFill>
                <a:latin typeface="Telegraf" pitchFamily="34" charset="0"/>
                <a:ea typeface="Telegraf" pitchFamily="34" charset="-122"/>
                <a:cs typeface="Telegraf" pitchFamily="34" charset="-120"/>
              </a:rPr>
              <a:t>Electrical / Instrumentation &amp; Control Track  ·  Wednesday, August 5, 2026  ·  Sonoma B</a:t>
            </a:r>
            <a:endParaRPr lang="en-US" sz="1700" dirty="0"/>
          </a:p>
        </p:txBody>
      </p:sp>
      <p:sp>
        <p:nvSpPr>
          <p:cNvPr id="10" name="Text 7"/>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28600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28600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WHO'S TALKING</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Why I'm the one telling you this</a:t>
            </a:r>
            <a:endParaRPr lang="en-US" sz="3800" dirty="0"/>
          </a:p>
        </p:txBody>
      </p:sp>
      <p:sp>
        <p:nvSpPr>
          <p:cNvPr id="5" name="Shape 3"/>
          <p:cNvSpPr/>
          <p:nvPr/>
        </p:nvSpPr>
        <p:spPr>
          <a:xfrm>
            <a:off x="640080" y="2194560"/>
            <a:ext cx="5212080" cy="3840480"/>
          </a:xfrm>
          <a:prstGeom prst="roundRect">
            <a:avLst>
              <a:gd name="adj" fmla="val 2857"/>
            </a:avLst>
          </a:prstGeom>
          <a:solidFill>
            <a:srgbClr val="161616"/>
          </a:solidFill>
          <a:ln w="12700">
            <a:solidFill>
              <a:srgbClr val="161616"/>
            </a:solidFill>
            <a:prstDash val="solid"/>
          </a:ln>
        </p:spPr>
      </p:sp>
      <p:sp>
        <p:nvSpPr>
          <p:cNvPr id="6" name="Text 4"/>
          <p:cNvSpPr/>
          <p:nvPr/>
        </p:nvSpPr>
        <p:spPr>
          <a:xfrm>
            <a:off x="1005840" y="2542032"/>
            <a:ext cx="4480560" cy="3383280"/>
          </a:xfrm>
          <a:prstGeom prst="rect">
            <a:avLst/>
          </a:prstGeom>
          <a:noFill/>
          <a:ln/>
        </p:spPr>
        <p:txBody>
          <a:bodyPr wrap="square" lIns="0" tIns="0" rIns="0" bIns="0" rtlCol="0" anchor="t"/>
          <a:lstStyle/>
          <a:p>
            <a:pPr indent="0" marL="0">
              <a:buNone/>
            </a:pPr>
            <a:r>
              <a:rPr lang="en-US" sz="2500" b="1" dirty="0">
                <a:solidFill>
                  <a:srgbClr val="FFFFFF"/>
                </a:solidFill>
                <a:latin typeface="Telegraf" pitchFamily="34" charset="0"/>
                <a:ea typeface="Telegraf" pitchFamily="34" charset="-122"/>
                <a:cs typeface="Telegraf" pitchFamily="34" charset="-120"/>
              </a:rPr>
              <a:t>Kyle Sanders
</a:t>
            </a:r>
            <a:endParaRPr lang="en-US" sz="2500" dirty="0"/>
          </a:p>
          <a:p>
            <a:pPr indent="0" marL="0">
              <a:buNone/>
            </a:pPr>
            <a:r>
              <a:rPr lang="en-US" sz="1900" dirty="0">
                <a:solidFill>
                  <a:srgbClr val="9AA3AA"/>
                </a:solidFill>
                <a:latin typeface="Telegraf" pitchFamily="34" charset="0"/>
                <a:ea typeface="Telegraf" pitchFamily="34" charset="-122"/>
                <a:cs typeface="Telegraf" pitchFamily="34" charset="-120"/>
              </a:rPr>
              <a:t>Business Development Manager
Schneider Electric — Western U.S.
</a:t>
            </a:r>
            <a:endParaRPr lang="en-US" sz="2500" dirty="0"/>
          </a:p>
          <a:p>
            <a:pPr indent="0" marL="0">
              <a:buNone/>
            </a:pPr>
            <a:r>
              <a:rPr lang="en-US" sz="1900" dirty="0">
                <a:solidFill>
                  <a:srgbClr val="FFFFFF"/>
                </a:solidFill>
                <a:latin typeface="Telegraf" pitchFamily="34" charset="0"/>
                <a:ea typeface="Telegraf" pitchFamily="34" charset="-122"/>
                <a:cs typeface="Telegraf" pitchFamily="34" charset="-120"/>
              </a:rPr>
              <a:t>I spend my week with utilities and integrators talking about what happens to a control system after the ribbon-cutting.</a:t>
            </a:r>
            <a:endParaRPr lang="en-US" sz="2500" dirty="0"/>
          </a:p>
        </p:txBody>
      </p:sp>
      <p:sp>
        <p:nvSpPr>
          <p:cNvPr id="7" name="Shape 5"/>
          <p:cNvSpPr/>
          <p:nvPr/>
        </p:nvSpPr>
        <p:spPr>
          <a:xfrm>
            <a:off x="6336792" y="2194560"/>
            <a:ext cx="5212080" cy="3840480"/>
          </a:xfrm>
          <a:prstGeom prst="roundRect">
            <a:avLst>
              <a:gd name="adj" fmla="val 2857"/>
            </a:avLst>
          </a:prstGeom>
          <a:solidFill>
            <a:srgbClr val="161616"/>
          </a:solidFill>
          <a:ln w="12700">
            <a:solidFill>
              <a:srgbClr val="161616"/>
            </a:solidFill>
            <a:prstDash val="solid"/>
          </a:ln>
        </p:spPr>
      </p:sp>
      <p:sp>
        <p:nvSpPr>
          <p:cNvPr id="8" name="Text 6"/>
          <p:cNvSpPr/>
          <p:nvPr/>
        </p:nvSpPr>
        <p:spPr>
          <a:xfrm>
            <a:off x="6702552" y="2542032"/>
            <a:ext cx="4526280" cy="457200"/>
          </a:xfrm>
          <a:prstGeom prst="rect">
            <a:avLst/>
          </a:prstGeom>
          <a:noFill/>
          <a:ln/>
        </p:spPr>
        <p:txBody>
          <a:bodyPr wrap="square" lIns="0" tIns="0" rIns="0" bIns="0" rtlCol="0" anchor="ctr"/>
          <a:lstStyle/>
          <a:p>
            <a:pPr indent="0" marL="0">
              <a:buNone/>
            </a:pPr>
            <a:r>
              <a:rPr lang="en-US" sz="2500" b="1" dirty="0">
                <a:solidFill>
                  <a:srgbClr val="00A19C"/>
                </a:solidFill>
                <a:latin typeface="Telegraf" pitchFamily="34" charset="0"/>
                <a:ea typeface="Telegraf" pitchFamily="34" charset="-122"/>
                <a:cs typeface="Telegraf" pitchFamily="34" charset="-120"/>
              </a:rPr>
              <a:t>A disclosure, up front</a:t>
            </a:r>
            <a:endParaRPr lang="en-US" sz="2500" dirty="0"/>
          </a:p>
        </p:txBody>
      </p:sp>
      <p:sp>
        <p:nvSpPr>
          <p:cNvPr id="9" name="Text 7"/>
          <p:cNvSpPr/>
          <p:nvPr/>
        </p:nvSpPr>
        <p:spPr>
          <a:xfrm>
            <a:off x="6702552" y="3090672"/>
            <a:ext cx="4526280" cy="2880360"/>
          </a:xfrm>
          <a:prstGeom prst="rect">
            <a:avLst/>
          </a:prstGeom>
          <a:noFill/>
          <a:ln/>
        </p:spPr>
        <p:txBody>
          <a:bodyPr wrap="square" lIns="0" tIns="0" rIns="0" bIns="0" rtlCol="0" anchor="t"/>
          <a:lstStyle/>
          <a:p>
            <a:pPr indent="0" marL="0">
              <a:lnSpc>
                <a:spcPts val="2600"/>
              </a:lnSpc>
              <a:buNone/>
            </a:pPr>
            <a:r>
              <a:rPr lang="en-US" sz="1900" dirty="0">
                <a:solidFill>
                  <a:srgbClr val="FFFFFF"/>
                </a:solidFill>
                <a:latin typeface="Telegraf" pitchFamily="34" charset="0"/>
                <a:ea typeface="Telegraf" pitchFamily="34" charset="-122"/>
                <a:cs typeface="Telegraf" pitchFamily="34" charset="-120"/>
              </a:rPr>
              <a:t>I work for one of the companies that built the problem I'm about to describe.</a:t>
            </a:r>
            <a:endParaRPr lang="en-US" sz="1900" dirty="0"/>
          </a:p>
          <a:p>
            <a:pPr indent="0" marL="0">
              <a:lnSpc>
                <a:spcPts val="2600"/>
              </a:lnSpc>
              <a:buNone/>
            </a:pPr>
            <a:endParaRPr lang="en-US" sz="1900" dirty="0"/>
          </a:p>
          <a:p>
            <a:pPr indent="0" marL="0">
              <a:lnSpc>
                <a:spcPts val="2600"/>
              </a:lnSpc>
              <a:buNone/>
            </a:pPr>
            <a:r>
              <a:rPr lang="en-US" sz="1900" dirty="0">
                <a:solidFill>
                  <a:srgbClr val="FFFFFF"/>
                </a:solidFill>
                <a:latin typeface="Telegraf" pitchFamily="34" charset="0"/>
                <a:ea typeface="Telegraf" pitchFamily="34" charset="-122"/>
                <a:cs typeface="Telegraf" pitchFamily="34" charset="-120"/>
              </a:rPr>
              <a:t>So does the vendor on your panel. This is not a talk about who to blame — it's a talk about an architecture all of us chose, and what it's now costing you.</a:t>
            </a:r>
            <a:endParaRPr lang="en-US" sz="1900" dirty="0"/>
          </a:p>
        </p:txBody>
      </p:sp>
      <p:sp>
        <p:nvSpPr>
          <p:cNvPr id="11" name="Text 8"/>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1463040"/>
            <a:ext cx="10908792" cy="640080"/>
          </a:xfrm>
          <a:prstGeom prst="rect">
            <a:avLst/>
          </a:prstGeom>
          <a:noFill/>
          <a:ln/>
        </p:spPr>
        <p:txBody>
          <a:bodyPr wrap="square" lIns="0" tIns="0" rIns="0" bIns="0" rtlCol="0" anchor="ctr"/>
          <a:lstStyle/>
          <a:p>
            <a:pPr indent="0" marL="0">
              <a:buNone/>
            </a:pPr>
            <a:r>
              <a:rPr lang="en-US" sz="2600" dirty="0">
                <a:solidFill>
                  <a:srgbClr val="6FD9D4"/>
                </a:solidFill>
                <a:latin typeface="Telegraf" pitchFamily="34" charset="0"/>
                <a:ea typeface="Telegraf" pitchFamily="34" charset="-122"/>
                <a:cs typeface="Telegraf" pitchFamily="34" charset="-120"/>
              </a:rPr>
              <a:t>One question,</a:t>
            </a:r>
            <a:endParaRPr lang="en-US" sz="2600" dirty="0"/>
          </a:p>
        </p:txBody>
      </p:sp>
      <p:sp>
        <p:nvSpPr>
          <p:cNvPr id="3" name="Text 1"/>
          <p:cNvSpPr/>
          <p:nvPr/>
        </p:nvSpPr>
        <p:spPr>
          <a:xfrm>
            <a:off x="640080" y="2103120"/>
            <a:ext cx="10607040" cy="2194560"/>
          </a:xfrm>
          <a:prstGeom prst="rect">
            <a:avLst/>
          </a:prstGeom>
          <a:noFill/>
          <a:ln/>
        </p:spPr>
        <p:txBody>
          <a:bodyPr wrap="square" lIns="0" tIns="0" rIns="0" bIns="0" rtlCol="0" anchor="ctr"/>
          <a:lstStyle/>
          <a:p>
            <a:pPr indent="0" marL="0">
              <a:lnSpc>
                <a:spcPts val="6000"/>
              </a:lnSpc>
              <a:buNone/>
            </a:pPr>
            <a:r>
              <a:rPr lang="en-US" sz="5000" b="1" dirty="0">
                <a:solidFill>
                  <a:srgbClr val="FFFFFF"/>
                </a:solidFill>
                <a:latin typeface="Telegraf" pitchFamily="34" charset="0"/>
                <a:ea typeface="Telegraf" pitchFamily="34" charset="-122"/>
                <a:cs typeface="Telegraf" pitchFamily="34" charset="-120"/>
              </a:rPr>
              <a:t>Who owns the control logic</a:t>
            </a:r>
            <a:endParaRPr lang="en-US" sz="5000" dirty="0"/>
          </a:p>
          <a:p>
            <a:pPr indent="0" marL="0">
              <a:lnSpc>
                <a:spcPts val="6000"/>
              </a:lnSpc>
              <a:buNone/>
            </a:pPr>
            <a:r>
              <a:rPr lang="en-US" sz="5000" b="1" dirty="0">
                <a:solidFill>
                  <a:srgbClr val="FFFFFF"/>
                </a:solidFill>
                <a:latin typeface="Telegraf" pitchFamily="34" charset="0"/>
                <a:ea typeface="Telegraf" pitchFamily="34" charset="-122"/>
                <a:cs typeface="Telegraf" pitchFamily="34" charset="-120"/>
              </a:rPr>
              <a:t>running your plant?</a:t>
            </a:r>
            <a:endParaRPr lang="en-US" sz="5000" dirty="0"/>
          </a:p>
        </p:txBody>
      </p:sp>
      <p:sp>
        <p:nvSpPr>
          <p:cNvPr id="4" name="Text 2"/>
          <p:cNvSpPr/>
          <p:nvPr/>
        </p:nvSpPr>
        <p:spPr>
          <a:xfrm>
            <a:off x="640080" y="4572000"/>
            <a:ext cx="10607040" cy="640080"/>
          </a:xfrm>
          <a:prstGeom prst="rect">
            <a:avLst/>
          </a:prstGeom>
          <a:noFill/>
          <a:ln/>
        </p:spPr>
        <p:txBody>
          <a:bodyPr wrap="square" lIns="0" tIns="0" rIns="0" bIns="0" rtlCol="0" anchor="ctr"/>
          <a:lstStyle/>
          <a:p>
            <a:pPr indent="0" marL="0">
              <a:buNone/>
            </a:pPr>
            <a:r>
              <a:rPr lang="en-US" sz="2500" i="1" dirty="0">
                <a:solidFill>
                  <a:srgbClr val="3DCD58"/>
                </a:solidFill>
                <a:latin typeface="Telegraf" pitchFamily="34" charset="0"/>
                <a:ea typeface="Telegraf" pitchFamily="34" charset="-122"/>
                <a:cs typeface="Telegraf" pitchFamily="34" charset="-120"/>
              </a:rPr>
              <a:t>Not who wrote it. Not who paid for it. Who can move it.</a:t>
            </a:r>
            <a:endParaRPr lang="en-US" sz="2500" dirty="0"/>
          </a:p>
        </p:txBody>
      </p:sp>
      <p:sp>
        <p:nvSpPr>
          <p:cNvPr id="6" name="Text 3"/>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83464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83464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WHERE WE'RE GOING</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Three acts, forty minutes</a:t>
            </a:r>
            <a:endParaRPr lang="en-US" sz="3800" dirty="0"/>
          </a:p>
        </p:txBody>
      </p:sp>
      <p:sp>
        <p:nvSpPr>
          <p:cNvPr id="5" name="Shape 3"/>
          <p:cNvSpPr/>
          <p:nvPr/>
        </p:nvSpPr>
        <p:spPr>
          <a:xfrm>
            <a:off x="640080" y="2331720"/>
            <a:ext cx="868680" cy="868680"/>
          </a:xfrm>
          <a:prstGeom prst="roundRect">
            <a:avLst>
              <a:gd name="adj" fmla="val 16842"/>
            </a:avLst>
          </a:prstGeom>
          <a:solidFill>
            <a:srgbClr val="00A19C"/>
          </a:solidFill>
          <a:ln w="12700">
            <a:solidFill>
              <a:srgbClr val="00A19C"/>
            </a:solidFill>
            <a:prstDash val="solid"/>
          </a:ln>
        </p:spPr>
      </p:sp>
      <p:sp>
        <p:nvSpPr>
          <p:cNvPr id="6" name="Text 4"/>
          <p:cNvSpPr/>
          <p:nvPr/>
        </p:nvSpPr>
        <p:spPr>
          <a:xfrm>
            <a:off x="640080" y="233172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Telegraf" pitchFamily="34" charset="0"/>
                <a:ea typeface="Telegraf" pitchFamily="34" charset="-122"/>
                <a:cs typeface="Telegraf" pitchFamily="34" charset="-120"/>
              </a:rPr>
              <a:t>I</a:t>
            </a:r>
            <a:endParaRPr lang="en-US" sz="3000" dirty="0"/>
          </a:p>
        </p:txBody>
      </p:sp>
      <p:sp>
        <p:nvSpPr>
          <p:cNvPr id="7" name="Text 5"/>
          <p:cNvSpPr/>
          <p:nvPr/>
        </p:nvSpPr>
        <p:spPr>
          <a:xfrm>
            <a:off x="1874520" y="2304288"/>
            <a:ext cx="9509760" cy="457200"/>
          </a:xfrm>
          <a:prstGeom prst="rect">
            <a:avLst/>
          </a:prstGeom>
          <a:noFill/>
          <a:ln/>
        </p:spPr>
        <p:txBody>
          <a:bodyPr wrap="square" lIns="0" tIns="0" rIns="0" bIns="0" rtlCol="0" anchor="ctr"/>
          <a:lstStyle/>
          <a:p>
            <a:pPr indent="0" marL="0">
              <a:buNone/>
            </a:pPr>
            <a:r>
              <a:rPr lang="en-US" sz="2700" b="1" dirty="0">
                <a:solidFill>
                  <a:srgbClr val="FFFFFF"/>
                </a:solidFill>
                <a:latin typeface="Telegraf" pitchFamily="34" charset="0"/>
                <a:ea typeface="Telegraf" pitchFamily="34" charset="-122"/>
                <a:cs typeface="Telegraf" pitchFamily="34" charset="-120"/>
              </a:rPr>
              <a:t>How we got here</a:t>
            </a:r>
            <a:endParaRPr lang="en-US" sz="2700" dirty="0"/>
          </a:p>
        </p:txBody>
      </p:sp>
      <p:sp>
        <p:nvSpPr>
          <p:cNvPr id="8" name="Text 6"/>
          <p:cNvSpPr/>
          <p:nvPr/>
        </p:nvSpPr>
        <p:spPr>
          <a:xfrm>
            <a:off x="1874520" y="2761488"/>
            <a:ext cx="9509760" cy="457200"/>
          </a:xfrm>
          <a:prstGeom prst="rect">
            <a:avLst/>
          </a:prstGeom>
          <a:noFill/>
          <a:ln/>
        </p:spPr>
        <p:txBody>
          <a:bodyPr wrap="square" lIns="0" tIns="0" rIns="0" bIns="0" rtlCol="0" anchor="ctr"/>
          <a:lstStyle/>
          <a:p>
            <a:pPr indent="0" marL="0">
              <a:buNone/>
            </a:pPr>
            <a:r>
              <a:rPr lang="en-US" sz="1900" dirty="0">
                <a:solidFill>
                  <a:srgbClr val="9AA3AA"/>
                </a:solidFill>
                <a:latin typeface="Telegraf" pitchFamily="34" charset="0"/>
                <a:ea typeface="Telegraf" pitchFamily="34" charset="-122"/>
                <a:cs typeface="Telegraf" pitchFamily="34" charset="-120"/>
              </a:rPr>
              <a:t>Three generations of automation — and the promise each one made</a:t>
            </a:r>
            <a:endParaRPr lang="en-US" sz="1900" dirty="0"/>
          </a:p>
        </p:txBody>
      </p:sp>
      <p:sp>
        <p:nvSpPr>
          <p:cNvPr id="9" name="Shape 7"/>
          <p:cNvSpPr/>
          <p:nvPr/>
        </p:nvSpPr>
        <p:spPr>
          <a:xfrm>
            <a:off x="640080" y="3630168"/>
            <a:ext cx="868680" cy="868680"/>
          </a:xfrm>
          <a:prstGeom prst="roundRect">
            <a:avLst>
              <a:gd name="adj" fmla="val 16842"/>
            </a:avLst>
          </a:prstGeom>
          <a:solidFill>
            <a:srgbClr val="00A19C"/>
          </a:solidFill>
          <a:ln w="12700">
            <a:solidFill>
              <a:srgbClr val="00A19C"/>
            </a:solidFill>
            <a:prstDash val="solid"/>
          </a:ln>
        </p:spPr>
      </p:sp>
      <p:sp>
        <p:nvSpPr>
          <p:cNvPr id="10" name="Text 8"/>
          <p:cNvSpPr/>
          <p:nvPr/>
        </p:nvSpPr>
        <p:spPr>
          <a:xfrm>
            <a:off x="640080" y="3630168"/>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Telegraf" pitchFamily="34" charset="0"/>
                <a:ea typeface="Telegraf" pitchFamily="34" charset="-122"/>
                <a:cs typeface="Telegraf" pitchFamily="34" charset="-120"/>
              </a:rPr>
              <a:t>II</a:t>
            </a:r>
            <a:endParaRPr lang="en-US" sz="3000" dirty="0"/>
          </a:p>
        </p:txBody>
      </p:sp>
      <p:sp>
        <p:nvSpPr>
          <p:cNvPr id="11" name="Text 9"/>
          <p:cNvSpPr/>
          <p:nvPr/>
        </p:nvSpPr>
        <p:spPr>
          <a:xfrm>
            <a:off x="1874520" y="3602736"/>
            <a:ext cx="9509760" cy="457200"/>
          </a:xfrm>
          <a:prstGeom prst="rect">
            <a:avLst/>
          </a:prstGeom>
          <a:noFill/>
          <a:ln/>
        </p:spPr>
        <p:txBody>
          <a:bodyPr wrap="square" lIns="0" tIns="0" rIns="0" bIns="0" rtlCol="0" anchor="ctr"/>
          <a:lstStyle/>
          <a:p>
            <a:pPr indent="0" marL="0">
              <a:buNone/>
            </a:pPr>
            <a:r>
              <a:rPr lang="en-US" sz="2700" b="1" dirty="0">
                <a:solidFill>
                  <a:srgbClr val="FFFFFF"/>
                </a:solidFill>
                <a:latin typeface="Telegraf" pitchFamily="34" charset="0"/>
                <a:ea typeface="Telegraf" pitchFamily="34" charset="-122"/>
                <a:cs typeface="Telegraf" pitchFamily="34" charset="-120"/>
              </a:rPr>
              <a:t>What it's costing you</a:t>
            </a:r>
            <a:endParaRPr lang="en-US" sz="2700" dirty="0"/>
          </a:p>
        </p:txBody>
      </p:sp>
      <p:sp>
        <p:nvSpPr>
          <p:cNvPr id="12" name="Text 10"/>
          <p:cNvSpPr/>
          <p:nvPr/>
        </p:nvSpPr>
        <p:spPr>
          <a:xfrm>
            <a:off x="1874520" y="4059936"/>
            <a:ext cx="9509760" cy="457200"/>
          </a:xfrm>
          <a:prstGeom prst="rect">
            <a:avLst/>
          </a:prstGeom>
          <a:noFill/>
          <a:ln/>
        </p:spPr>
        <p:txBody>
          <a:bodyPr wrap="square" lIns="0" tIns="0" rIns="0" bIns="0" rtlCol="0" anchor="ctr"/>
          <a:lstStyle/>
          <a:p>
            <a:pPr indent="0" marL="0">
              <a:buNone/>
            </a:pPr>
            <a:r>
              <a:rPr lang="en-US" sz="1900" dirty="0">
                <a:solidFill>
                  <a:srgbClr val="9AA3AA"/>
                </a:solidFill>
                <a:latin typeface="Telegraf" pitchFamily="34" charset="0"/>
                <a:ea typeface="Telegraf" pitchFamily="34" charset="-122"/>
                <a:cs typeface="Telegraf" pitchFamily="34" charset="-120"/>
              </a:rPr>
              <a:t>Four bills coming due at the same time</a:t>
            </a:r>
            <a:endParaRPr lang="en-US" sz="1900" dirty="0"/>
          </a:p>
        </p:txBody>
      </p:sp>
      <p:sp>
        <p:nvSpPr>
          <p:cNvPr id="13" name="Shape 11"/>
          <p:cNvSpPr/>
          <p:nvPr/>
        </p:nvSpPr>
        <p:spPr>
          <a:xfrm>
            <a:off x="640080" y="4928616"/>
            <a:ext cx="868680" cy="868680"/>
          </a:xfrm>
          <a:prstGeom prst="roundRect">
            <a:avLst>
              <a:gd name="adj" fmla="val 16842"/>
            </a:avLst>
          </a:prstGeom>
          <a:solidFill>
            <a:srgbClr val="00A19C"/>
          </a:solidFill>
          <a:ln w="12700">
            <a:solidFill>
              <a:srgbClr val="00A19C"/>
            </a:solidFill>
            <a:prstDash val="solid"/>
          </a:ln>
        </p:spPr>
      </p:sp>
      <p:sp>
        <p:nvSpPr>
          <p:cNvPr id="14" name="Text 12"/>
          <p:cNvSpPr/>
          <p:nvPr/>
        </p:nvSpPr>
        <p:spPr>
          <a:xfrm>
            <a:off x="640080" y="4928616"/>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Telegraf" pitchFamily="34" charset="0"/>
                <a:ea typeface="Telegraf" pitchFamily="34" charset="-122"/>
                <a:cs typeface="Telegraf" pitchFamily="34" charset="-120"/>
              </a:rPr>
              <a:t>III</a:t>
            </a:r>
            <a:endParaRPr lang="en-US" sz="3000" dirty="0"/>
          </a:p>
        </p:txBody>
      </p:sp>
      <p:sp>
        <p:nvSpPr>
          <p:cNvPr id="15" name="Text 13"/>
          <p:cNvSpPr/>
          <p:nvPr/>
        </p:nvSpPr>
        <p:spPr>
          <a:xfrm>
            <a:off x="1874520" y="4901184"/>
            <a:ext cx="9509760" cy="457200"/>
          </a:xfrm>
          <a:prstGeom prst="rect">
            <a:avLst/>
          </a:prstGeom>
          <a:noFill/>
          <a:ln/>
        </p:spPr>
        <p:txBody>
          <a:bodyPr wrap="square" lIns="0" tIns="0" rIns="0" bIns="0" rtlCol="0" anchor="ctr"/>
          <a:lstStyle/>
          <a:p>
            <a:pPr indent="0" marL="0">
              <a:buNone/>
            </a:pPr>
            <a:r>
              <a:rPr lang="en-US" sz="2700" b="1" dirty="0">
                <a:solidFill>
                  <a:srgbClr val="FFFFFF"/>
                </a:solidFill>
                <a:latin typeface="Telegraf" pitchFamily="34" charset="0"/>
                <a:ea typeface="Telegraf" pitchFamily="34" charset="-122"/>
                <a:cs typeface="Telegraf" pitchFamily="34" charset="-120"/>
              </a:rPr>
              <a:t>What actually changes</a:t>
            </a:r>
            <a:endParaRPr lang="en-US" sz="2700" dirty="0"/>
          </a:p>
        </p:txBody>
      </p:sp>
      <p:sp>
        <p:nvSpPr>
          <p:cNvPr id="16" name="Text 14"/>
          <p:cNvSpPr/>
          <p:nvPr/>
        </p:nvSpPr>
        <p:spPr>
          <a:xfrm>
            <a:off x="1874520" y="5358384"/>
            <a:ext cx="9509760" cy="457200"/>
          </a:xfrm>
          <a:prstGeom prst="rect">
            <a:avLst/>
          </a:prstGeom>
          <a:noFill/>
          <a:ln/>
        </p:spPr>
        <p:txBody>
          <a:bodyPr wrap="square" lIns="0" tIns="0" rIns="0" bIns="0" rtlCol="0" anchor="ctr"/>
          <a:lstStyle/>
          <a:p>
            <a:pPr indent="0" marL="0">
              <a:buNone/>
            </a:pPr>
            <a:r>
              <a:rPr lang="en-US" sz="1900" dirty="0">
                <a:solidFill>
                  <a:srgbClr val="9AA3AA"/>
                </a:solidFill>
                <a:latin typeface="Telegraf" pitchFamily="34" charset="0"/>
                <a:ea typeface="Telegraf" pitchFamily="34" charset="-122"/>
                <a:cs typeface="Telegraf" pitchFamily="34" charset="-120"/>
              </a:rPr>
              <a:t>Decoupling logic from hardware, and why "open" is the word that matters</a:t>
            </a:r>
            <a:endParaRPr lang="en-US" sz="1900" dirty="0"/>
          </a:p>
        </p:txBody>
      </p:sp>
      <p:sp>
        <p:nvSpPr>
          <p:cNvPr id="17" name="Text 15"/>
          <p:cNvSpPr/>
          <p:nvPr/>
        </p:nvSpPr>
        <p:spPr>
          <a:xfrm>
            <a:off x="640080" y="5989320"/>
            <a:ext cx="10332720" cy="457200"/>
          </a:xfrm>
          <a:prstGeom prst="rect">
            <a:avLst/>
          </a:prstGeom>
          <a:noFill/>
          <a:ln/>
        </p:spPr>
        <p:txBody>
          <a:bodyPr wrap="square" lIns="0" tIns="0" rIns="0" bIns="0" rtlCol="0" anchor="ctr"/>
          <a:lstStyle/>
          <a:p>
            <a:pPr indent="0" marL="0">
              <a:buNone/>
            </a:pPr>
            <a:r>
              <a:rPr lang="en-US" sz="2000" i="1" dirty="0">
                <a:solidFill>
                  <a:srgbClr val="00A19C"/>
                </a:solidFill>
                <a:latin typeface="Telegraf" pitchFamily="34" charset="0"/>
                <a:ea typeface="Telegraf" pitchFamily="34" charset="-122"/>
                <a:cs typeface="Telegraf" pitchFamily="34" charset="-120"/>
              </a:rPr>
              <a:t>Then: what to do about it Monday morning.</a:t>
            </a:r>
            <a:endParaRPr lang="en-US" sz="2000" dirty="0"/>
          </a:p>
        </p:txBody>
      </p:sp>
      <p:sp>
        <p:nvSpPr>
          <p:cNvPr id="19" name="Text 16"/>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2148840"/>
            <a:ext cx="137160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2148840"/>
            <a:ext cx="137160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ACT I</a:t>
            </a:r>
            <a:endParaRPr lang="en-US" sz="1500" dirty="0"/>
          </a:p>
        </p:txBody>
      </p:sp>
      <p:sp>
        <p:nvSpPr>
          <p:cNvPr id="4" name="Text 2"/>
          <p:cNvSpPr/>
          <p:nvPr/>
        </p:nvSpPr>
        <p:spPr>
          <a:xfrm>
            <a:off x="640080" y="2743200"/>
            <a:ext cx="10607040" cy="1005840"/>
          </a:xfrm>
          <a:prstGeom prst="rect">
            <a:avLst/>
          </a:prstGeom>
          <a:noFill/>
          <a:ln/>
        </p:spPr>
        <p:txBody>
          <a:bodyPr wrap="square" lIns="0" tIns="0" rIns="0" bIns="0" rtlCol="0" anchor="ctr"/>
          <a:lstStyle/>
          <a:p>
            <a:pPr indent="0" marL="0">
              <a:buNone/>
            </a:pPr>
            <a:r>
              <a:rPr lang="en-US" sz="5200" b="1" dirty="0">
                <a:solidFill>
                  <a:srgbClr val="FFFFFF"/>
                </a:solidFill>
                <a:latin typeface="Telegraf" pitchFamily="34" charset="0"/>
                <a:ea typeface="Telegraf" pitchFamily="34" charset="-122"/>
                <a:cs typeface="Telegraf" pitchFamily="34" charset="-120"/>
              </a:rPr>
              <a:t>How we got here</a:t>
            </a:r>
            <a:endParaRPr lang="en-US" sz="5200" dirty="0"/>
          </a:p>
        </p:txBody>
      </p:sp>
      <p:sp>
        <p:nvSpPr>
          <p:cNvPr id="5" name="Text 3"/>
          <p:cNvSpPr/>
          <p:nvPr/>
        </p:nvSpPr>
        <p:spPr>
          <a:xfrm>
            <a:off x="640080" y="3886200"/>
            <a:ext cx="10058400" cy="1371600"/>
          </a:xfrm>
          <a:prstGeom prst="rect">
            <a:avLst/>
          </a:prstGeom>
          <a:noFill/>
          <a:ln/>
        </p:spPr>
        <p:txBody>
          <a:bodyPr wrap="square" lIns="0" tIns="0" rIns="0" bIns="0" rtlCol="0" anchor="ctr"/>
          <a:lstStyle/>
          <a:p>
            <a:pPr indent="0" marL="0">
              <a:lnSpc>
                <a:spcPts val="3200"/>
              </a:lnSpc>
              <a:buNone/>
            </a:pPr>
            <a:r>
              <a:rPr lang="en-US" sz="2300" dirty="0">
                <a:solidFill>
                  <a:srgbClr val="6FD9D4"/>
                </a:solidFill>
                <a:latin typeface="Telegraf" pitchFamily="34" charset="0"/>
                <a:ea typeface="Telegraf" pitchFamily="34" charset="-122"/>
                <a:cs typeface="Telegraf" pitchFamily="34" charset="-120"/>
              </a:rPr>
              <a:t>Every generation of automation solved the previous generation's problem —</a:t>
            </a:r>
            <a:endParaRPr lang="en-US" sz="2300" dirty="0"/>
          </a:p>
          <a:p>
            <a:pPr indent="0" marL="0">
              <a:lnSpc>
                <a:spcPts val="3200"/>
              </a:lnSpc>
              <a:buNone/>
            </a:pPr>
            <a:r>
              <a:rPr lang="en-US" sz="2300" dirty="0">
                <a:solidFill>
                  <a:srgbClr val="6FD9D4"/>
                </a:solidFill>
                <a:latin typeface="Telegraf" pitchFamily="34" charset="0"/>
                <a:ea typeface="Telegraf" pitchFamily="34" charset="-122"/>
                <a:cs typeface="Telegraf" pitchFamily="34" charset="-120"/>
              </a:rPr>
              <a:t>and quietly created the next one.</a:t>
            </a:r>
            <a:endParaRPr lang="en-US" sz="2300" dirty="0"/>
          </a:p>
        </p:txBody>
      </p:sp>
      <p:sp>
        <p:nvSpPr>
          <p:cNvPr id="7" name="Text 4"/>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28016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28016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1968</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Before the PLC, logic was copper</a:t>
            </a:r>
            <a:endParaRPr lang="en-US" sz="3800" dirty="0"/>
          </a:p>
        </p:txBody>
      </p:sp>
      <p:sp>
        <p:nvSpPr>
          <p:cNvPr id="5" name="Text 3"/>
          <p:cNvSpPr/>
          <p:nvPr/>
        </p:nvSpPr>
        <p:spPr>
          <a:xfrm>
            <a:off x="640080" y="2194560"/>
            <a:ext cx="5943600" cy="1417320"/>
          </a:xfrm>
          <a:prstGeom prst="rect">
            <a:avLst/>
          </a:prstGeom>
          <a:noFill/>
          <a:ln/>
        </p:spPr>
        <p:txBody>
          <a:bodyPr wrap="square" lIns="0" tIns="0" rIns="0" bIns="0" rtlCol="0" anchor="t"/>
          <a:lstStyle/>
          <a:p>
            <a:pPr indent="0" marL="0">
              <a:lnSpc>
                <a:spcPts val="2700"/>
              </a:lnSpc>
              <a:buNone/>
            </a:pPr>
            <a:r>
              <a:rPr lang="en-US" sz="2000" dirty="0">
                <a:solidFill>
                  <a:srgbClr val="FFFFFF"/>
                </a:solidFill>
                <a:latin typeface="Telegraf" pitchFamily="34" charset="0"/>
                <a:ea typeface="Telegraf" pitchFamily="34" charset="-122"/>
                <a:cs typeface="Telegraf" pitchFamily="34" charset="-120"/>
              </a:rPr>
              <a:t>A machine's control logic wasn't written. It was wired — hundreds of electromechanical relays, hard-wired into a panel.</a:t>
            </a:r>
            <a:endParaRPr lang="en-US" sz="2000" dirty="0"/>
          </a:p>
        </p:txBody>
      </p:sp>
      <p:sp>
        <p:nvSpPr>
          <p:cNvPr id="6" name="Text 4"/>
          <p:cNvSpPr/>
          <p:nvPr/>
        </p:nvSpPr>
        <p:spPr>
          <a:xfrm>
            <a:off x="640080" y="3611880"/>
            <a:ext cx="5943600" cy="1691640"/>
          </a:xfrm>
          <a:prstGeom prst="rect">
            <a:avLst/>
          </a:prstGeom>
          <a:noFill/>
          <a:ln/>
        </p:spPr>
        <p:txBody>
          <a:bodyPr wrap="square" lIns="0" tIns="0" rIns="0" bIns="0" rtlCol="0" anchor="t"/>
          <a:lstStyle/>
          <a:p>
            <a:pPr indent="0" marL="0">
              <a:lnSpc>
                <a:spcPts val="2800"/>
              </a:lnSpc>
              <a:buNone/>
            </a:pPr>
            <a:r>
              <a:rPr lang="en-US" sz="2100" b="1" dirty="0">
                <a:solidFill>
                  <a:srgbClr val="FFFFFF"/>
                </a:solidFill>
                <a:latin typeface="Telegraf" pitchFamily="34" charset="0"/>
                <a:ea typeface="Telegraf" pitchFamily="34" charset="-122"/>
                <a:cs typeface="Telegraf" pitchFamily="34" charset="-120"/>
              </a:rPr>
              <a:t>Change the process</a:t>
            </a:r>
            <a:pPr indent="0" marL="0">
              <a:lnSpc>
                <a:spcPts val="2800"/>
              </a:lnSpc>
              <a:buNone/>
            </a:pPr>
            <a:r>
              <a:rPr lang="en-US" sz="2100" dirty="0">
                <a:solidFill>
                  <a:srgbClr val="FFFFFF"/>
                </a:solidFill>
                <a:latin typeface="Telegraf" pitchFamily="34" charset="0"/>
                <a:ea typeface="Telegraf" pitchFamily="34" charset="-122"/>
                <a:cs typeface="Telegraf" pitchFamily="34" charset="-120"/>
              </a:rPr>
              <a:t> and you didn't change a program. You sent electricians back into the panel to physically rewire it — for weeks.</a:t>
            </a:r>
            <a:endParaRPr lang="en-US" sz="2100" dirty="0"/>
          </a:p>
        </p:txBody>
      </p:sp>
      <p:sp>
        <p:nvSpPr>
          <p:cNvPr id="7" name="Text 5"/>
          <p:cNvSpPr/>
          <p:nvPr/>
        </p:nvSpPr>
        <p:spPr>
          <a:xfrm>
            <a:off x="640080" y="5440680"/>
            <a:ext cx="5943600" cy="914400"/>
          </a:xfrm>
          <a:prstGeom prst="rect">
            <a:avLst/>
          </a:prstGeom>
          <a:noFill/>
          <a:ln/>
        </p:spPr>
        <p:txBody>
          <a:bodyPr wrap="square" lIns="0" tIns="0" rIns="0" bIns="0" rtlCol="0" anchor="t"/>
          <a:lstStyle/>
          <a:p>
            <a:pPr indent="0" marL="0">
              <a:lnSpc>
                <a:spcPts val="2800"/>
              </a:lnSpc>
              <a:buNone/>
            </a:pPr>
            <a:r>
              <a:rPr lang="en-US" sz="2000" i="1" dirty="0">
                <a:solidFill>
                  <a:srgbClr val="00A19C"/>
                </a:solidFill>
                <a:latin typeface="Telegraf" pitchFamily="34" charset="0"/>
                <a:ea typeface="Telegraf" pitchFamily="34" charset="-122"/>
                <a:cs typeface="Telegraf" pitchFamily="34" charset="-120"/>
              </a:rPr>
              <a:t>General Motors was doing this every single model year, across every plant.</a:t>
            </a:r>
            <a:endParaRPr lang="en-US" sz="2000" dirty="0"/>
          </a:p>
        </p:txBody>
      </p:sp>
      <p:sp>
        <p:nvSpPr>
          <p:cNvPr id="8" name="Shape 6"/>
          <p:cNvSpPr/>
          <p:nvPr/>
        </p:nvSpPr>
        <p:spPr>
          <a:xfrm>
            <a:off x="7040880" y="2194560"/>
            <a:ext cx="4507992" cy="3703320"/>
          </a:xfrm>
          <a:prstGeom prst="roundRect">
            <a:avLst>
              <a:gd name="adj" fmla="val 2963"/>
            </a:avLst>
          </a:prstGeom>
          <a:solidFill>
            <a:srgbClr val="161616"/>
          </a:solidFill>
          <a:ln w="12700">
            <a:solidFill>
              <a:srgbClr val="161616"/>
            </a:solidFill>
            <a:prstDash val="solid"/>
          </a:ln>
        </p:spPr>
      </p:sp>
      <p:sp>
        <p:nvSpPr>
          <p:cNvPr id="9" name="Text 7"/>
          <p:cNvSpPr/>
          <p:nvPr/>
        </p:nvSpPr>
        <p:spPr>
          <a:xfrm>
            <a:off x="7040880" y="2606040"/>
            <a:ext cx="4507992" cy="1051560"/>
          </a:xfrm>
          <a:prstGeom prst="rect">
            <a:avLst/>
          </a:prstGeom>
          <a:noFill/>
          <a:ln/>
        </p:spPr>
        <p:txBody>
          <a:bodyPr wrap="square" lIns="0" tIns="0" rIns="0" bIns="0" rtlCol="0" anchor="b"/>
          <a:lstStyle/>
          <a:p>
            <a:pPr algn="ctr" indent="0" marL="0">
              <a:buNone/>
            </a:pPr>
            <a:r>
              <a:rPr lang="en-US" sz="6000" b="1" dirty="0">
                <a:solidFill>
                  <a:srgbClr val="00A19C"/>
                </a:solidFill>
                <a:latin typeface="Telegraf" pitchFamily="34" charset="0"/>
                <a:ea typeface="Telegraf" pitchFamily="34" charset="-122"/>
                <a:cs typeface="Telegraf" pitchFamily="34" charset="-120"/>
              </a:rPr>
              <a:t>Weeks</a:t>
            </a:r>
            <a:endParaRPr lang="en-US" sz="6000" dirty="0"/>
          </a:p>
        </p:txBody>
      </p:sp>
      <p:sp>
        <p:nvSpPr>
          <p:cNvPr id="10" name="Text 8"/>
          <p:cNvSpPr/>
          <p:nvPr/>
        </p:nvSpPr>
        <p:spPr>
          <a:xfrm>
            <a:off x="7040880" y="3721608"/>
            <a:ext cx="4507992" cy="868680"/>
          </a:xfrm>
          <a:prstGeom prst="rect">
            <a:avLst/>
          </a:prstGeom>
          <a:noFill/>
          <a:ln/>
        </p:spPr>
        <p:txBody>
          <a:bodyPr wrap="square" lIns="0" tIns="0" rIns="0" bIns="0" rtlCol="0" anchor="t"/>
          <a:lstStyle/>
          <a:p>
            <a:pPr algn="ctr" indent="0" marL="0">
              <a:buNone/>
            </a:pPr>
            <a:r>
              <a:rPr lang="en-US" sz="1700" dirty="0">
                <a:solidFill>
                  <a:srgbClr val="9AA3AA"/>
                </a:solidFill>
                <a:latin typeface="Telegraf" pitchFamily="34" charset="0"/>
                <a:ea typeface="Telegraf" pitchFamily="34" charset="-122"/>
                <a:cs typeface="Telegraf" pitchFamily="34" charset="-120"/>
              </a:rPr>
              <a:t>of downtime to change what a</a:t>
            </a:r>
            <a:endParaRPr lang="en-US" sz="1700" dirty="0"/>
          </a:p>
          <a:p>
            <a:pPr algn="ctr" indent="0" marL="0">
              <a:buNone/>
            </a:pPr>
            <a:r>
              <a:rPr lang="en-US" sz="1700" dirty="0">
                <a:solidFill>
                  <a:srgbClr val="9AA3AA"/>
                </a:solidFill>
                <a:latin typeface="Telegraf" pitchFamily="34" charset="0"/>
                <a:ea typeface="Telegraf" pitchFamily="34" charset="-122"/>
                <a:cs typeface="Telegraf" pitchFamily="34" charset="-120"/>
              </a:rPr>
              <a:t>machine did — every time</a:t>
            </a:r>
            <a:endParaRPr lang="en-US" sz="1700" dirty="0"/>
          </a:p>
        </p:txBody>
      </p:sp>
      <p:sp>
        <p:nvSpPr>
          <p:cNvPr id="11" name="Text 9"/>
          <p:cNvSpPr/>
          <p:nvPr/>
        </p:nvSpPr>
        <p:spPr>
          <a:xfrm>
            <a:off x="7406640" y="4709160"/>
            <a:ext cx="3794760" cy="1051560"/>
          </a:xfrm>
          <a:prstGeom prst="rect">
            <a:avLst/>
          </a:prstGeom>
          <a:noFill/>
          <a:ln/>
        </p:spPr>
        <p:txBody>
          <a:bodyPr wrap="square" lIns="0" tIns="0" rIns="0" bIns="0" rtlCol="0" anchor="t"/>
          <a:lstStyle/>
          <a:p>
            <a:pPr algn="ctr" indent="0" marL="0">
              <a:lnSpc>
                <a:spcPts val="2500"/>
              </a:lnSpc>
              <a:buNone/>
            </a:pPr>
            <a:r>
              <a:rPr lang="en-US" sz="1800" dirty="0">
                <a:solidFill>
                  <a:srgbClr val="FFFFFF"/>
                </a:solidFill>
                <a:latin typeface="Telegraf" pitchFamily="34" charset="0"/>
                <a:ea typeface="Telegraf" pitchFamily="34" charset="-122"/>
                <a:cs typeface="Telegraf" pitchFamily="34" charset="-120"/>
              </a:rPr>
              <a:t>The logic and the wiring were the same physical object.</a:t>
            </a:r>
            <a:endParaRPr lang="en-US" sz="1800" dirty="0"/>
          </a:p>
        </p:txBody>
      </p:sp>
      <p:sp>
        <p:nvSpPr>
          <p:cNvPr id="13" name="Text 10"/>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28016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28016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1968</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The PLC was an act of decoupling</a:t>
            </a:r>
            <a:endParaRPr lang="en-US" sz="3800" dirty="0"/>
          </a:p>
        </p:txBody>
      </p:sp>
      <p:sp>
        <p:nvSpPr>
          <p:cNvPr id="5" name="Shape 3"/>
          <p:cNvSpPr/>
          <p:nvPr/>
        </p:nvSpPr>
        <p:spPr>
          <a:xfrm>
            <a:off x="640080" y="2103120"/>
            <a:ext cx="5212080" cy="3977640"/>
          </a:xfrm>
          <a:prstGeom prst="roundRect">
            <a:avLst>
              <a:gd name="adj" fmla="val 2759"/>
            </a:avLst>
          </a:prstGeom>
          <a:solidFill>
            <a:srgbClr val="161616"/>
          </a:solidFill>
          <a:ln w="12700">
            <a:solidFill>
              <a:srgbClr val="161616"/>
            </a:solidFill>
            <a:prstDash val="solid"/>
          </a:ln>
        </p:spPr>
      </p:sp>
      <p:sp>
        <p:nvSpPr>
          <p:cNvPr id="6" name="Text 4"/>
          <p:cNvSpPr/>
          <p:nvPr/>
        </p:nvSpPr>
        <p:spPr>
          <a:xfrm>
            <a:off x="1005840" y="2423160"/>
            <a:ext cx="4480560" cy="502920"/>
          </a:xfrm>
          <a:prstGeom prst="rect">
            <a:avLst/>
          </a:prstGeom>
          <a:noFill/>
          <a:ln/>
        </p:spPr>
        <p:txBody>
          <a:bodyPr wrap="square" lIns="0" tIns="0" rIns="0" bIns="0" rtlCol="0" anchor="ctr"/>
          <a:lstStyle/>
          <a:p>
            <a:pPr indent="0" marL="0">
              <a:buNone/>
            </a:pPr>
            <a:r>
              <a:rPr lang="en-US" sz="2400" b="1" dirty="0">
                <a:solidFill>
                  <a:srgbClr val="00A19C"/>
                </a:solidFill>
                <a:latin typeface="Telegraf" pitchFamily="34" charset="0"/>
                <a:ea typeface="Telegraf" pitchFamily="34" charset="-122"/>
                <a:cs typeface="Telegraf" pitchFamily="34" charset="-120"/>
              </a:rPr>
              <a:t>GM Hydramatic wrote a spec</a:t>
            </a:r>
            <a:endParaRPr lang="en-US" sz="2400" dirty="0"/>
          </a:p>
        </p:txBody>
      </p:sp>
      <p:sp>
        <p:nvSpPr>
          <p:cNvPr id="7" name="Text 5"/>
          <p:cNvSpPr/>
          <p:nvPr/>
        </p:nvSpPr>
        <p:spPr>
          <a:xfrm>
            <a:off x="1051560" y="3017520"/>
            <a:ext cx="4480560" cy="288036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rgbClr val="FFFFFF"/>
                </a:solidFill>
                <a:latin typeface="Telegraf" pitchFamily="34" charset="0"/>
                <a:ea typeface="Telegraf" pitchFamily="34" charset="-122"/>
                <a:cs typeface="Telegraf" pitchFamily="34" charset="-120"/>
              </a:rPr>
              <a:t>Solid-state, not relays</a:t>
            </a:r>
            <a:endParaRPr lang="en-US" sz="1900" dirty="0"/>
          </a:p>
          <a:p>
            <a:pPr marL="342900" indent="-342900">
              <a:spcAft>
                <a:spcPts val="900"/>
              </a:spcAft>
              <a:buSzPct val="100000"/>
              <a:buChar char="•"/>
            </a:pPr>
            <a:r>
              <a:rPr lang="en-US" sz="1900" dirty="0">
                <a:solidFill>
                  <a:srgbClr val="FFFFFF"/>
                </a:solidFill>
                <a:latin typeface="Telegraf" pitchFamily="34" charset="0"/>
                <a:ea typeface="Telegraf" pitchFamily="34" charset="-122"/>
                <a:cs typeface="Telegraf" pitchFamily="34" charset="-120"/>
              </a:rPr>
              <a:t>Reprogrammable without rewiring</a:t>
            </a:r>
            <a:endParaRPr lang="en-US" sz="1900" dirty="0"/>
          </a:p>
          <a:p>
            <a:pPr marL="342900" indent="-342900">
              <a:spcAft>
                <a:spcPts val="900"/>
              </a:spcAft>
              <a:buSzPct val="100000"/>
              <a:buChar char="•"/>
            </a:pPr>
            <a:r>
              <a:rPr lang="en-US" sz="1900" dirty="0">
                <a:solidFill>
                  <a:srgbClr val="FFFFFF"/>
                </a:solidFill>
                <a:latin typeface="Telegraf" pitchFamily="34" charset="0"/>
                <a:ea typeface="Telegraf" pitchFamily="34" charset="-122"/>
                <a:cs typeface="Telegraf" pitchFamily="34" charset="-120"/>
              </a:rPr>
              <a:t>Modular and expandable</a:t>
            </a:r>
            <a:endParaRPr lang="en-US" sz="1900" dirty="0"/>
          </a:p>
          <a:p>
            <a:pPr marL="342900" indent="-342900">
              <a:spcAft>
                <a:spcPts val="900"/>
              </a:spcAft>
              <a:buSzPct val="100000"/>
              <a:buChar char="•"/>
            </a:pPr>
            <a:r>
              <a:rPr lang="en-US" sz="1900" dirty="0">
                <a:solidFill>
                  <a:srgbClr val="FFFFFF"/>
                </a:solidFill>
                <a:latin typeface="Telegraf" pitchFamily="34" charset="0"/>
                <a:ea typeface="Telegraf" pitchFamily="34" charset="-122"/>
                <a:cs typeface="Telegraf" pitchFamily="34" charset="-120"/>
              </a:rPr>
              <a:t>Survives a factory floor</a:t>
            </a:r>
            <a:endParaRPr lang="en-US" sz="1900" dirty="0"/>
          </a:p>
          <a:p>
            <a:pPr marL="342900" indent="-342900">
              <a:spcAft>
                <a:spcPts val="900"/>
              </a:spcAft>
              <a:buSzPct val="100000"/>
              <a:buChar char="•"/>
            </a:pPr>
            <a:r>
              <a:rPr lang="en-US" sz="1900" dirty="0">
                <a:solidFill>
                  <a:srgbClr val="FFFFFF"/>
                </a:solidFill>
                <a:latin typeface="Telegraf" pitchFamily="34" charset="0"/>
                <a:ea typeface="Telegraf" pitchFamily="34" charset="-122"/>
                <a:cs typeface="Telegraf" pitchFamily="34" charset="-120"/>
              </a:rPr>
              <a:t>Programmed the way electricians already think — ladder logic</a:t>
            </a:r>
            <a:endParaRPr lang="en-US" sz="1900" dirty="0"/>
          </a:p>
        </p:txBody>
      </p:sp>
      <p:sp>
        <p:nvSpPr>
          <p:cNvPr id="8" name="Shape 6"/>
          <p:cNvSpPr/>
          <p:nvPr/>
        </p:nvSpPr>
        <p:spPr>
          <a:xfrm>
            <a:off x="6336792" y="2103120"/>
            <a:ext cx="5212080" cy="3977640"/>
          </a:xfrm>
          <a:prstGeom prst="roundRect">
            <a:avLst>
              <a:gd name="adj" fmla="val 2759"/>
            </a:avLst>
          </a:prstGeom>
          <a:solidFill>
            <a:srgbClr val="161616"/>
          </a:solidFill>
          <a:ln w="12700">
            <a:solidFill>
              <a:srgbClr val="161616"/>
            </a:solidFill>
            <a:prstDash val="solid"/>
          </a:ln>
        </p:spPr>
      </p:sp>
      <p:sp>
        <p:nvSpPr>
          <p:cNvPr id="9" name="Text 7"/>
          <p:cNvSpPr/>
          <p:nvPr/>
        </p:nvSpPr>
        <p:spPr>
          <a:xfrm>
            <a:off x="6702552" y="2423160"/>
            <a:ext cx="4480560" cy="502920"/>
          </a:xfrm>
          <a:prstGeom prst="rect">
            <a:avLst/>
          </a:prstGeom>
          <a:noFill/>
          <a:ln/>
        </p:spPr>
        <p:txBody>
          <a:bodyPr wrap="square" lIns="0" tIns="0" rIns="0" bIns="0" rtlCol="0" anchor="ctr"/>
          <a:lstStyle/>
          <a:p>
            <a:pPr indent="0" marL="0">
              <a:buNone/>
            </a:pPr>
            <a:r>
              <a:rPr lang="en-US" sz="2400" b="1" dirty="0">
                <a:solidFill>
                  <a:srgbClr val="00A19C"/>
                </a:solidFill>
                <a:latin typeface="Telegraf" pitchFamily="34" charset="0"/>
                <a:ea typeface="Telegraf" pitchFamily="34" charset="-122"/>
                <a:cs typeface="Telegraf" pitchFamily="34" charset="-120"/>
              </a:rPr>
              <a:t>Bedford Associates answered</a:t>
            </a:r>
            <a:endParaRPr lang="en-US" sz="2400" dirty="0"/>
          </a:p>
        </p:txBody>
      </p:sp>
      <p:sp>
        <p:nvSpPr>
          <p:cNvPr id="10" name="Text 8"/>
          <p:cNvSpPr/>
          <p:nvPr/>
        </p:nvSpPr>
        <p:spPr>
          <a:xfrm>
            <a:off x="6748272" y="2999232"/>
            <a:ext cx="4480560" cy="3017520"/>
          </a:xfrm>
          <a:prstGeom prst="rect">
            <a:avLst/>
          </a:prstGeom>
          <a:noFill/>
          <a:ln/>
        </p:spPr>
        <p:txBody>
          <a:bodyPr wrap="square" lIns="0" tIns="0" rIns="0" bIns="0" rtlCol="0" anchor="t"/>
          <a:lstStyle/>
          <a:p>
            <a:pPr indent="0" marL="0">
              <a:lnSpc>
                <a:spcPts val="2400"/>
              </a:lnSpc>
              <a:buNone/>
            </a:pPr>
            <a:r>
              <a:rPr lang="en-US" sz="2600" b="1" dirty="0">
                <a:solidFill>
                  <a:srgbClr val="FFFFFF"/>
                </a:solidFill>
                <a:latin typeface="Telegraf" pitchFamily="34" charset="0"/>
                <a:ea typeface="Telegraf" pitchFamily="34" charset="-122"/>
                <a:cs typeface="Telegraf" pitchFamily="34" charset="-120"/>
              </a:rPr>
              <a:t>The Modicon 084</a:t>
            </a:r>
            <a:endParaRPr lang="en-US" sz="2600" dirty="0"/>
          </a:p>
          <a:p>
            <a:pPr indent="0" marL="0">
              <a:lnSpc>
                <a:spcPts val="2400"/>
              </a:lnSpc>
              <a:buNone/>
            </a:pPr>
            <a:r>
              <a:rPr lang="en-US" sz="1800" dirty="0">
                <a:solidFill>
                  <a:srgbClr val="9AA3AA"/>
                </a:solidFill>
                <a:latin typeface="Telegraf" pitchFamily="34" charset="0"/>
                <a:ea typeface="Telegraf" pitchFamily="34" charset="-122"/>
                <a:cs typeface="Telegraf" pitchFamily="34" charset="-120"/>
              </a:rPr>
              <a:t>Their 84th project. The company renamed itself after it.
</a:t>
            </a:r>
            <a:endParaRPr lang="en-US" sz="2600" dirty="0"/>
          </a:p>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The founding promise of the PLC:
</a:t>
            </a:r>
            <a:endParaRPr lang="en-US" sz="2600" dirty="0"/>
          </a:p>
          <a:p>
            <a:pPr indent="0" marL="0">
              <a:lnSpc>
                <a:spcPts val="2400"/>
              </a:lnSpc>
              <a:buNone/>
            </a:pPr>
            <a:r>
              <a:rPr lang="en-US" sz="2000" b="1" dirty="0">
                <a:solidFill>
                  <a:srgbClr val="00A19C"/>
                </a:solidFill>
                <a:latin typeface="Telegraf" pitchFamily="34" charset="0"/>
                <a:ea typeface="Telegraf" pitchFamily="34" charset="-122"/>
                <a:cs typeface="Telegraf" pitchFamily="34" charset="-120"/>
              </a:rPr>
              <a:t>change what the machine does without touching what the machine is.</a:t>
            </a:r>
            <a:endParaRPr lang="en-US" sz="2600" dirty="0"/>
          </a:p>
        </p:txBody>
      </p:sp>
      <p:sp>
        <p:nvSpPr>
          <p:cNvPr id="12" name="Text 9"/>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28016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28016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1975</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Then control spread out across the plant</a:t>
            </a:r>
            <a:endParaRPr lang="en-US" sz="3800" dirty="0"/>
          </a:p>
        </p:txBody>
      </p:sp>
      <p:sp>
        <p:nvSpPr>
          <p:cNvPr id="5" name="Text 3"/>
          <p:cNvSpPr/>
          <p:nvPr/>
        </p:nvSpPr>
        <p:spPr>
          <a:xfrm>
            <a:off x="640080" y="2148840"/>
            <a:ext cx="10515600" cy="1280160"/>
          </a:xfrm>
          <a:prstGeom prst="rect">
            <a:avLst/>
          </a:prstGeom>
          <a:noFill/>
          <a:ln/>
        </p:spPr>
        <p:txBody>
          <a:bodyPr wrap="square" lIns="0" tIns="0" rIns="0" bIns="0" rtlCol="0" anchor="t"/>
          <a:lstStyle/>
          <a:p>
            <a:pPr indent="0" marL="0">
              <a:lnSpc>
                <a:spcPts val="3000"/>
              </a:lnSpc>
              <a:buNone/>
            </a:pPr>
            <a:r>
              <a:rPr lang="en-US" sz="2200" dirty="0">
                <a:solidFill>
                  <a:srgbClr val="FFFFFF"/>
                </a:solidFill>
                <a:latin typeface="Telegraf" pitchFamily="34" charset="0"/>
                <a:ea typeface="Telegraf" pitchFamily="34" charset="-122"/>
                <a:cs typeface="Telegraf" pitchFamily="34" charset="-120"/>
              </a:rPr>
              <a:t>The PLC solved the machine. It didn't solve the plant. Refineries needed hundreds of loops controlled together, and a single central computer was a single point of failure.</a:t>
            </a:r>
            <a:endParaRPr lang="en-US" sz="2200" dirty="0"/>
          </a:p>
        </p:txBody>
      </p:sp>
      <p:sp>
        <p:nvSpPr>
          <p:cNvPr id="6" name="Shape 4"/>
          <p:cNvSpPr/>
          <p:nvPr/>
        </p:nvSpPr>
        <p:spPr>
          <a:xfrm>
            <a:off x="640080" y="3520440"/>
            <a:ext cx="3401568" cy="2788920"/>
          </a:xfrm>
          <a:prstGeom prst="roundRect">
            <a:avLst>
              <a:gd name="adj" fmla="val 3934"/>
            </a:avLst>
          </a:prstGeom>
          <a:solidFill>
            <a:srgbClr val="161616"/>
          </a:solidFill>
          <a:ln w="12700">
            <a:solidFill>
              <a:srgbClr val="161616"/>
            </a:solidFill>
            <a:prstDash val="solid"/>
          </a:ln>
        </p:spPr>
      </p:sp>
      <p:sp>
        <p:nvSpPr>
          <p:cNvPr id="7" name="Text 5"/>
          <p:cNvSpPr/>
          <p:nvPr/>
        </p:nvSpPr>
        <p:spPr>
          <a:xfrm>
            <a:off x="914400" y="3730752"/>
            <a:ext cx="2852928" cy="713232"/>
          </a:xfrm>
          <a:prstGeom prst="rect">
            <a:avLst/>
          </a:prstGeom>
          <a:noFill/>
          <a:ln/>
        </p:spPr>
        <p:txBody>
          <a:bodyPr wrap="square" lIns="0" tIns="0" rIns="0" bIns="0" rtlCol="0" anchor="t"/>
          <a:lstStyle/>
          <a:p>
            <a:pPr indent="0" marL="0">
              <a:buNone/>
            </a:pPr>
            <a:r>
              <a:rPr lang="en-US" sz="2000" b="1" dirty="0">
                <a:solidFill>
                  <a:srgbClr val="00A19C"/>
                </a:solidFill>
                <a:latin typeface="Telegraf" pitchFamily="34" charset="0"/>
                <a:ea typeface="Telegraf" pitchFamily="34" charset="-122"/>
                <a:cs typeface="Telegraf" pitchFamily="34" charset="-120"/>
              </a:rPr>
              <a:t>The distributed control system</a:t>
            </a:r>
            <a:endParaRPr lang="en-US" sz="2000" dirty="0"/>
          </a:p>
        </p:txBody>
      </p:sp>
      <p:sp>
        <p:nvSpPr>
          <p:cNvPr id="8" name="Text 6"/>
          <p:cNvSpPr/>
          <p:nvPr/>
        </p:nvSpPr>
        <p:spPr>
          <a:xfrm>
            <a:off x="914400" y="4462272"/>
            <a:ext cx="2852928" cy="1737360"/>
          </a:xfrm>
          <a:prstGeom prst="rect">
            <a:avLst/>
          </a:prstGeom>
          <a:noFill/>
          <a:ln/>
        </p:spPr>
        <p:txBody>
          <a:bodyPr wrap="square" lIns="0" tIns="0" rIns="0" bIns="0" rtlCol="0" anchor="t"/>
          <a:lstStyle/>
          <a:p>
            <a:pPr indent="0" marL="0">
              <a:lnSpc>
                <a:spcPts val="2100"/>
              </a:lnSpc>
              <a:buNone/>
            </a:pPr>
            <a:r>
              <a:rPr lang="en-US" sz="1600" dirty="0">
                <a:solidFill>
                  <a:srgbClr val="FFFFFF"/>
                </a:solidFill>
                <a:latin typeface="Telegraf" pitchFamily="34" charset="0"/>
                <a:ea typeface="Telegraf" pitchFamily="34" charset="-122"/>
                <a:cs typeface="Telegraf" pitchFamily="34" charset="-120"/>
              </a:rPr>
              <a:t>Honeywell's TDC 2000 and Yokogawa's CENTUM both landed in 1975. Control functions spread across modules — one failure no longer stopped everything.</a:t>
            </a:r>
            <a:endParaRPr lang="en-US" sz="1600" dirty="0"/>
          </a:p>
        </p:txBody>
      </p:sp>
      <p:sp>
        <p:nvSpPr>
          <p:cNvPr id="9" name="Shape 7"/>
          <p:cNvSpPr/>
          <p:nvPr/>
        </p:nvSpPr>
        <p:spPr>
          <a:xfrm>
            <a:off x="4398264" y="3520440"/>
            <a:ext cx="3401568" cy="2788920"/>
          </a:xfrm>
          <a:prstGeom prst="roundRect">
            <a:avLst>
              <a:gd name="adj" fmla="val 3934"/>
            </a:avLst>
          </a:prstGeom>
          <a:solidFill>
            <a:srgbClr val="161616"/>
          </a:solidFill>
          <a:ln w="12700">
            <a:solidFill>
              <a:srgbClr val="161616"/>
            </a:solidFill>
            <a:prstDash val="solid"/>
          </a:ln>
        </p:spPr>
      </p:sp>
      <p:sp>
        <p:nvSpPr>
          <p:cNvPr id="10" name="Text 8"/>
          <p:cNvSpPr/>
          <p:nvPr/>
        </p:nvSpPr>
        <p:spPr>
          <a:xfrm>
            <a:off x="4672584" y="3730752"/>
            <a:ext cx="2852928" cy="713232"/>
          </a:xfrm>
          <a:prstGeom prst="rect">
            <a:avLst/>
          </a:prstGeom>
          <a:noFill/>
          <a:ln/>
        </p:spPr>
        <p:txBody>
          <a:bodyPr wrap="square" lIns="0" tIns="0" rIns="0" bIns="0" rtlCol="0" anchor="t"/>
          <a:lstStyle/>
          <a:p>
            <a:pPr indent="0" marL="0">
              <a:buNone/>
            </a:pPr>
            <a:r>
              <a:rPr lang="en-US" sz="2000" b="1" dirty="0">
                <a:solidFill>
                  <a:srgbClr val="00A19C"/>
                </a:solidFill>
                <a:latin typeface="Telegraf" pitchFamily="34" charset="0"/>
                <a:ea typeface="Telegraf" pitchFamily="34" charset="-122"/>
                <a:cs typeface="Telegraf" pitchFamily="34" charset="-120"/>
              </a:rPr>
              <a:t>What you bought was a system</a:t>
            </a:r>
            <a:endParaRPr lang="en-US" sz="2000" dirty="0"/>
          </a:p>
        </p:txBody>
      </p:sp>
      <p:sp>
        <p:nvSpPr>
          <p:cNvPr id="11" name="Text 9"/>
          <p:cNvSpPr/>
          <p:nvPr/>
        </p:nvSpPr>
        <p:spPr>
          <a:xfrm>
            <a:off x="4672584" y="4462272"/>
            <a:ext cx="2852928" cy="1737360"/>
          </a:xfrm>
          <a:prstGeom prst="rect">
            <a:avLst/>
          </a:prstGeom>
          <a:noFill/>
          <a:ln/>
        </p:spPr>
        <p:txBody>
          <a:bodyPr wrap="square" lIns="0" tIns="0" rIns="0" bIns="0" rtlCol="0" anchor="t"/>
          <a:lstStyle/>
          <a:p>
            <a:pPr indent="0" marL="0">
              <a:lnSpc>
                <a:spcPts val="2100"/>
              </a:lnSpc>
              <a:buNone/>
            </a:pPr>
            <a:r>
              <a:rPr lang="en-US" sz="1600" dirty="0">
                <a:solidFill>
                  <a:srgbClr val="FFFFFF"/>
                </a:solidFill>
                <a:latin typeface="Telegraf" pitchFamily="34" charset="0"/>
                <a:ea typeface="Telegraf" pitchFamily="34" charset="-122"/>
                <a:cs typeface="Telegraf" pitchFamily="34" charset="-120"/>
              </a:rPr>
              <a:t>Controllers, I/O, operator stations, the network between them — engineered together, sold together, supported together. That was the value.</a:t>
            </a:r>
            <a:endParaRPr lang="en-US" sz="1600" dirty="0"/>
          </a:p>
        </p:txBody>
      </p:sp>
      <p:sp>
        <p:nvSpPr>
          <p:cNvPr id="12" name="Shape 10"/>
          <p:cNvSpPr/>
          <p:nvPr/>
        </p:nvSpPr>
        <p:spPr>
          <a:xfrm>
            <a:off x="8156448" y="3520440"/>
            <a:ext cx="3401568" cy="2788920"/>
          </a:xfrm>
          <a:prstGeom prst="roundRect">
            <a:avLst>
              <a:gd name="adj" fmla="val 3934"/>
            </a:avLst>
          </a:prstGeom>
          <a:solidFill>
            <a:srgbClr val="161616"/>
          </a:solidFill>
          <a:ln w="12700">
            <a:solidFill>
              <a:srgbClr val="161616"/>
            </a:solidFill>
            <a:prstDash val="solid"/>
          </a:ln>
        </p:spPr>
      </p:sp>
      <p:sp>
        <p:nvSpPr>
          <p:cNvPr id="13" name="Text 11"/>
          <p:cNvSpPr/>
          <p:nvPr/>
        </p:nvSpPr>
        <p:spPr>
          <a:xfrm>
            <a:off x="8430768" y="3730752"/>
            <a:ext cx="2852928" cy="713232"/>
          </a:xfrm>
          <a:prstGeom prst="rect">
            <a:avLst/>
          </a:prstGeom>
          <a:noFill/>
          <a:ln/>
        </p:spPr>
        <p:txBody>
          <a:bodyPr wrap="square" lIns="0" tIns="0" rIns="0" bIns="0" rtlCol="0" anchor="t"/>
          <a:lstStyle/>
          <a:p>
            <a:pPr indent="0" marL="0">
              <a:buNone/>
            </a:pPr>
            <a:r>
              <a:rPr lang="en-US" sz="2000" b="1" dirty="0">
                <a:solidFill>
                  <a:srgbClr val="3DCD58"/>
                </a:solidFill>
                <a:latin typeface="Telegraf" pitchFamily="34" charset="0"/>
                <a:ea typeface="Telegraf" pitchFamily="34" charset="-122"/>
                <a:cs typeface="Telegraf" pitchFamily="34" charset="-120"/>
              </a:rPr>
              <a:t>And that was the trade</a:t>
            </a:r>
            <a:endParaRPr lang="en-US" sz="2000" dirty="0"/>
          </a:p>
        </p:txBody>
      </p:sp>
      <p:sp>
        <p:nvSpPr>
          <p:cNvPr id="14" name="Text 12"/>
          <p:cNvSpPr/>
          <p:nvPr/>
        </p:nvSpPr>
        <p:spPr>
          <a:xfrm>
            <a:off x="8430768" y="4462272"/>
            <a:ext cx="2852928" cy="1737360"/>
          </a:xfrm>
          <a:prstGeom prst="rect">
            <a:avLst/>
          </a:prstGeom>
          <a:noFill/>
          <a:ln/>
        </p:spPr>
        <p:txBody>
          <a:bodyPr wrap="square" lIns="0" tIns="0" rIns="0" bIns="0" rtlCol="0" anchor="t"/>
          <a:lstStyle/>
          <a:p>
            <a:pPr indent="0" marL="0">
              <a:lnSpc>
                <a:spcPts val="2100"/>
              </a:lnSpc>
              <a:buNone/>
            </a:pPr>
            <a:r>
              <a:rPr lang="en-US" sz="1600" dirty="0">
                <a:solidFill>
                  <a:srgbClr val="FFFFFF"/>
                </a:solidFill>
                <a:latin typeface="Telegraf" pitchFamily="34" charset="0"/>
                <a:ea typeface="Telegraf" pitchFamily="34" charset="-122"/>
                <a:cs typeface="Telegraf" pitchFamily="34" charset="-120"/>
              </a:rPr>
              <a:t>Integration you didn't have to build yourself, in exchange for a stack that only worked because one company controlled every layer of it.</a:t>
            </a:r>
            <a:endParaRPr lang="en-US" sz="1600" dirty="0"/>
          </a:p>
        </p:txBody>
      </p:sp>
      <p:sp>
        <p:nvSpPr>
          <p:cNvPr id="16" name="Text 13"/>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28016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28016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1989</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Then we put a window on top of it</a:t>
            </a:r>
            <a:endParaRPr lang="en-US" sz="3800" dirty="0"/>
          </a:p>
        </p:txBody>
      </p:sp>
      <p:sp>
        <p:nvSpPr>
          <p:cNvPr id="5" name="Text 3"/>
          <p:cNvSpPr/>
          <p:nvPr/>
        </p:nvSpPr>
        <p:spPr>
          <a:xfrm>
            <a:off x="640080" y="2148840"/>
            <a:ext cx="6492240" cy="1600200"/>
          </a:xfrm>
          <a:prstGeom prst="rect">
            <a:avLst/>
          </a:prstGeom>
          <a:noFill/>
          <a:ln/>
        </p:spPr>
        <p:txBody>
          <a:bodyPr wrap="square" lIns="0" tIns="0" rIns="0" bIns="0" rtlCol="0" anchor="t"/>
          <a:lstStyle/>
          <a:p>
            <a:pPr indent="0" marL="0">
              <a:lnSpc>
                <a:spcPts val="3000"/>
              </a:lnSpc>
              <a:buNone/>
            </a:pPr>
            <a:r>
              <a:rPr lang="en-US" sz="2200" dirty="0">
                <a:solidFill>
                  <a:srgbClr val="FFFFFF"/>
                </a:solidFill>
                <a:latin typeface="Telegraf" pitchFamily="34" charset="0"/>
                <a:ea typeface="Telegraf" pitchFamily="34" charset="-122"/>
                <a:cs typeface="Telegraf" pitchFamily="34" charset="-120"/>
              </a:rPr>
              <a:t>Wonderware shipped InTouch — the first HMI built for Windows. For the first time, a supervisory layer sat on top of the control system, independent of it.</a:t>
            </a:r>
            <a:endParaRPr lang="en-US" sz="2200" dirty="0"/>
          </a:p>
        </p:txBody>
      </p:sp>
      <p:sp>
        <p:nvSpPr>
          <p:cNvPr id="6" name="Text 4"/>
          <p:cNvSpPr/>
          <p:nvPr/>
        </p:nvSpPr>
        <p:spPr>
          <a:xfrm>
            <a:off x="640080" y="3794760"/>
            <a:ext cx="6492240" cy="1691640"/>
          </a:xfrm>
          <a:prstGeom prst="rect">
            <a:avLst/>
          </a:prstGeom>
          <a:noFill/>
          <a:ln/>
        </p:spPr>
        <p:txBody>
          <a:bodyPr wrap="square" lIns="0" tIns="0" rIns="0" bIns="0" rtlCol="0" anchor="t"/>
          <a:lstStyle/>
          <a:p>
            <a:pPr indent="0" marL="0">
              <a:lnSpc>
                <a:spcPts val="2600"/>
              </a:lnSpc>
              <a:buNone/>
            </a:pPr>
            <a:r>
              <a:rPr lang="en-US" sz="1900" b="1" dirty="0">
                <a:solidFill>
                  <a:srgbClr val="FFFFFF"/>
                </a:solidFill>
                <a:latin typeface="Telegraf" pitchFamily="34" charset="0"/>
                <a:ea typeface="Telegraf" pitchFamily="34" charset="-122"/>
                <a:cs typeface="Telegraf" pitchFamily="34" charset="-120"/>
              </a:rPr>
              <a:t>This is the layer most of you actually live in.</a:t>
            </a:r>
            <a:endParaRPr lang="en-US" sz="1900" dirty="0"/>
          </a:p>
          <a:p>
            <a:pPr indent="0" marL="0">
              <a:lnSpc>
                <a:spcPts val="2600"/>
              </a:lnSpc>
              <a:buNone/>
            </a:pPr>
            <a:r>
              <a:rPr lang="en-US" sz="1900" dirty="0">
                <a:solidFill>
                  <a:srgbClr val="FFFFFF"/>
                </a:solidFill>
                <a:latin typeface="Telegraf" pitchFamily="34" charset="0"/>
                <a:ea typeface="Telegraf" pitchFamily="34" charset="-122"/>
                <a:cs typeface="Telegraf" pitchFamily="34" charset="-120"/>
              </a:rPr>
              <a:t>Alarms. Trends. Historian. The monthly compliance report. Situational awareness across a system too big to walk.</a:t>
            </a:r>
            <a:endParaRPr lang="en-US" sz="1900" dirty="0"/>
          </a:p>
        </p:txBody>
      </p:sp>
      <p:sp>
        <p:nvSpPr>
          <p:cNvPr id="7" name="Text 5"/>
          <p:cNvSpPr/>
          <p:nvPr/>
        </p:nvSpPr>
        <p:spPr>
          <a:xfrm>
            <a:off x="640080" y="5532120"/>
            <a:ext cx="6492240" cy="822960"/>
          </a:xfrm>
          <a:prstGeom prst="rect">
            <a:avLst/>
          </a:prstGeom>
          <a:noFill/>
          <a:ln/>
        </p:spPr>
        <p:txBody>
          <a:bodyPr wrap="square" lIns="0" tIns="0" rIns="0" bIns="0" rtlCol="0" anchor="t"/>
          <a:lstStyle/>
          <a:p>
            <a:pPr indent="0" marL="0">
              <a:lnSpc>
                <a:spcPts val="2600"/>
              </a:lnSpc>
              <a:buNone/>
            </a:pPr>
            <a:r>
              <a:rPr lang="en-US" sz="1900" i="1" dirty="0">
                <a:solidFill>
                  <a:srgbClr val="00A19C"/>
                </a:solidFill>
                <a:latin typeface="Telegraf" pitchFamily="34" charset="0"/>
                <a:ea typeface="Telegraf" pitchFamily="34" charset="-122"/>
                <a:cs typeface="Telegraf" pitchFamily="34" charset="-120"/>
              </a:rPr>
              <a:t>It was, genuinely, a leap. And it is still doing that job in your plant today.</a:t>
            </a:r>
            <a:endParaRPr lang="en-US" sz="1900" dirty="0"/>
          </a:p>
        </p:txBody>
      </p:sp>
      <p:sp>
        <p:nvSpPr>
          <p:cNvPr id="8" name="Shape 6"/>
          <p:cNvSpPr/>
          <p:nvPr/>
        </p:nvSpPr>
        <p:spPr>
          <a:xfrm>
            <a:off x="7635240" y="2286000"/>
            <a:ext cx="3913632" cy="1143000"/>
          </a:xfrm>
          <a:prstGeom prst="roundRect">
            <a:avLst>
              <a:gd name="adj" fmla="val 9600"/>
            </a:avLst>
          </a:prstGeom>
          <a:solidFill>
            <a:srgbClr val="3DCD58"/>
          </a:solidFill>
          <a:ln w="12700">
            <a:solidFill>
              <a:srgbClr val="3DCD58"/>
            </a:solidFill>
            <a:prstDash val="solid"/>
          </a:ln>
        </p:spPr>
      </p:sp>
      <p:sp>
        <p:nvSpPr>
          <p:cNvPr id="9" name="Text 7"/>
          <p:cNvSpPr/>
          <p:nvPr/>
        </p:nvSpPr>
        <p:spPr>
          <a:xfrm>
            <a:off x="7909560" y="2450592"/>
            <a:ext cx="3364992" cy="384048"/>
          </a:xfrm>
          <a:prstGeom prst="rect">
            <a:avLst/>
          </a:prstGeom>
          <a:noFill/>
          <a:ln/>
        </p:spPr>
        <p:txBody>
          <a:bodyPr wrap="square" lIns="0" tIns="0" rIns="0" bIns="0" rtlCol="0" anchor="ctr"/>
          <a:lstStyle/>
          <a:p>
            <a:pPr indent="0" marL="0">
              <a:buNone/>
            </a:pPr>
            <a:r>
              <a:rPr lang="en-US" sz="1700" b="1" spc="150" kern="0" dirty="0">
                <a:solidFill>
                  <a:srgbClr val="000000"/>
                </a:solidFill>
                <a:latin typeface="Telegraf" pitchFamily="34" charset="0"/>
                <a:ea typeface="Telegraf" pitchFamily="34" charset="-122"/>
                <a:cs typeface="Telegraf" pitchFamily="34" charset="-120"/>
              </a:rPr>
              <a:t>SUPERVISORY</a:t>
            </a:r>
            <a:endParaRPr lang="en-US" sz="1700" dirty="0"/>
          </a:p>
        </p:txBody>
      </p:sp>
      <p:sp>
        <p:nvSpPr>
          <p:cNvPr id="10" name="Text 8"/>
          <p:cNvSpPr/>
          <p:nvPr/>
        </p:nvSpPr>
        <p:spPr>
          <a:xfrm>
            <a:off x="7909560" y="2852928"/>
            <a:ext cx="3364992" cy="384048"/>
          </a:xfrm>
          <a:prstGeom prst="rect">
            <a:avLst/>
          </a:prstGeom>
          <a:noFill/>
          <a:ln/>
        </p:spPr>
        <p:txBody>
          <a:bodyPr wrap="square" lIns="0" tIns="0" rIns="0" bIns="0" rtlCol="0" anchor="ctr"/>
          <a:lstStyle/>
          <a:p>
            <a:pPr indent="0" marL="0">
              <a:buNone/>
            </a:pPr>
            <a:r>
              <a:rPr lang="en-US" sz="1600" dirty="0">
                <a:solidFill>
                  <a:srgbClr val="000000"/>
                </a:solidFill>
                <a:latin typeface="Telegraf" pitchFamily="34" charset="0"/>
                <a:ea typeface="Telegraf" pitchFamily="34" charset="-122"/>
                <a:cs typeface="Telegraf" pitchFamily="34" charset="-120"/>
              </a:rPr>
              <a:t>SCADA / HMI — 1989</a:t>
            </a:r>
            <a:endParaRPr lang="en-US" sz="1600" dirty="0"/>
          </a:p>
        </p:txBody>
      </p:sp>
      <p:sp>
        <p:nvSpPr>
          <p:cNvPr id="11" name="Shape 9"/>
          <p:cNvSpPr/>
          <p:nvPr/>
        </p:nvSpPr>
        <p:spPr>
          <a:xfrm>
            <a:off x="7635240" y="3584448"/>
            <a:ext cx="3913632" cy="1143000"/>
          </a:xfrm>
          <a:prstGeom prst="roundRect">
            <a:avLst>
              <a:gd name="adj" fmla="val 9600"/>
            </a:avLst>
          </a:prstGeom>
          <a:solidFill>
            <a:srgbClr val="00A19C"/>
          </a:solidFill>
          <a:ln w="12700">
            <a:solidFill>
              <a:srgbClr val="00A19C"/>
            </a:solidFill>
            <a:prstDash val="solid"/>
          </a:ln>
        </p:spPr>
      </p:sp>
      <p:sp>
        <p:nvSpPr>
          <p:cNvPr id="12" name="Text 10"/>
          <p:cNvSpPr/>
          <p:nvPr/>
        </p:nvSpPr>
        <p:spPr>
          <a:xfrm>
            <a:off x="7909560" y="3749040"/>
            <a:ext cx="3364992" cy="384048"/>
          </a:xfrm>
          <a:prstGeom prst="rect">
            <a:avLst/>
          </a:prstGeom>
          <a:noFill/>
          <a:ln/>
        </p:spPr>
        <p:txBody>
          <a:bodyPr wrap="square" lIns="0" tIns="0" rIns="0" bIns="0" rtlCol="0" anchor="ctr"/>
          <a:lstStyle/>
          <a:p>
            <a:pPr indent="0" marL="0">
              <a:buNone/>
            </a:pPr>
            <a:r>
              <a:rPr lang="en-US" sz="1700" b="1" spc="150" kern="0" dirty="0">
                <a:solidFill>
                  <a:srgbClr val="FFFFFF"/>
                </a:solidFill>
                <a:latin typeface="Telegraf" pitchFamily="34" charset="0"/>
                <a:ea typeface="Telegraf" pitchFamily="34" charset="-122"/>
                <a:cs typeface="Telegraf" pitchFamily="34" charset="-120"/>
              </a:rPr>
              <a:t>CONTROL</a:t>
            </a:r>
            <a:endParaRPr lang="en-US" sz="1700" dirty="0"/>
          </a:p>
        </p:txBody>
      </p:sp>
      <p:sp>
        <p:nvSpPr>
          <p:cNvPr id="13" name="Text 11"/>
          <p:cNvSpPr/>
          <p:nvPr/>
        </p:nvSpPr>
        <p:spPr>
          <a:xfrm>
            <a:off x="7909560" y="4151376"/>
            <a:ext cx="3364992" cy="384048"/>
          </a:xfrm>
          <a:prstGeom prst="rect">
            <a:avLst/>
          </a:prstGeom>
          <a:noFill/>
          <a:ln/>
        </p:spPr>
        <p:txBody>
          <a:bodyPr wrap="square" lIns="0" tIns="0" rIns="0" bIns="0" rtlCol="0" anchor="ctr"/>
          <a:lstStyle/>
          <a:p>
            <a:pPr indent="0" marL="0">
              <a:buNone/>
            </a:pPr>
            <a:r>
              <a:rPr lang="en-US" sz="1600" dirty="0">
                <a:solidFill>
                  <a:srgbClr val="FFFFFF"/>
                </a:solidFill>
                <a:latin typeface="Telegraf" pitchFamily="34" charset="0"/>
                <a:ea typeface="Telegraf" pitchFamily="34" charset="-122"/>
                <a:cs typeface="Telegraf" pitchFamily="34" charset="-120"/>
              </a:rPr>
              <a:t>PLC / DCS — 1968, 1975</a:t>
            </a:r>
            <a:endParaRPr lang="en-US" sz="1600" dirty="0"/>
          </a:p>
        </p:txBody>
      </p:sp>
      <p:sp>
        <p:nvSpPr>
          <p:cNvPr id="14" name="Shape 12"/>
          <p:cNvSpPr/>
          <p:nvPr/>
        </p:nvSpPr>
        <p:spPr>
          <a:xfrm>
            <a:off x="7635240" y="4882896"/>
            <a:ext cx="3913632" cy="1143000"/>
          </a:xfrm>
          <a:prstGeom prst="roundRect">
            <a:avLst>
              <a:gd name="adj" fmla="val 9600"/>
            </a:avLst>
          </a:prstGeom>
          <a:solidFill>
            <a:srgbClr val="E2231A"/>
          </a:solidFill>
          <a:ln w="12700">
            <a:solidFill>
              <a:srgbClr val="E2231A"/>
            </a:solidFill>
            <a:prstDash val="solid"/>
          </a:ln>
        </p:spPr>
      </p:sp>
      <p:sp>
        <p:nvSpPr>
          <p:cNvPr id="15" name="Text 13"/>
          <p:cNvSpPr/>
          <p:nvPr/>
        </p:nvSpPr>
        <p:spPr>
          <a:xfrm>
            <a:off x="7909560" y="5047488"/>
            <a:ext cx="3364992" cy="384048"/>
          </a:xfrm>
          <a:prstGeom prst="rect">
            <a:avLst/>
          </a:prstGeom>
          <a:noFill/>
          <a:ln/>
        </p:spPr>
        <p:txBody>
          <a:bodyPr wrap="square" lIns="0" tIns="0" rIns="0" bIns="0" rtlCol="0" anchor="ctr"/>
          <a:lstStyle/>
          <a:p>
            <a:pPr indent="0" marL="0">
              <a:buNone/>
            </a:pPr>
            <a:r>
              <a:rPr lang="en-US" sz="1700" b="1" spc="150" kern="0" dirty="0">
                <a:solidFill>
                  <a:srgbClr val="FFFFFF"/>
                </a:solidFill>
                <a:latin typeface="Telegraf" pitchFamily="34" charset="0"/>
                <a:ea typeface="Telegraf" pitchFamily="34" charset="-122"/>
                <a:cs typeface="Telegraf" pitchFamily="34" charset="-120"/>
              </a:rPr>
              <a:t>FIELD</a:t>
            </a:r>
            <a:endParaRPr lang="en-US" sz="1700" dirty="0"/>
          </a:p>
        </p:txBody>
      </p:sp>
      <p:sp>
        <p:nvSpPr>
          <p:cNvPr id="16" name="Text 14"/>
          <p:cNvSpPr/>
          <p:nvPr/>
        </p:nvSpPr>
        <p:spPr>
          <a:xfrm>
            <a:off x="7909560" y="5449824"/>
            <a:ext cx="3364992" cy="384048"/>
          </a:xfrm>
          <a:prstGeom prst="rect">
            <a:avLst/>
          </a:prstGeom>
          <a:noFill/>
          <a:ln/>
        </p:spPr>
        <p:txBody>
          <a:bodyPr wrap="square" lIns="0" tIns="0" rIns="0" bIns="0" rtlCol="0" anchor="ctr"/>
          <a:lstStyle/>
          <a:p>
            <a:pPr indent="0" marL="0">
              <a:buNone/>
            </a:pPr>
            <a:r>
              <a:rPr lang="en-US" sz="1600" dirty="0">
                <a:solidFill>
                  <a:srgbClr val="FFFFFF"/>
                </a:solidFill>
                <a:latin typeface="Telegraf" pitchFamily="34" charset="0"/>
                <a:ea typeface="Telegraf" pitchFamily="34" charset="-122"/>
                <a:cs typeface="Telegraf" pitchFamily="34" charset="-120"/>
              </a:rPr>
              <a:t>Pumps, valves, instruments</a:t>
            </a:r>
            <a:endParaRPr lang="en-US" sz="1600" dirty="0"/>
          </a:p>
        </p:txBody>
      </p:sp>
      <p:sp>
        <p:nvSpPr>
          <p:cNvPr id="17" name="Text 15"/>
          <p:cNvSpPr/>
          <p:nvPr/>
        </p:nvSpPr>
        <p:spPr>
          <a:xfrm>
            <a:off x="7635240" y="5806440"/>
            <a:ext cx="3913632" cy="548640"/>
          </a:xfrm>
          <a:prstGeom prst="rect">
            <a:avLst/>
          </a:prstGeom>
          <a:noFill/>
          <a:ln/>
        </p:spPr>
        <p:txBody>
          <a:bodyPr wrap="square" lIns="0" tIns="0" rIns="0" bIns="0" rtlCol="0" anchor="ctr"/>
          <a:lstStyle/>
          <a:p>
            <a:pPr algn="ctr" indent="0" marL="0">
              <a:buNone/>
            </a:pPr>
            <a:r>
              <a:rPr lang="en-US" sz="1600" i="1" dirty="0">
                <a:solidFill>
                  <a:srgbClr val="9AA3AA"/>
                </a:solidFill>
                <a:latin typeface="Telegraf" pitchFamily="34" charset="0"/>
                <a:ea typeface="Telegraf" pitchFamily="34" charset="-122"/>
                <a:cs typeface="Telegraf" pitchFamily="34" charset="-120"/>
              </a:rPr>
              <a:t>Three layers. Two vendors' worth of lock-in.</a:t>
            </a:r>
            <a:endParaRPr lang="en-US" sz="1600" dirty="0"/>
          </a:p>
        </p:txBody>
      </p:sp>
      <p:sp>
        <p:nvSpPr>
          <p:cNvPr id="19" name="Text 16"/>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475488"/>
            <a:ext cx="237744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475488"/>
            <a:ext cx="237744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THE PATTERN</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Sixty years, three promises</a:t>
            </a:r>
            <a:endParaRPr lang="en-US" sz="3800" dirty="0"/>
          </a:p>
        </p:txBody>
      </p:sp>
      <p:sp>
        <p:nvSpPr>
          <p:cNvPr id="5" name="Shape 3"/>
          <p:cNvSpPr/>
          <p:nvPr/>
        </p:nvSpPr>
        <p:spPr>
          <a:xfrm>
            <a:off x="640080" y="2286000"/>
            <a:ext cx="3401568" cy="2880360"/>
          </a:xfrm>
          <a:prstGeom prst="roundRect">
            <a:avLst>
              <a:gd name="adj" fmla="val 3810"/>
            </a:avLst>
          </a:prstGeom>
          <a:solidFill>
            <a:srgbClr val="1B1B1B"/>
          </a:solidFill>
          <a:ln w="12700">
            <a:solidFill>
              <a:srgbClr val="1B1B1B"/>
            </a:solidFill>
            <a:prstDash val="solid"/>
          </a:ln>
        </p:spPr>
      </p:sp>
      <p:sp>
        <p:nvSpPr>
          <p:cNvPr id="6" name="Shape 4"/>
          <p:cNvSpPr/>
          <p:nvPr/>
        </p:nvSpPr>
        <p:spPr>
          <a:xfrm>
            <a:off x="914400" y="2542032"/>
            <a:ext cx="1051560" cy="402336"/>
          </a:xfrm>
          <a:prstGeom prst="roundRect">
            <a:avLst>
              <a:gd name="adj" fmla="val 50000"/>
            </a:avLst>
          </a:prstGeom>
          <a:solidFill>
            <a:srgbClr val="3DCD58"/>
          </a:solidFill>
          <a:ln w="12700">
            <a:solidFill>
              <a:srgbClr val="3DCD58"/>
            </a:solidFill>
            <a:prstDash val="solid"/>
          </a:ln>
        </p:spPr>
      </p:sp>
      <p:sp>
        <p:nvSpPr>
          <p:cNvPr id="7" name="Text 5"/>
          <p:cNvSpPr/>
          <p:nvPr/>
        </p:nvSpPr>
        <p:spPr>
          <a:xfrm>
            <a:off x="914400" y="2542032"/>
            <a:ext cx="105156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1968</a:t>
            </a:r>
            <a:endParaRPr lang="en-US" sz="1500" dirty="0"/>
          </a:p>
        </p:txBody>
      </p:sp>
      <p:sp>
        <p:nvSpPr>
          <p:cNvPr id="8" name="Text 6"/>
          <p:cNvSpPr/>
          <p:nvPr/>
        </p:nvSpPr>
        <p:spPr>
          <a:xfrm>
            <a:off x="914400" y="3063240"/>
            <a:ext cx="2834640" cy="457200"/>
          </a:xfrm>
          <a:prstGeom prst="rect">
            <a:avLst/>
          </a:prstGeom>
          <a:noFill/>
          <a:ln/>
        </p:spPr>
        <p:txBody>
          <a:bodyPr wrap="square" lIns="0" tIns="0" rIns="0" bIns="0" rtlCol="0" anchor="ctr"/>
          <a:lstStyle/>
          <a:p>
            <a:pPr indent="0" marL="0">
              <a:buNone/>
            </a:pPr>
            <a:r>
              <a:rPr lang="en-US" sz="2500" b="1" dirty="0">
                <a:solidFill>
                  <a:srgbClr val="FFFFFF"/>
                </a:solidFill>
                <a:latin typeface="Telegraf" pitchFamily="34" charset="0"/>
                <a:ea typeface="Telegraf" pitchFamily="34" charset="-122"/>
                <a:cs typeface="Telegraf" pitchFamily="34" charset="-120"/>
              </a:rPr>
              <a:t>The PLC</a:t>
            </a:r>
            <a:endParaRPr lang="en-US" sz="2500" dirty="0"/>
          </a:p>
        </p:txBody>
      </p:sp>
      <p:sp>
        <p:nvSpPr>
          <p:cNvPr id="9" name="Text 7"/>
          <p:cNvSpPr/>
          <p:nvPr/>
        </p:nvSpPr>
        <p:spPr>
          <a:xfrm>
            <a:off x="914400" y="3584448"/>
            <a:ext cx="2880360" cy="1371600"/>
          </a:xfrm>
          <a:prstGeom prst="rect">
            <a:avLst/>
          </a:prstGeom>
          <a:noFill/>
          <a:ln/>
        </p:spPr>
        <p:txBody>
          <a:bodyPr wrap="square" lIns="0" tIns="0" rIns="0" bIns="0" rtlCol="0" anchor="t"/>
          <a:lstStyle/>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"Change the logic</a:t>
            </a:r>
            <a:endParaRPr lang="en-US" sz="1800" dirty="0"/>
          </a:p>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without rewiring</a:t>
            </a:r>
            <a:endParaRPr lang="en-US" sz="1800" dirty="0"/>
          </a:p>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the panel."</a:t>
            </a:r>
            <a:endParaRPr lang="en-US" sz="1800" dirty="0"/>
          </a:p>
        </p:txBody>
      </p:sp>
      <p:sp>
        <p:nvSpPr>
          <p:cNvPr id="10" name="Shape 8"/>
          <p:cNvSpPr/>
          <p:nvPr/>
        </p:nvSpPr>
        <p:spPr>
          <a:xfrm>
            <a:off x="4398264" y="2286000"/>
            <a:ext cx="3401568" cy="2880360"/>
          </a:xfrm>
          <a:prstGeom prst="roundRect">
            <a:avLst>
              <a:gd name="adj" fmla="val 3810"/>
            </a:avLst>
          </a:prstGeom>
          <a:solidFill>
            <a:srgbClr val="1B1B1B"/>
          </a:solidFill>
          <a:ln w="12700">
            <a:solidFill>
              <a:srgbClr val="1B1B1B"/>
            </a:solidFill>
            <a:prstDash val="solid"/>
          </a:ln>
        </p:spPr>
      </p:sp>
      <p:sp>
        <p:nvSpPr>
          <p:cNvPr id="11" name="Shape 9"/>
          <p:cNvSpPr/>
          <p:nvPr/>
        </p:nvSpPr>
        <p:spPr>
          <a:xfrm>
            <a:off x="4672584" y="2542032"/>
            <a:ext cx="1051560" cy="402336"/>
          </a:xfrm>
          <a:prstGeom prst="roundRect">
            <a:avLst>
              <a:gd name="adj" fmla="val 50000"/>
            </a:avLst>
          </a:prstGeom>
          <a:solidFill>
            <a:srgbClr val="00A19C"/>
          </a:solidFill>
          <a:ln w="12700">
            <a:solidFill>
              <a:srgbClr val="00A19C"/>
            </a:solidFill>
            <a:prstDash val="solid"/>
          </a:ln>
        </p:spPr>
      </p:sp>
      <p:sp>
        <p:nvSpPr>
          <p:cNvPr id="12" name="Text 10"/>
          <p:cNvSpPr/>
          <p:nvPr/>
        </p:nvSpPr>
        <p:spPr>
          <a:xfrm>
            <a:off x="4672584" y="2542032"/>
            <a:ext cx="105156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1975</a:t>
            </a:r>
            <a:endParaRPr lang="en-US" sz="1500" dirty="0"/>
          </a:p>
        </p:txBody>
      </p:sp>
      <p:sp>
        <p:nvSpPr>
          <p:cNvPr id="13" name="Text 11"/>
          <p:cNvSpPr/>
          <p:nvPr/>
        </p:nvSpPr>
        <p:spPr>
          <a:xfrm>
            <a:off x="4672584" y="3063240"/>
            <a:ext cx="2834640" cy="457200"/>
          </a:xfrm>
          <a:prstGeom prst="rect">
            <a:avLst/>
          </a:prstGeom>
          <a:noFill/>
          <a:ln/>
        </p:spPr>
        <p:txBody>
          <a:bodyPr wrap="square" lIns="0" tIns="0" rIns="0" bIns="0" rtlCol="0" anchor="ctr"/>
          <a:lstStyle/>
          <a:p>
            <a:pPr indent="0" marL="0">
              <a:buNone/>
            </a:pPr>
            <a:r>
              <a:rPr lang="en-US" sz="2500" b="1" dirty="0">
                <a:solidFill>
                  <a:srgbClr val="FFFFFF"/>
                </a:solidFill>
                <a:latin typeface="Telegraf" pitchFamily="34" charset="0"/>
                <a:ea typeface="Telegraf" pitchFamily="34" charset="-122"/>
                <a:cs typeface="Telegraf" pitchFamily="34" charset="-120"/>
              </a:rPr>
              <a:t>The DCS</a:t>
            </a:r>
            <a:endParaRPr lang="en-US" sz="2500" dirty="0"/>
          </a:p>
        </p:txBody>
      </p:sp>
      <p:sp>
        <p:nvSpPr>
          <p:cNvPr id="14" name="Text 12"/>
          <p:cNvSpPr/>
          <p:nvPr/>
        </p:nvSpPr>
        <p:spPr>
          <a:xfrm>
            <a:off x="4672584" y="3584448"/>
            <a:ext cx="2880360" cy="1371600"/>
          </a:xfrm>
          <a:prstGeom prst="rect">
            <a:avLst/>
          </a:prstGeom>
          <a:noFill/>
          <a:ln/>
        </p:spPr>
        <p:txBody>
          <a:bodyPr wrap="square" lIns="0" tIns="0" rIns="0" bIns="0" rtlCol="0" anchor="t"/>
          <a:lstStyle/>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"Control the whole</a:t>
            </a:r>
            <a:endParaRPr lang="en-US" sz="1800" dirty="0"/>
          </a:p>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plant without one</a:t>
            </a:r>
            <a:endParaRPr lang="en-US" sz="1800" dirty="0"/>
          </a:p>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point of failure."</a:t>
            </a:r>
            <a:endParaRPr lang="en-US" sz="1800" dirty="0"/>
          </a:p>
        </p:txBody>
      </p:sp>
      <p:sp>
        <p:nvSpPr>
          <p:cNvPr id="15" name="Shape 13"/>
          <p:cNvSpPr/>
          <p:nvPr/>
        </p:nvSpPr>
        <p:spPr>
          <a:xfrm>
            <a:off x="8156448" y="2286000"/>
            <a:ext cx="3401568" cy="2880360"/>
          </a:xfrm>
          <a:prstGeom prst="roundRect">
            <a:avLst>
              <a:gd name="adj" fmla="val 3810"/>
            </a:avLst>
          </a:prstGeom>
          <a:solidFill>
            <a:srgbClr val="1B1B1B"/>
          </a:solidFill>
          <a:ln w="12700">
            <a:solidFill>
              <a:srgbClr val="1B1B1B"/>
            </a:solidFill>
            <a:prstDash val="solid"/>
          </a:ln>
        </p:spPr>
      </p:sp>
      <p:sp>
        <p:nvSpPr>
          <p:cNvPr id="16" name="Shape 14"/>
          <p:cNvSpPr/>
          <p:nvPr/>
        </p:nvSpPr>
        <p:spPr>
          <a:xfrm>
            <a:off x="8430768" y="2542032"/>
            <a:ext cx="1051560" cy="402336"/>
          </a:xfrm>
          <a:prstGeom prst="roundRect">
            <a:avLst>
              <a:gd name="adj" fmla="val 50000"/>
            </a:avLst>
          </a:prstGeom>
          <a:solidFill>
            <a:srgbClr val="E2231A"/>
          </a:solidFill>
          <a:ln w="12700">
            <a:solidFill>
              <a:srgbClr val="E2231A"/>
            </a:solidFill>
            <a:prstDash val="solid"/>
          </a:ln>
        </p:spPr>
      </p:sp>
      <p:sp>
        <p:nvSpPr>
          <p:cNvPr id="17" name="Text 15"/>
          <p:cNvSpPr/>
          <p:nvPr/>
        </p:nvSpPr>
        <p:spPr>
          <a:xfrm>
            <a:off x="8430768" y="2542032"/>
            <a:ext cx="105156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1989</a:t>
            </a:r>
            <a:endParaRPr lang="en-US" sz="1500" dirty="0"/>
          </a:p>
        </p:txBody>
      </p:sp>
      <p:sp>
        <p:nvSpPr>
          <p:cNvPr id="18" name="Text 16"/>
          <p:cNvSpPr/>
          <p:nvPr/>
        </p:nvSpPr>
        <p:spPr>
          <a:xfrm>
            <a:off x="8430768" y="3063240"/>
            <a:ext cx="2834640" cy="457200"/>
          </a:xfrm>
          <a:prstGeom prst="rect">
            <a:avLst/>
          </a:prstGeom>
          <a:noFill/>
          <a:ln/>
        </p:spPr>
        <p:txBody>
          <a:bodyPr wrap="square" lIns="0" tIns="0" rIns="0" bIns="0" rtlCol="0" anchor="ctr"/>
          <a:lstStyle/>
          <a:p>
            <a:pPr indent="0" marL="0">
              <a:buNone/>
            </a:pPr>
            <a:r>
              <a:rPr lang="en-US" sz="2500" b="1" dirty="0">
                <a:solidFill>
                  <a:srgbClr val="FFFFFF"/>
                </a:solidFill>
                <a:latin typeface="Telegraf" pitchFamily="34" charset="0"/>
                <a:ea typeface="Telegraf" pitchFamily="34" charset="-122"/>
                <a:cs typeface="Telegraf" pitchFamily="34" charset="-120"/>
              </a:rPr>
              <a:t>SCADA</a:t>
            </a:r>
            <a:endParaRPr lang="en-US" sz="2500" dirty="0"/>
          </a:p>
        </p:txBody>
      </p:sp>
      <p:sp>
        <p:nvSpPr>
          <p:cNvPr id="19" name="Text 17"/>
          <p:cNvSpPr/>
          <p:nvPr/>
        </p:nvSpPr>
        <p:spPr>
          <a:xfrm>
            <a:off x="8430768" y="3584448"/>
            <a:ext cx="2880360" cy="1371600"/>
          </a:xfrm>
          <a:prstGeom prst="rect">
            <a:avLst/>
          </a:prstGeom>
          <a:noFill/>
          <a:ln/>
        </p:spPr>
        <p:txBody>
          <a:bodyPr wrap="square" lIns="0" tIns="0" rIns="0" bIns="0" rtlCol="0" anchor="t"/>
          <a:lstStyle/>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"See everything,</a:t>
            </a:r>
            <a:endParaRPr lang="en-US" sz="1800" dirty="0"/>
          </a:p>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from one screen,</a:t>
            </a:r>
            <a:endParaRPr lang="en-US" sz="1800" dirty="0"/>
          </a:p>
          <a:p>
            <a:pPr indent="0" marL="0">
              <a:lnSpc>
                <a:spcPts val="2500"/>
              </a:lnSpc>
              <a:buNone/>
            </a:pPr>
            <a:r>
              <a:rPr lang="en-US" sz="1800" dirty="0">
                <a:solidFill>
                  <a:srgbClr val="6FD9D4"/>
                </a:solidFill>
                <a:latin typeface="Telegraf" pitchFamily="34" charset="0"/>
                <a:ea typeface="Telegraf" pitchFamily="34" charset="-122"/>
                <a:cs typeface="Telegraf" pitchFamily="34" charset="-120"/>
              </a:rPr>
              <a:t>from anywhere."</a:t>
            </a:r>
            <a:endParaRPr lang="en-US" sz="1800" dirty="0"/>
          </a:p>
        </p:txBody>
      </p:sp>
      <p:sp>
        <p:nvSpPr>
          <p:cNvPr id="20" name="Text 18"/>
          <p:cNvSpPr/>
          <p:nvPr/>
        </p:nvSpPr>
        <p:spPr>
          <a:xfrm>
            <a:off x="640080" y="5532120"/>
            <a:ext cx="10332720" cy="640080"/>
          </a:xfrm>
          <a:prstGeom prst="rect">
            <a:avLst/>
          </a:prstGeom>
          <a:noFill/>
          <a:ln/>
        </p:spPr>
        <p:txBody>
          <a:bodyPr wrap="square" lIns="0" tIns="0" rIns="0" bIns="0" rtlCol="0" anchor="ctr"/>
          <a:lstStyle/>
          <a:p>
            <a:pPr indent="0" marL="0">
              <a:buNone/>
            </a:pPr>
            <a:r>
              <a:rPr lang="en-US" sz="2400" i="1" dirty="0">
                <a:solidFill>
                  <a:srgbClr val="3DCD58"/>
                </a:solidFill>
                <a:latin typeface="Telegraf" pitchFamily="34" charset="0"/>
                <a:ea typeface="Telegraf" pitchFamily="34" charset="-122"/>
                <a:cs typeface="Telegraf" pitchFamily="34" charset="-120"/>
              </a:rPr>
              <a:t>Every one of those promises was kept. That is not the problem.</a:t>
            </a:r>
            <a:endParaRPr lang="en-US" sz="2400" dirty="0"/>
          </a:p>
        </p:txBody>
      </p:sp>
      <p:sp>
        <p:nvSpPr>
          <p:cNvPr id="22" name="Text 19"/>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2148840"/>
            <a:ext cx="150876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2148840"/>
            <a:ext cx="150876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ACT II</a:t>
            </a:r>
            <a:endParaRPr lang="en-US" sz="1500" dirty="0"/>
          </a:p>
        </p:txBody>
      </p:sp>
      <p:sp>
        <p:nvSpPr>
          <p:cNvPr id="4" name="Text 2"/>
          <p:cNvSpPr/>
          <p:nvPr/>
        </p:nvSpPr>
        <p:spPr>
          <a:xfrm>
            <a:off x="640080" y="2743200"/>
            <a:ext cx="10607040" cy="1005840"/>
          </a:xfrm>
          <a:prstGeom prst="rect">
            <a:avLst/>
          </a:prstGeom>
          <a:noFill/>
          <a:ln/>
        </p:spPr>
        <p:txBody>
          <a:bodyPr wrap="square" lIns="0" tIns="0" rIns="0" bIns="0" rtlCol="0" anchor="ctr"/>
          <a:lstStyle/>
          <a:p>
            <a:pPr indent="0" marL="0">
              <a:buNone/>
            </a:pPr>
            <a:r>
              <a:rPr lang="en-US" sz="5200" b="1" dirty="0">
                <a:solidFill>
                  <a:srgbClr val="FFFFFF"/>
                </a:solidFill>
                <a:latin typeface="Telegraf" pitchFamily="34" charset="0"/>
                <a:ea typeface="Telegraf" pitchFamily="34" charset="-122"/>
                <a:cs typeface="Telegraf" pitchFamily="34" charset="-120"/>
              </a:rPr>
              <a:t>The seam we never cut</a:t>
            </a:r>
            <a:endParaRPr lang="en-US" sz="5200" dirty="0"/>
          </a:p>
        </p:txBody>
      </p:sp>
      <p:sp>
        <p:nvSpPr>
          <p:cNvPr id="5" name="Text 3"/>
          <p:cNvSpPr/>
          <p:nvPr/>
        </p:nvSpPr>
        <p:spPr>
          <a:xfrm>
            <a:off x="640080" y="3931920"/>
            <a:ext cx="10058400" cy="1280160"/>
          </a:xfrm>
          <a:prstGeom prst="rect">
            <a:avLst/>
          </a:prstGeom>
          <a:noFill/>
          <a:ln/>
        </p:spPr>
        <p:txBody>
          <a:bodyPr wrap="square" lIns="0" tIns="0" rIns="0" bIns="0" rtlCol="0" anchor="ctr"/>
          <a:lstStyle/>
          <a:p>
            <a:pPr indent="0" marL="0">
              <a:lnSpc>
                <a:spcPts val="3200"/>
              </a:lnSpc>
              <a:buNone/>
            </a:pPr>
            <a:r>
              <a:rPr lang="en-US" sz="2300" dirty="0">
                <a:solidFill>
                  <a:srgbClr val="6FD9D4"/>
                </a:solidFill>
                <a:latin typeface="Telegraf" pitchFamily="34" charset="0"/>
                <a:ea typeface="Telegraf" pitchFamily="34" charset="-122"/>
                <a:cs typeface="Telegraf" pitchFamily="34" charset="-120"/>
              </a:rPr>
              <a:t>The PLC separated logic from wiring. Nobody ever separated logic from the box.</a:t>
            </a:r>
            <a:endParaRPr lang="en-US" sz="2300" dirty="0"/>
          </a:p>
        </p:txBody>
      </p:sp>
      <p:sp>
        <p:nvSpPr>
          <p:cNvPr id="7" name="Text 4"/>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28600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28600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THE VILLAIN</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Your control logic has a serial number</a:t>
            </a:r>
            <a:endParaRPr lang="en-US" sz="3800" dirty="0"/>
          </a:p>
        </p:txBody>
      </p:sp>
      <p:sp>
        <p:nvSpPr>
          <p:cNvPr id="5" name="Text 3"/>
          <p:cNvSpPr/>
          <p:nvPr/>
        </p:nvSpPr>
        <p:spPr>
          <a:xfrm>
            <a:off x="640080" y="2148840"/>
            <a:ext cx="10515600" cy="1280160"/>
          </a:xfrm>
          <a:prstGeom prst="rect">
            <a:avLst/>
          </a:prstGeom>
          <a:noFill/>
          <a:ln/>
        </p:spPr>
        <p:txBody>
          <a:bodyPr wrap="square" lIns="0" tIns="0" rIns="0" bIns="0" rtlCol="0" anchor="t"/>
          <a:lstStyle/>
          <a:p>
            <a:pPr indent="0" marL="0">
              <a:lnSpc>
                <a:spcPts val="3100"/>
              </a:lnSpc>
              <a:buNone/>
            </a:pPr>
            <a:r>
              <a:rPr lang="en-US" sz="2300" dirty="0">
                <a:solidFill>
                  <a:srgbClr val="FFFFFF"/>
                </a:solidFill>
                <a:latin typeface="Telegraf" pitchFamily="34" charset="0"/>
                <a:ea typeface="Telegraf" pitchFamily="34" charset="-122"/>
                <a:cs typeface="Telegraf" pitchFamily="34" charset="-120"/>
              </a:rPr>
              <a:t>The logic that runs your plant is compiled for one manufacturer's controller, spoken over that manufacturer's protocol, and edited in that manufacturer's software.</a:t>
            </a:r>
            <a:endParaRPr lang="en-US" sz="2300" dirty="0"/>
          </a:p>
        </p:txBody>
      </p:sp>
      <p:sp>
        <p:nvSpPr>
          <p:cNvPr id="6" name="Text 4"/>
          <p:cNvSpPr/>
          <p:nvPr/>
        </p:nvSpPr>
        <p:spPr>
          <a:xfrm>
            <a:off x="640080" y="3520440"/>
            <a:ext cx="10515600" cy="777240"/>
          </a:xfrm>
          <a:prstGeom prst="rect">
            <a:avLst/>
          </a:prstGeom>
          <a:noFill/>
          <a:ln/>
        </p:spPr>
        <p:txBody>
          <a:bodyPr wrap="square" lIns="0" tIns="0" rIns="0" bIns="0" rtlCol="0" anchor="t"/>
          <a:lstStyle/>
          <a:p>
            <a:pPr indent="0" marL="0">
              <a:buNone/>
            </a:pPr>
            <a:r>
              <a:rPr lang="en-US" sz="2300" b="1" dirty="0">
                <a:solidFill>
                  <a:srgbClr val="FFFFFF"/>
                </a:solidFill>
                <a:latin typeface="Telegraf" pitchFamily="34" charset="0"/>
                <a:ea typeface="Telegraf" pitchFamily="34" charset="-122"/>
                <a:cs typeface="Telegraf" pitchFamily="34" charset="-120"/>
              </a:rPr>
              <a:t>Move any one of those three and the logic doesn't travel. It gets rewritten.</a:t>
            </a:r>
            <a:endParaRPr lang="en-US" sz="2300" dirty="0"/>
          </a:p>
        </p:txBody>
      </p:sp>
      <p:sp>
        <p:nvSpPr>
          <p:cNvPr id="7" name="Shape 5"/>
          <p:cNvSpPr/>
          <p:nvPr/>
        </p:nvSpPr>
        <p:spPr>
          <a:xfrm>
            <a:off x="640080" y="4434840"/>
            <a:ext cx="5212080" cy="2057400"/>
          </a:xfrm>
          <a:prstGeom prst="roundRect">
            <a:avLst>
              <a:gd name="adj" fmla="val 5333"/>
            </a:avLst>
          </a:prstGeom>
          <a:solidFill>
            <a:srgbClr val="161616"/>
          </a:solidFill>
          <a:ln w="12700">
            <a:solidFill>
              <a:srgbClr val="161616"/>
            </a:solidFill>
            <a:prstDash val="solid"/>
          </a:ln>
        </p:spPr>
      </p:sp>
      <p:sp>
        <p:nvSpPr>
          <p:cNvPr id="8" name="Text 6"/>
          <p:cNvSpPr/>
          <p:nvPr/>
        </p:nvSpPr>
        <p:spPr>
          <a:xfrm>
            <a:off x="1005840" y="4663440"/>
            <a:ext cx="4526280" cy="1737360"/>
          </a:xfrm>
          <a:prstGeom prst="rect">
            <a:avLst/>
          </a:prstGeom>
          <a:noFill/>
          <a:ln/>
        </p:spPr>
        <p:txBody>
          <a:bodyPr wrap="square" lIns="0" tIns="0" rIns="0" bIns="0" rtlCol="0" anchor="t"/>
          <a:lstStyle/>
          <a:p>
            <a:pPr indent="0" marL="0">
              <a:lnSpc>
                <a:spcPts val="2600"/>
              </a:lnSpc>
              <a:buNone/>
            </a:pPr>
            <a:r>
              <a:rPr lang="en-US" sz="1800" b="1" dirty="0">
                <a:solidFill>
                  <a:srgbClr val="FFFFFF"/>
                </a:solidFill>
                <a:latin typeface="Telegraf" pitchFamily="34" charset="0"/>
                <a:ea typeface="Telegraf" pitchFamily="34" charset="-122"/>
                <a:cs typeface="Telegraf" pitchFamily="34" charset="-120"/>
              </a:rPr>
              <a:t>You own it on paper.
</a:t>
            </a:r>
            <a:endParaRPr lang="en-US" sz="1800" dirty="0"/>
          </a:p>
          <a:p>
            <a:pPr indent="0" marL="0">
              <a:lnSpc>
                <a:spcPts val="2600"/>
              </a:lnSpc>
              <a:buNone/>
            </a:pPr>
            <a:r>
              <a:rPr lang="en-US" sz="1800" dirty="0">
                <a:solidFill>
                  <a:srgbClr val="9AA3AA"/>
                </a:solidFill>
                <a:latin typeface="Telegraf" pitchFamily="34" charset="0"/>
                <a:ea typeface="Telegraf" pitchFamily="34" charset="-122"/>
                <a:cs typeface="Telegraf" pitchFamily="34" charset="-120"/>
              </a:rPr>
              <a:t>It's in your capital budget, your as-builts, your O&amp;M manual.</a:t>
            </a:r>
            <a:endParaRPr lang="en-US" sz="1800" dirty="0"/>
          </a:p>
        </p:txBody>
      </p:sp>
      <p:sp>
        <p:nvSpPr>
          <p:cNvPr id="9" name="Shape 7"/>
          <p:cNvSpPr/>
          <p:nvPr/>
        </p:nvSpPr>
        <p:spPr>
          <a:xfrm>
            <a:off x="6336792" y="4434840"/>
            <a:ext cx="5212080" cy="2057400"/>
          </a:xfrm>
          <a:prstGeom prst="roundRect">
            <a:avLst>
              <a:gd name="adj" fmla="val 5333"/>
            </a:avLst>
          </a:prstGeom>
          <a:solidFill>
            <a:srgbClr val="161616"/>
          </a:solidFill>
          <a:ln w="12700">
            <a:solidFill>
              <a:srgbClr val="161616"/>
            </a:solidFill>
            <a:prstDash val="solid"/>
          </a:ln>
        </p:spPr>
      </p:sp>
      <p:sp>
        <p:nvSpPr>
          <p:cNvPr id="10" name="Text 8"/>
          <p:cNvSpPr/>
          <p:nvPr/>
        </p:nvSpPr>
        <p:spPr>
          <a:xfrm>
            <a:off x="6702552" y="4663440"/>
            <a:ext cx="4526280" cy="1737360"/>
          </a:xfrm>
          <a:prstGeom prst="rect">
            <a:avLst/>
          </a:prstGeom>
          <a:noFill/>
          <a:ln/>
        </p:spPr>
        <p:txBody>
          <a:bodyPr wrap="square" lIns="0" tIns="0" rIns="0" bIns="0" rtlCol="0" anchor="t"/>
          <a:lstStyle/>
          <a:p>
            <a:pPr indent="0" marL="0">
              <a:lnSpc>
                <a:spcPts val="2600"/>
              </a:lnSpc>
              <a:buNone/>
            </a:pPr>
            <a:r>
              <a:rPr lang="en-US" sz="1800" b="1" dirty="0">
                <a:solidFill>
                  <a:srgbClr val="3DCD58"/>
                </a:solidFill>
                <a:latin typeface="Telegraf" pitchFamily="34" charset="0"/>
                <a:ea typeface="Telegraf" pitchFamily="34" charset="-122"/>
                <a:cs typeface="Telegraf" pitchFamily="34" charset="-120"/>
              </a:rPr>
              <a:t>You don't own it in practice.
</a:t>
            </a:r>
            <a:endParaRPr lang="en-US" sz="1800" dirty="0"/>
          </a:p>
          <a:p>
            <a:pPr indent="0" marL="0">
              <a:lnSpc>
                <a:spcPts val="2600"/>
              </a:lnSpc>
              <a:buNone/>
            </a:pPr>
            <a:r>
              <a:rPr lang="en-US" sz="1800" dirty="0">
                <a:solidFill>
                  <a:srgbClr val="FFFFFF"/>
                </a:solidFill>
                <a:latin typeface="Telegraf" pitchFamily="34" charset="0"/>
                <a:ea typeface="Telegraf" pitchFamily="34" charset="-122"/>
                <a:cs typeface="Telegraf" pitchFamily="34" charset="-120"/>
              </a:rPr>
              <a:t>You can't move it, price it against an alternative, or outlive the hardware it was written for.</a:t>
            </a:r>
            <a:endParaRPr lang="en-US" sz="1800" dirty="0"/>
          </a:p>
        </p:txBody>
      </p:sp>
      <p:sp>
        <p:nvSpPr>
          <p:cNvPr id="12" name="Text 9"/>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475488"/>
            <a:ext cx="283464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475488"/>
            <a:ext cx="283464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WHY IT HAPPENED</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Nobody set out to trap you</a:t>
            </a:r>
            <a:endParaRPr lang="en-US" sz="3800" dirty="0"/>
          </a:p>
        </p:txBody>
      </p:sp>
      <p:sp>
        <p:nvSpPr>
          <p:cNvPr id="5" name="Shape 3"/>
          <p:cNvSpPr/>
          <p:nvPr/>
        </p:nvSpPr>
        <p:spPr>
          <a:xfrm>
            <a:off x="640080" y="2194560"/>
            <a:ext cx="566928" cy="566928"/>
          </a:xfrm>
          <a:prstGeom prst="roundRect">
            <a:avLst>
              <a:gd name="adj" fmla="val 19355"/>
            </a:avLst>
          </a:prstGeom>
          <a:solidFill>
            <a:srgbClr val="00A19C"/>
          </a:solidFill>
          <a:ln w="12700">
            <a:solidFill>
              <a:srgbClr val="00A19C"/>
            </a:solidFill>
            <a:prstDash val="solid"/>
          </a:ln>
        </p:spPr>
      </p:sp>
      <p:sp>
        <p:nvSpPr>
          <p:cNvPr id="6" name="Text 4"/>
          <p:cNvSpPr/>
          <p:nvPr/>
        </p:nvSpPr>
        <p:spPr>
          <a:xfrm>
            <a:off x="640080" y="2194560"/>
            <a:ext cx="566928" cy="566928"/>
          </a:xfrm>
          <a:prstGeom prst="rect">
            <a:avLst/>
          </a:prstGeom>
          <a:noFill/>
          <a:ln/>
        </p:spPr>
        <p:txBody>
          <a:bodyPr wrap="square" lIns="0" tIns="0" rIns="0" bIns="0" rtlCol="0" anchor="ctr"/>
          <a:lstStyle/>
          <a:p>
            <a:pPr algn="ctr" indent="0" marL="0">
              <a:buNone/>
            </a:pPr>
            <a:r>
              <a:rPr lang="en-US" sz="2200" b="1" dirty="0">
                <a:solidFill>
                  <a:srgbClr val="000000"/>
                </a:solidFill>
                <a:latin typeface="Telegraf" pitchFamily="34" charset="0"/>
                <a:ea typeface="Telegraf" pitchFamily="34" charset="-122"/>
                <a:cs typeface="Telegraf" pitchFamily="34" charset="-120"/>
              </a:rPr>
              <a:t>1</a:t>
            </a:r>
            <a:endParaRPr lang="en-US" sz="2200" dirty="0"/>
          </a:p>
        </p:txBody>
      </p:sp>
      <p:sp>
        <p:nvSpPr>
          <p:cNvPr id="7" name="Text 5"/>
          <p:cNvSpPr/>
          <p:nvPr/>
        </p:nvSpPr>
        <p:spPr>
          <a:xfrm>
            <a:off x="1554480" y="2148840"/>
            <a:ext cx="9692640" cy="457200"/>
          </a:xfrm>
          <a:prstGeom prst="rect">
            <a:avLst/>
          </a:prstGeom>
          <a:noFill/>
          <a:ln/>
        </p:spPr>
        <p:txBody>
          <a:bodyPr wrap="square" lIns="0" tIns="0" rIns="0" bIns="0" rtlCol="0" anchor="ctr"/>
          <a:lstStyle/>
          <a:p>
            <a:pPr indent="0" marL="0">
              <a:buNone/>
            </a:pPr>
            <a:r>
              <a:rPr lang="en-US" sz="2400" b="1" dirty="0">
                <a:solidFill>
                  <a:srgbClr val="00A19C"/>
                </a:solidFill>
                <a:latin typeface="Telegraf" pitchFamily="34" charset="0"/>
                <a:ea typeface="Telegraf" pitchFamily="34" charset="-122"/>
                <a:cs typeface="Telegraf" pitchFamily="34" charset="-120"/>
              </a:rPr>
              <a:t>There were no standards to use.</a:t>
            </a:r>
            <a:endParaRPr lang="en-US" sz="2400" dirty="0"/>
          </a:p>
        </p:txBody>
      </p:sp>
      <p:sp>
        <p:nvSpPr>
          <p:cNvPr id="8" name="Text 6"/>
          <p:cNvSpPr/>
          <p:nvPr/>
        </p:nvSpPr>
        <p:spPr>
          <a:xfrm>
            <a:off x="1554480" y="2624328"/>
            <a:ext cx="9692640" cy="868680"/>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In 1975 there was no Ethernet on a plant floor, no OPC, no common runtime. If you wanted controllers to talk, you invented the protocol yourself.</a:t>
            </a:r>
            <a:endParaRPr lang="en-US" sz="1800" dirty="0"/>
          </a:p>
        </p:txBody>
      </p:sp>
      <p:sp>
        <p:nvSpPr>
          <p:cNvPr id="9" name="Shape 7"/>
          <p:cNvSpPr/>
          <p:nvPr/>
        </p:nvSpPr>
        <p:spPr>
          <a:xfrm>
            <a:off x="640080" y="3520440"/>
            <a:ext cx="566928" cy="566928"/>
          </a:xfrm>
          <a:prstGeom prst="roundRect">
            <a:avLst>
              <a:gd name="adj" fmla="val 19355"/>
            </a:avLst>
          </a:prstGeom>
          <a:solidFill>
            <a:srgbClr val="E2231A"/>
          </a:solidFill>
          <a:ln w="12700">
            <a:solidFill>
              <a:srgbClr val="E2231A"/>
            </a:solidFill>
            <a:prstDash val="solid"/>
          </a:ln>
        </p:spPr>
      </p:sp>
      <p:sp>
        <p:nvSpPr>
          <p:cNvPr id="10" name="Text 8"/>
          <p:cNvSpPr/>
          <p:nvPr/>
        </p:nvSpPr>
        <p:spPr>
          <a:xfrm>
            <a:off x="640080" y="352044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Telegraf" pitchFamily="34" charset="0"/>
                <a:ea typeface="Telegraf" pitchFamily="34" charset="-122"/>
                <a:cs typeface="Telegraf" pitchFamily="34" charset="-120"/>
              </a:rPr>
              <a:t>2</a:t>
            </a:r>
            <a:endParaRPr lang="en-US" sz="2200" dirty="0"/>
          </a:p>
        </p:txBody>
      </p:sp>
      <p:sp>
        <p:nvSpPr>
          <p:cNvPr id="11" name="Text 9"/>
          <p:cNvSpPr/>
          <p:nvPr/>
        </p:nvSpPr>
        <p:spPr>
          <a:xfrm>
            <a:off x="1554480" y="3474720"/>
            <a:ext cx="9692640" cy="457200"/>
          </a:xfrm>
          <a:prstGeom prst="rect">
            <a:avLst/>
          </a:prstGeom>
          <a:noFill/>
          <a:ln/>
        </p:spPr>
        <p:txBody>
          <a:bodyPr wrap="square" lIns="0" tIns="0" rIns="0" bIns="0" rtlCol="0" anchor="ctr"/>
          <a:lstStyle/>
          <a:p>
            <a:pPr indent="0" marL="0">
              <a:buNone/>
            </a:pPr>
            <a:r>
              <a:rPr lang="en-US" sz="2400" b="1" dirty="0">
                <a:solidFill>
                  <a:srgbClr val="E2231A"/>
                </a:solidFill>
                <a:latin typeface="Telegraf" pitchFamily="34" charset="0"/>
                <a:ea typeface="Telegraf" pitchFamily="34" charset="-122"/>
                <a:cs typeface="Telegraf" pitchFamily="34" charset="-120"/>
              </a:rPr>
              <a:t>Proprietary was the engineering answer.</a:t>
            </a:r>
            <a:endParaRPr lang="en-US" sz="2400" dirty="0"/>
          </a:p>
        </p:txBody>
      </p:sp>
      <p:sp>
        <p:nvSpPr>
          <p:cNvPr id="12" name="Text 10"/>
          <p:cNvSpPr/>
          <p:nvPr/>
        </p:nvSpPr>
        <p:spPr>
          <a:xfrm>
            <a:off x="1554480" y="3950208"/>
            <a:ext cx="9692640" cy="868680"/>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Owning every layer was how you guaranteed determinism, timing, and support. It made the system work — and it made it supportable.</a:t>
            </a:r>
            <a:endParaRPr lang="en-US" sz="1800" dirty="0"/>
          </a:p>
        </p:txBody>
      </p:sp>
      <p:sp>
        <p:nvSpPr>
          <p:cNvPr id="13" name="Shape 11"/>
          <p:cNvSpPr/>
          <p:nvPr/>
        </p:nvSpPr>
        <p:spPr>
          <a:xfrm>
            <a:off x="640080" y="4846320"/>
            <a:ext cx="566928" cy="566928"/>
          </a:xfrm>
          <a:prstGeom prst="roundRect">
            <a:avLst>
              <a:gd name="adj" fmla="val 19355"/>
            </a:avLst>
          </a:prstGeom>
          <a:solidFill>
            <a:srgbClr val="3DCD58"/>
          </a:solidFill>
          <a:ln w="12700">
            <a:solidFill>
              <a:srgbClr val="3DCD58"/>
            </a:solidFill>
            <a:prstDash val="solid"/>
          </a:ln>
        </p:spPr>
      </p:sp>
      <p:sp>
        <p:nvSpPr>
          <p:cNvPr id="14" name="Text 12"/>
          <p:cNvSpPr/>
          <p:nvPr/>
        </p:nvSpPr>
        <p:spPr>
          <a:xfrm>
            <a:off x="640080" y="4846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Telegraf" pitchFamily="34" charset="0"/>
                <a:ea typeface="Telegraf" pitchFamily="34" charset="-122"/>
                <a:cs typeface="Telegraf" pitchFamily="34" charset="-120"/>
              </a:rPr>
              <a:t>3</a:t>
            </a:r>
            <a:endParaRPr lang="en-US" sz="2200" dirty="0"/>
          </a:p>
        </p:txBody>
      </p:sp>
      <p:sp>
        <p:nvSpPr>
          <p:cNvPr id="15" name="Text 13"/>
          <p:cNvSpPr/>
          <p:nvPr/>
        </p:nvSpPr>
        <p:spPr>
          <a:xfrm>
            <a:off x="1554480" y="4800600"/>
            <a:ext cx="9692640" cy="457200"/>
          </a:xfrm>
          <a:prstGeom prst="rect">
            <a:avLst/>
          </a:prstGeom>
          <a:noFill/>
          <a:ln/>
        </p:spPr>
        <p:txBody>
          <a:bodyPr wrap="square" lIns="0" tIns="0" rIns="0" bIns="0" rtlCol="0" anchor="ctr"/>
          <a:lstStyle/>
          <a:p>
            <a:pPr indent="0" marL="0">
              <a:buNone/>
            </a:pPr>
            <a:r>
              <a:rPr lang="en-US" sz="2400" b="1" dirty="0">
                <a:solidFill>
                  <a:srgbClr val="3DCD58"/>
                </a:solidFill>
                <a:latin typeface="Telegraf" pitchFamily="34" charset="0"/>
                <a:ea typeface="Telegraf" pitchFamily="34" charset="-122"/>
                <a:cs typeface="Telegraf" pitchFamily="34" charset="-120"/>
              </a:rPr>
              <a:t>And then it became the business model.</a:t>
            </a:r>
            <a:endParaRPr lang="en-US" sz="2400" dirty="0"/>
          </a:p>
        </p:txBody>
      </p:sp>
      <p:sp>
        <p:nvSpPr>
          <p:cNvPr id="16" name="Text 14"/>
          <p:cNvSpPr/>
          <p:nvPr/>
        </p:nvSpPr>
        <p:spPr>
          <a:xfrm>
            <a:off x="1554480" y="5276088"/>
            <a:ext cx="9692640" cy="868680"/>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Once the stack only worked end-to-end, the next controller, the next license, and the next migration were all decided by the vendor's calendar, not yours.</a:t>
            </a:r>
            <a:endParaRPr lang="en-US" sz="1800" dirty="0"/>
          </a:p>
        </p:txBody>
      </p:sp>
      <p:sp>
        <p:nvSpPr>
          <p:cNvPr id="17" name="Text 15"/>
          <p:cNvSpPr/>
          <p:nvPr/>
        </p:nvSpPr>
        <p:spPr>
          <a:xfrm>
            <a:off x="640080" y="6217920"/>
            <a:ext cx="10332720" cy="548640"/>
          </a:xfrm>
          <a:prstGeom prst="rect">
            <a:avLst/>
          </a:prstGeom>
          <a:noFill/>
          <a:ln/>
        </p:spPr>
        <p:txBody>
          <a:bodyPr wrap="square" lIns="0" tIns="0" rIns="0" bIns="0" rtlCol="0" anchor="ctr"/>
          <a:lstStyle/>
          <a:p>
            <a:pPr indent="0" marL="0">
              <a:buNone/>
            </a:pPr>
            <a:r>
              <a:rPr lang="en-US" sz="1800" i="1" dirty="0">
                <a:solidFill>
                  <a:srgbClr val="FFFFFF"/>
                </a:solidFill>
                <a:latin typeface="Telegraf" pitchFamily="34" charset="0"/>
                <a:ea typeface="Telegraf" pitchFamily="34" charset="-122"/>
                <a:cs typeface="Telegraf" pitchFamily="34" charset="-120"/>
              </a:rPr>
              <a:t>Schneider Electric. Rockwell. Siemens. Emerson. Honeywell. All of us. Including us.</a:t>
            </a:r>
            <a:endParaRPr lang="en-US" sz="1800" dirty="0"/>
          </a:p>
        </p:txBody>
      </p:sp>
      <p:sp>
        <p:nvSpPr>
          <p:cNvPr id="19" name="Text 16"/>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73736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73736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THE BILL</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Four things are coming due at once</a:t>
            </a:r>
            <a:endParaRPr lang="en-US" sz="3800" dirty="0"/>
          </a:p>
        </p:txBody>
      </p:sp>
      <p:sp>
        <p:nvSpPr>
          <p:cNvPr id="5" name="Shape 3"/>
          <p:cNvSpPr/>
          <p:nvPr/>
        </p:nvSpPr>
        <p:spPr>
          <a:xfrm>
            <a:off x="640080" y="2194560"/>
            <a:ext cx="5303520" cy="1783080"/>
          </a:xfrm>
          <a:prstGeom prst="roundRect">
            <a:avLst>
              <a:gd name="adj" fmla="val 6154"/>
            </a:avLst>
          </a:prstGeom>
          <a:solidFill>
            <a:srgbClr val="161616"/>
          </a:solidFill>
          <a:ln w="12700">
            <a:solidFill>
              <a:srgbClr val="161616"/>
            </a:solidFill>
            <a:prstDash val="solid"/>
          </a:ln>
        </p:spPr>
      </p:sp>
      <p:sp>
        <p:nvSpPr>
          <p:cNvPr id="6" name="Shape 4"/>
          <p:cNvSpPr/>
          <p:nvPr/>
        </p:nvSpPr>
        <p:spPr>
          <a:xfrm>
            <a:off x="960120" y="2542032"/>
            <a:ext cx="548640" cy="548640"/>
          </a:xfrm>
          <a:prstGeom prst="roundRect">
            <a:avLst>
              <a:gd name="adj" fmla="val 50000"/>
            </a:avLst>
          </a:prstGeom>
          <a:solidFill>
            <a:srgbClr val="3DCD58"/>
          </a:solidFill>
          <a:ln w="12700">
            <a:solidFill>
              <a:srgbClr val="3DCD58"/>
            </a:solidFill>
            <a:prstDash val="solid"/>
          </a:ln>
        </p:spPr>
      </p:sp>
      <p:sp>
        <p:nvSpPr>
          <p:cNvPr id="7" name="Text 5"/>
          <p:cNvSpPr/>
          <p:nvPr/>
        </p:nvSpPr>
        <p:spPr>
          <a:xfrm>
            <a:off x="960120" y="2542032"/>
            <a:ext cx="548640" cy="548640"/>
          </a:xfrm>
          <a:prstGeom prst="rect">
            <a:avLst/>
          </a:prstGeom>
          <a:noFill/>
          <a:ln/>
        </p:spPr>
        <p:txBody>
          <a:bodyPr wrap="square" lIns="0" tIns="0" rIns="0" bIns="0" rtlCol="0" anchor="ctr"/>
          <a:lstStyle/>
          <a:p>
            <a:pPr algn="ctr" indent="0" marL="0">
              <a:buNone/>
            </a:pPr>
            <a:r>
              <a:rPr lang="en-US" sz="2100" b="1" dirty="0">
                <a:solidFill>
                  <a:srgbClr val="000000"/>
                </a:solidFill>
                <a:latin typeface="Telegraf" pitchFamily="34" charset="0"/>
                <a:ea typeface="Telegraf" pitchFamily="34" charset="-122"/>
                <a:cs typeface="Telegraf" pitchFamily="34" charset="-120"/>
              </a:rPr>
              <a:t>1</a:t>
            </a:r>
            <a:endParaRPr lang="en-US" sz="2100" dirty="0"/>
          </a:p>
        </p:txBody>
      </p:sp>
      <p:sp>
        <p:nvSpPr>
          <p:cNvPr id="8" name="Text 6"/>
          <p:cNvSpPr/>
          <p:nvPr/>
        </p:nvSpPr>
        <p:spPr>
          <a:xfrm>
            <a:off x="1691640" y="2487168"/>
            <a:ext cx="3931920" cy="457200"/>
          </a:xfrm>
          <a:prstGeom prst="rect">
            <a:avLst/>
          </a:prstGeom>
          <a:noFill/>
          <a:ln/>
        </p:spPr>
        <p:txBody>
          <a:bodyPr wrap="square" lIns="0" tIns="0" rIns="0" bIns="0" rtlCol="0" anchor="ctr"/>
          <a:lstStyle/>
          <a:p>
            <a:pPr indent="0" marL="0">
              <a:buNone/>
            </a:pPr>
            <a:r>
              <a:rPr lang="en-US" sz="2400" b="1" dirty="0">
                <a:solidFill>
                  <a:srgbClr val="00A19C"/>
                </a:solidFill>
                <a:latin typeface="Telegraf" pitchFamily="34" charset="0"/>
                <a:ea typeface="Telegraf" pitchFamily="34" charset="-122"/>
                <a:cs typeface="Telegraf" pitchFamily="34" charset="-120"/>
              </a:rPr>
              <a:t>Lifecycle</a:t>
            </a:r>
            <a:endParaRPr lang="en-US" sz="2400" dirty="0"/>
          </a:p>
        </p:txBody>
      </p:sp>
      <p:sp>
        <p:nvSpPr>
          <p:cNvPr id="9" name="Text 7"/>
          <p:cNvSpPr/>
          <p:nvPr/>
        </p:nvSpPr>
        <p:spPr>
          <a:xfrm>
            <a:off x="1691640" y="2999232"/>
            <a:ext cx="3977640" cy="86868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A chip goes end-of-support and a maintenance decision becomes a capital project.</a:t>
            </a:r>
            <a:endParaRPr lang="en-US" sz="1700" dirty="0"/>
          </a:p>
        </p:txBody>
      </p:sp>
      <p:sp>
        <p:nvSpPr>
          <p:cNvPr id="10" name="Shape 8"/>
          <p:cNvSpPr/>
          <p:nvPr/>
        </p:nvSpPr>
        <p:spPr>
          <a:xfrm>
            <a:off x="6245352" y="2194560"/>
            <a:ext cx="5303520" cy="1783080"/>
          </a:xfrm>
          <a:prstGeom prst="roundRect">
            <a:avLst>
              <a:gd name="adj" fmla="val 6154"/>
            </a:avLst>
          </a:prstGeom>
          <a:solidFill>
            <a:srgbClr val="161616"/>
          </a:solidFill>
          <a:ln w="12700">
            <a:solidFill>
              <a:srgbClr val="161616"/>
            </a:solidFill>
            <a:prstDash val="solid"/>
          </a:ln>
        </p:spPr>
      </p:sp>
      <p:sp>
        <p:nvSpPr>
          <p:cNvPr id="11" name="Shape 9"/>
          <p:cNvSpPr/>
          <p:nvPr/>
        </p:nvSpPr>
        <p:spPr>
          <a:xfrm>
            <a:off x="6565392" y="2542032"/>
            <a:ext cx="548640" cy="548640"/>
          </a:xfrm>
          <a:prstGeom prst="roundRect">
            <a:avLst>
              <a:gd name="adj" fmla="val 50000"/>
            </a:avLst>
          </a:prstGeom>
          <a:solidFill>
            <a:srgbClr val="3DCD58"/>
          </a:solidFill>
          <a:ln w="12700">
            <a:solidFill>
              <a:srgbClr val="3DCD58"/>
            </a:solidFill>
            <a:prstDash val="solid"/>
          </a:ln>
        </p:spPr>
      </p:sp>
      <p:sp>
        <p:nvSpPr>
          <p:cNvPr id="12" name="Text 10"/>
          <p:cNvSpPr/>
          <p:nvPr/>
        </p:nvSpPr>
        <p:spPr>
          <a:xfrm>
            <a:off x="6565392" y="2542032"/>
            <a:ext cx="548640" cy="548640"/>
          </a:xfrm>
          <a:prstGeom prst="rect">
            <a:avLst/>
          </a:prstGeom>
          <a:noFill/>
          <a:ln/>
        </p:spPr>
        <p:txBody>
          <a:bodyPr wrap="square" lIns="0" tIns="0" rIns="0" bIns="0" rtlCol="0" anchor="ctr"/>
          <a:lstStyle/>
          <a:p>
            <a:pPr algn="ctr" indent="0" marL="0">
              <a:buNone/>
            </a:pPr>
            <a:r>
              <a:rPr lang="en-US" sz="2100" b="1" dirty="0">
                <a:solidFill>
                  <a:srgbClr val="000000"/>
                </a:solidFill>
                <a:latin typeface="Telegraf" pitchFamily="34" charset="0"/>
                <a:ea typeface="Telegraf" pitchFamily="34" charset="-122"/>
                <a:cs typeface="Telegraf" pitchFamily="34" charset="-120"/>
              </a:rPr>
              <a:t>2</a:t>
            </a:r>
            <a:endParaRPr lang="en-US" sz="2100" dirty="0"/>
          </a:p>
        </p:txBody>
      </p:sp>
      <p:sp>
        <p:nvSpPr>
          <p:cNvPr id="13" name="Text 11"/>
          <p:cNvSpPr/>
          <p:nvPr/>
        </p:nvSpPr>
        <p:spPr>
          <a:xfrm>
            <a:off x="7296912" y="2487168"/>
            <a:ext cx="3931920" cy="457200"/>
          </a:xfrm>
          <a:prstGeom prst="rect">
            <a:avLst/>
          </a:prstGeom>
          <a:noFill/>
          <a:ln/>
        </p:spPr>
        <p:txBody>
          <a:bodyPr wrap="square" lIns="0" tIns="0" rIns="0" bIns="0" rtlCol="0" anchor="ctr"/>
          <a:lstStyle/>
          <a:p>
            <a:pPr indent="0" marL="0">
              <a:buNone/>
            </a:pPr>
            <a:r>
              <a:rPr lang="en-US" sz="2400" b="1" dirty="0">
                <a:solidFill>
                  <a:srgbClr val="00A19C"/>
                </a:solidFill>
                <a:latin typeface="Telegraf" pitchFamily="34" charset="0"/>
                <a:ea typeface="Telegraf" pitchFamily="34" charset="-122"/>
                <a:cs typeface="Telegraf" pitchFamily="34" charset="-120"/>
              </a:rPr>
              <a:t>Cybersecurity</a:t>
            </a:r>
            <a:endParaRPr lang="en-US" sz="2400" dirty="0"/>
          </a:p>
        </p:txBody>
      </p:sp>
      <p:sp>
        <p:nvSpPr>
          <p:cNvPr id="14" name="Text 12"/>
          <p:cNvSpPr/>
          <p:nvPr/>
        </p:nvSpPr>
        <p:spPr>
          <a:xfrm>
            <a:off x="7296912" y="2999232"/>
            <a:ext cx="3977640" cy="86868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Systems designed before the threat model existed, in a sector now being targeted.</a:t>
            </a:r>
            <a:endParaRPr lang="en-US" sz="1700" dirty="0"/>
          </a:p>
        </p:txBody>
      </p:sp>
      <p:sp>
        <p:nvSpPr>
          <p:cNvPr id="15" name="Shape 13"/>
          <p:cNvSpPr/>
          <p:nvPr/>
        </p:nvSpPr>
        <p:spPr>
          <a:xfrm>
            <a:off x="640080" y="4206240"/>
            <a:ext cx="5303520" cy="1783080"/>
          </a:xfrm>
          <a:prstGeom prst="roundRect">
            <a:avLst>
              <a:gd name="adj" fmla="val 6154"/>
            </a:avLst>
          </a:prstGeom>
          <a:solidFill>
            <a:srgbClr val="161616"/>
          </a:solidFill>
          <a:ln w="12700">
            <a:solidFill>
              <a:srgbClr val="161616"/>
            </a:solidFill>
            <a:prstDash val="solid"/>
          </a:ln>
        </p:spPr>
      </p:sp>
      <p:sp>
        <p:nvSpPr>
          <p:cNvPr id="16" name="Shape 14"/>
          <p:cNvSpPr/>
          <p:nvPr/>
        </p:nvSpPr>
        <p:spPr>
          <a:xfrm>
            <a:off x="960120" y="4553712"/>
            <a:ext cx="548640" cy="548640"/>
          </a:xfrm>
          <a:prstGeom prst="roundRect">
            <a:avLst>
              <a:gd name="adj" fmla="val 50000"/>
            </a:avLst>
          </a:prstGeom>
          <a:solidFill>
            <a:srgbClr val="3DCD58"/>
          </a:solidFill>
          <a:ln w="12700">
            <a:solidFill>
              <a:srgbClr val="3DCD58"/>
            </a:solidFill>
            <a:prstDash val="solid"/>
          </a:ln>
        </p:spPr>
      </p:sp>
      <p:sp>
        <p:nvSpPr>
          <p:cNvPr id="17" name="Text 15"/>
          <p:cNvSpPr/>
          <p:nvPr/>
        </p:nvSpPr>
        <p:spPr>
          <a:xfrm>
            <a:off x="960120" y="4553712"/>
            <a:ext cx="548640" cy="548640"/>
          </a:xfrm>
          <a:prstGeom prst="rect">
            <a:avLst/>
          </a:prstGeom>
          <a:noFill/>
          <a:ln/>
        </p:spPr>
        <p:txBody>
          <a:bodyPr wrap="square" lIns="0" tIns="0" rIns="0" bIns="0" rtlCol="0" anchor="ctr"/>
          <a:lstStyle/>
          <a:p>
            <a:pPr algn="ctr" indent="0" marL="0">
              <a:buNone/>
            </a:pPr>
            <a:r>
              <a:rPr lang="en-US" sz="2100" b="1" dirty="0">
                <a:solidFill>
                  <a:srgbClr val="000000"/>
                </a:solidFill>
                <a:latin typeface="Telegraf" pitchFamily="34" charset="0"/>
                <a:ea typeface="Telegraf" pitchFamily="34" charset="-122"/>
                <a:cs typeface="Telegraf" pitchFamily="34" charset="-120"/>
              </a:rPr>
              <a:t>3</a:t>
            </a:r>
            <a:endParaRPr lang="en-US" sz="2100" dirty="0"/>
          </a:p>
        </p:txBody>
      </p:sp>
      <p:sp>
        <p:nvSpPr>
          <p:cNvPr id="18" name="Text 16"/>
          <p:cNvSpPr/>
          <p:nvPr/>
        </p:nvSpPr>
        <p:spPr>
          <a:xfrm>
            <a:off x="1691640" y="4498848"/>
            <a:ext cx="3931920" cy="457200"/>
          </a:xfrm>
          <a:prstGeom prst="rect">
            <a:avLst/>
          </a:prstGeom>
          <a:noFill/>
          <a:ln/>
        </p:spPr>
        <p:txBody>
          <a:bodyPr wrap="square" lIns="0" tIns="0" rIns="0" bIns="0" rtlCol="0" anchor="ctr"/>
          <a:lstStyle/>
          <a:p>
            <a:pPr indent="0" marL="0">
              <a:buNone/>
            </a:pPr>
            <a:r>
              <a:rPr lang="en-US" sz="2400" b="1" dirty="0">
                <a:solidFill>
                  <a:srgbClr val="00A19C"/>
                </a:solidFill>
                <a:latin typeface="Telegraf" pitchFamily="34" charset="0"/>
                <a:ea typeface="Telegraf" pitchFamily="34" charset="-122"/>
                <a:cs typeface="Telegraf" pitchFamily="34" charset="-120"/>
              </a:rPr>
              <a:t>Data &amp; AI</a:t>
            </a:r>
            <a:endParaRPr lang="en-US" sz="2400" dirty="0"/>
          </a:p>
        </p:txBody>
      </p:sp>
      <p:sp>
        <p:nvSpPr>
          <p:cNvPr id="19" name="Text 17"/>
          <p:cNvSpPr/>
          <p:nvPr/>
        </p:nvSpPr>
        <p:spPr>
          <a:xfrm>
            <a:off x="1691640" y="5010912"/>
            <a:ext cx="3977640" cy="86868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The data exists. It's stranded behind a protocol built to talk to one screen.</a:t>
            </a:r>
            <a:endParaRPr lang="en-US" sz="1700" dirty="0"/>
          </a:p>
        </p:txBody>
      </p:sp>
      <p:sp>
        <p:nvSpPr>
          <p:cNvPr id="20" name="Shape 18"/>
          <p:cNvSpPr/>
          <p:nvPr/>
        </p:nvSpPr>
        <p:spPr>
          <a:xfrm>
            <a:off x="6245352" y="4206240"/>
            <a:ext cx="5303520" cy="1783080"/>
          </a:xfrm>
          <a:prstGeom prst="roundRect">
            <a:avLst>
              <a:gd name="adj" fmla="val 6154"/>
            </a:avLst>
          </a:prstGeom>
          <a:solidFill>
            <a:srgbClr val="161616"/>
          </a:solidFill>
          <a:ln w="12700">
            <a:solidFill>
              <a:srgbClr val="161616"/>
            </a:solidFill>
            <a:prstDash val="solid"/>
          </a:ln>
        </p:spPr>
      </p:sp>
      <p:sp>
        <p:nvSpPr>
          <p:cNvPr id="21" name="Shape 19"/>
          <p:cNvSpPr/>
          <p:nvPr/>
        </p:nvSpPr>
        <p:spPr>
          <a:xfrm>
            <a:off x="6565392" y="4553712"/>
            <a:ext cx="548640" cy="548640"/>
          </a:xfrm>
          <a:prstGeom prst="roundRect">
            <a:avLst>
              <a:gd name="adj" fmla="val 50000"/>
            </a:avLst>
          </a:prstGeom>
          <a:solidFill>
            <a:srgbClr val="3DCD58"/>
          </a:solidFill>
          <a:ln w="12700">
            <a:solidFill>
              <a:srgbClr val="3DCD58"/>
            </a:solidFill>
            <a:prstDash val="solid"/>
          </a:ln>
        </p:spPr>
      </p:sp>
      <p:sp>
        <p:nvSpPr>
          <p:cNvPr id="22" name="Text 20"/>
          <p:cNvSpPr/>
          <p:nvPr/>
        </p:nvSpPr>
        <p:spPr>
          <a:xfrm>
            <a:off x="6565392" y="4553712"/>
            <a:ext cx="548640" cy="548640"/>
          </a:xfrm>
          <a:prstGeom prst="rect">
            <a:avLst/>
          </a:prstGeom>
          <a:noFill/>
          <a:ln/>
        </p:spPr>
        <p:txBody>
          <a:bodyPr wrap="square" lIns="0" tIns="0" rIns="0" bIns="0" rtlCol="0" anchor="ctr"/>
          <a:lstStyle/>
          <a:p>
            <a:pPr algn="ctr" indent="0" marL="0">
              <a:buNone/>
            </a:pPr>
            <a:r>
              <a:rPr lang="en-US" sz="2100" b="1" dirty="0">
                <a:solidFill>
                  <a:srgbClr val="000000"/>
                </a:solidFill>
                <a:latin typeface="Telegraf" pitchFamily="34" charset="0"/>
                <a:ea typeface="Telegraf" pitchFamily="34" charset="-122"/>
                <a:cs typeface="Telegraf" pitchFamily="34" charset="-120"/>
              </a:rPr>
              <a:t>4</a:t>
            </a:r>
            <a:endParaRPr lang="en-US" sz="2100" dirty="0"/>
          </a:p>
        </p:txBody>
      </p:sp>
      <p:sp>
        <p:nvSpPr>
          <p:cNvPr id="23" name="Text 21"/>
          <p:cNvSpPr/>
          <p:nvPr/>
        </p:nvSpPr>
        <p:spPr>
          <a:xfrm>
            <a:off x="7296912" y="4498848"/>
            <a:ext cx="3931920" cy="457200"/>
          </a:xfrm>
          <a:prstGeom prst="rect">
            <a:avLst/>
          </a:prstGeom>
          <a:noFill/>
          <a:ln/>
        </p:spPr>
        <p:txBody>
          <a:bodyPr wrap="square" lIns="0" tIns="0" rIns="0" bIns="0" rtlCol="0" anchor="ctr"/>
          <a:lstStyle/>
          <a:p>
            <a:pPr indent="0" marL="0">
              <a:buNone/>
            </a:pPr>
            <a:r>
              <a:rPr lang="en-US" sz="2400" b="1" dirty="0">
                <a:solidFill>
                  <a:srgbClr val="00A19C"/>
                </a:solidFill>
                <a:latin typeface="Telegraf" pitchFamily="34" charset="0"/>
                <a:ea typeface="Telegraf" pitchFamily="34" charset="-122"/>
                <a:cs typeface="Telegraf" pitchFamily="34" charset="-120"/>
              </a:rPr>
              <a:t>Workforce</a:t>
            </a:r>
            <a:endParaRPr lang="en-US" sz="2400" dirty="0"/>
          </a:p>
        </p:txBody>
      </p:sp>
      <p:sp>
        <p:nvSpPr>
          <p:cNvPr id="24" name="Text 22"/>
          <p:cNvSpPr/>
          <p:nvPr/>
        </p:nvSpPr>
        <p:spPr>
          <a:xfrm>
            <a:off x="7296912" y="5010912"/>
            <a:ext cx="3977640" cy="86868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The people who can read your ladder logic are retiring. Their replacements are IT-native.</a:t>
            </a:r>
            <a:endParaRPr lang="en-US" sz="1700" dirty="0"/>
          </a:p>
        </p:txBody>
      </p:sp>
      <p:sp>
        <p:nvSpPr>
          <p:cNvPr id="25" name="Text 23"/>
          <p:cNvSpPr/>
          <p:nvPr/>
        </p:nvSpPr>
        <p:spPr>
          <a:xfrm>
            <a:off x="640080" y="6172200"/>
            <a:ext cx="10332720" cy="457200"/>
          </a:xfrm>
          <a:prstGeom prst="rect">
            <a:avLst/>
          </a:prstGeom>
          <a:noFill/>
          <a:ln/>
        </p:spPr>
        <p:txBody>
          <a:bodyPr wrap="square" lIns="0" tIns="0" rIns="0" bIns="0" rtlCol="0" anchor="ctr"/>
          <a:lstStyle/>
          <a:p>
            <a:pPr indent="0" marL="0">
              <a:buNone/>
            </a:pPr>
            <a:r>
              <a:rPr lang="en-US" sz="2000" i="1" dirty="0">
                <a:solidFill>
                  <a:srgbClr val="3DCD58"/>
                </a:solidFill>
                <a:latin typeface="Telegraf" pitchFamily="34" charset="0"/>
                <a:ea typeface="Telegraf" pitchFamily="34" charset="-122"/>
                <a:cs typeface="Telegraf" pitchFamily="34" charset="-120"/>
              </a:rPr>
              <a:t>Any one of these is survivable. They are arriving together.</a:t>
            </a:r>
            <a:endParaRPr lang="en-US" sz="2000" dirty="0"/>
          </a:p>
        </p:txBody>
      </p:sp>
      <p:sp>
        <p:nvSpPr>
          <p:cNvPr id="27" name="Text 24"/>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92024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92024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BILL ONE</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Lifecycle: someone else owns your calendar</a:t>
            </a:r>
            <a:endParaRPr lang="en-US" sz="3800" dirty="0"/>
          </a:p>
        </p:txBody>
      </p:sp>
      <p:sp>
        <p:nvSpPr>
          <p:cNvPr id="5" name="Text 3"/>
          <p:cNvSpPr/>
          <p:nvPr/>
        </p:nvSpPr>
        <p:spPr>
          <a:xfrm>
            <a:off x="640080" y="2148840"/>
            <a:ext cx="6400800" cy="1554480"/>
          </a:xfrm>
          <a:prstGeom prst="rect">
            <a:avLst/>
          </a:prstGeom>
          <a:noFill/>
          <a:ln/>
        </p:spPr>
        <p:txBody>
          <a:bodyPr wrap="square" lIns="0" tIns="0" rIns="0" bIns="0" rtlCol="0" anchor="t"/>
          <a:lstStyle/>
          <a:p>
            <a:pPr indent="0" marL="0">
              <a:lnSpc>
                <a:spcPts val="2900"/>
              </a:lnSpc>
              <a:buNone/>
            </a:pPr>
            <a:r>
              <a:rPr lang="en-US" sz="2100" dirty="0">
                <a:solidFill>
                  <a:srgbClr val="FFFFFF"/>
                </a:solidFill>
                <a:latin typeface="Telegraf" pitchFamily="34" charset="0"/>
                <a:ea typeface="Telegraf" pitchFamily="34" charset="-122"/>
                <a:cs typeface="Telegraf" pitchFamily="34" charset="-120"/>
              </a:rPr>
              <a:t>A processor goes end-of-support. Nothing about your process changed. Nothing about your logic changed. But the logic can only run on that processor —</a:t>
            </a:r>
            <a:endParaRPr lang="en-US" sz="2100" dirty="0"/>
          </a:p>
        </p:txBody>
      </p:sp>
      <p:sp>
        <p:nvSpPr>
          <p:cNvPr id="6" name="Text 4"/>
          <p:cNvSpPr/>
          <p:nvPr/>
        </p:nvSpPr>
        <p:spPr>
          <a:xfrm>
            <a:off x="640080" y="3794760"/>
            <a:ext cx="6400800" cy="914400"/>
          </a:xfrm>
          <a:prstGeom prst="rect">
            <a:avLst/>
          </a:prstGeom>
          <a:noFill/>
          <a:ln/>
        </p:spPr>
        <p:txBody>
          <a:bodyPr wrap="square" lIns="0" tIns="0" rIns="0" bIns="0" rtlCol="0" anchor="t"/>
          <a:lstStyle/>
          <a:p>
            <a:pPr indent="0" marL="0">
              <a:lnSpc>
                <a:spcPts val="2900"/>
              </a:lnSpc>
              <a:buNone/>
            </a:pPr>
            <a:r>
              <a:rPr lang="en-US" sz="2100" b="1" dirty="0">
                <a:solidFill>
                  <a:srgbClr val="FFFFFF"/>
                </a:solidFill>
                <a:latin typeface="Telegraf" pitchFamily="34" charset="0"/>
                <a:ea typeface="Telegraf" pitchFamily="34" charset="-122"/>
                <a:cs typeface="Telegraf" pitchFamily="34" charset="-120"/>
              </a:rPr>
              <a:t>— so a component decision becomes a capital project, on a schedule you didn't set.</a:t>
            </a:r>
            <a:endParaRPr lang="en-US" sz="2100" dirty="0"/>
          </a:p>
        </p:txBody>
      </p:sp>
      <p:sp>
        <p:nvSpPr>
          <p:cNvPr id="7" name="Text 5"/>
          <p:cNvSpPr/>
          <p:nvPr/>
        </p:nvSpPr>
        <p:spPr>
          <a:xfrm>
            <a:off x="640080" y="4800600"/>
            <a:ext cx="6400800" cy="141732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And the second cost is worse: </a:t>
            </a:r>
            <a:pPr indent="0" marL="0">
              <a:lnSpc>
                <a:spcPts val="2200"/>
              </a:lnSpc>
              <a:buNone/>
            </a:pPr>
            <a:r>
              <a:rPr lang="en-US" sz="1700" b="1" dirty="0">
                <a:solidFill>
                  <a:srgbClr val="3DCD58"/>
                </a:solidFill>
                <a:latin typeface="Telegraf" pitchFamily="34" charset="0"/>
                <a:ea typeface="Telegraf" pitchFamily="34" charset="-122"/>
                <a:cs typeface="Telegraf" pitchFamily="34" charset="-120"/>
              </a:rPr>
              <a:t>every migration re-engineers logic that was already correct.</a:t>
            </a:r>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 You pay twice for the same thinking, and you re-introduce risk into a plant that was running fine.</a:t>
            </a:r>
            <a:endParaRPr lang="en-US" sz="1700" dirty="0"/>
          </a:p>
        </p:txBody>
      </p:sp>
      <p:sp>
        <p:nvSpPr>
          <p:cNvPr id="8" name="Shape 6"/>
          <p:cNvSpPr/>
          <p:nvPr/>
        </p:nvSpPr>
        <p:spPr>
          <a:xfrm>
            <a:off x="7543800" y="2148840"/>
            <a:ext cx="4005072" cy="3931920"/>
          </a:xfrm>
          <a:prstGeom prst="roundRect">
            <a:avLst>
              <a:gd name="adj" fmla="val 2791"/>
            </a:avLst>
          </a:prstGeom>
          <a:solidFill>
            <a:srgbClr val="161616"/>
          </a:solidFill>
          <a:ln w="12700">
            <a:solidFill>
              <a:srgbClr val="161616"/>
            </a:solidFill>
            <a:prstDash val="solid"/>
          </a:ln>
        </p:spPr>
      </p:sp>
      <p:sp>
        <p:nvSpPr>
          <p:cNvPr id="9" name="Text 7"/>
          <p:cNvSpPr/>
          <p:nvPr/>
        </p:nvSpPr>
        <p:spPr>
          <a:xfrm>
            <a:off x="7818120" y="2377440"/>
            <a:ext cx="3456432" cy="868680"/>
          </a:xfrm>
          <a:prstGeom prst="rect">
            <a:avLst/>
          </a:prstGeom>
          <a:noFill/>
          <a:ln/>
        </p:spPr>
        <p:txBody>
          <a:bodyPr wrap="square" lIns="0" tIns="0" rIns="0" bIns="0" rtlCol="0" anchor="t"/>
          <a:lstStyle/>
          <a:p>
            <a:pPr algn="ctr" indent="0" marL="0">
              <a:lnSpc>
                <a:spcPts val="2300"/>
              </a:lnSpc>
              <a:buNone/>
            </a:pPr>
            <a:r>
              <a:rPr lang="en-US" sz="1700" dirty="0">
                <a:solidFill>
                  <a:srgbClr val="9AA3AA"/>
                </a:solidFill>
                <a:latin typeface="Telegraf" pitchFamily="34" charset="0"/>
                <a:ea typeface="Telegraf" pitchFamily="34" charset="-122"/>
                <a:cs typeface="Telegraf" pitchFamily="34" charset="-120"/>
              </a:rPr>
              <a:t>Typical water/wastewater</a:t>
            </a:r>
            <a:endParaRPr lang="en-US" sz="1700" dirty="0"/>
          </a:p>
          <a:p>
            <a:pPr algn="ctr" indent="0" marL="0">
              <a:lnSpc>
                <a:spcPts val="2300"/>
              </a:lnSpc>
              <a:buNone/>
            </a:pPr>
            <a:r>
              <a:rPr lang="en-US" sz="1700" dirty="0">
                <a:solidFill>
                  <a:srgbClr val="9AA3AA"/>
                </a:solidFill>
                <a:latin typeface="Telegraf" pitchFamily="34" charset="0"/>
                <a:ea typeface="Telegraf" pitchFamily="34" charset="-122"/>
                <a:cs typeface="Telegraf" pitchFamily="34" charset="-120"/>
              </a:rPr>
              <a:t>control system in service</a:t>
            </a:r>
            <a:endParaRPr lang="en-US" sz="1700" dirty="0"/>
          </a:p>
        </p:txBody>
      </p:sp>
      <p:sp>
        <p:nvSpPr>
          <p:cNvPr id="10" name="Text 8"/>
          <p:cNvSpPr/>
          <p:nvPr/>
        </p:nvSpPr>
        <p:spPr>
          <a:xfrm>
            <a:off x="7818120" y="3291840"/>
            <a:ext cx="3456432" cy="1005840"/>
          </a:xfrm>
          <a:prstGeom prst="rect">
            <a:avLst/>
          </a:prstGeom>
          <a:noFill/>
          <a:ln/>
        </p:spPr>
        <p:txBody>
          <a:bodyPr wrap="square" lIns="0" tIns="0" rIns="0" bIns="0" rtlCol="0" anchor="ctr"/>
          <a:lstStyle/>
          <a:p>
            <a:pPr algn="ctr" indent="0" marL="0">
              <a:buNone/>
            </a:pPr>
            <a:r>
              <a:rPr lang="en-US" sz="6600" b="1" dirty="0">
                <a:solidFill>
                  <a:srgbClr val="00A19C"/>
                </a:solidFill>
                <a:latin typeface="Telegraf" pitchFamily="34" charset="0"/>
                <a:ea typeface="Telegraf" pitchFamily="34" charset="-122"/>
                <a:cs typeface="Telegraf" pitchFamily="34" charset="-120"/>
              </a:rPr>
              <a:t>25–35</a:t>
            </a:r>
            <a:endParaRPr lang="en-US" sz="6600" dirty="0"/>
          </a:p>
        </p:txBody>
      </p:sp>
      <p:sp>
        <p:nvSpPr>
          <p:cNvPr id="11" name="Text 9"/>
          <p:cNvSpPr/>
          <p:nvPr/>
        </p:nvSpPr>
        <p:spPr>
          <a:xfrm>
            <a:off x="7818120" y="4279392"/>
            <a:ext cx="3456432" cy="411480"/>
          </a:xfrm>
          <a:prstGeom prst="rect">
            <a:avLst/>
          </a:prstGeom>
          <a:noFill/>
          <a:ln/>
        </p:spPr>
        <p:txBody>
          <a:bodyPr wrap="square" lIns="0" tIns="0" rIns="0" bIns="0" rtlCol="0" anchor="ctr"/>
          <a:lstStyle/>
          <a:p>
            <a:pPr algn="ctr" indent="0" marL="0">
              <a:buNone/>
            </a:pPr>
            <a:r>
              <a:rPr lang="en-US" sz="2200" dirty="0">
                <a:solidFill>
                  <a:srgbClr val="00A19C"/>
                </a:solidFill>
                <a:latin typeface="Telegraf" pitchFamily="34" charset="0"/>
                <a:ea typeface="Telegraf" pitchFamily="34" charset="-122"/>
                <a:cs typeface="Telegraf" pitchFamily="34" charset="-120"/>
              </a:rPr>
              <a:t>years</a:t>
            </a:r>
            <a:endParaRPr lang="en-US" sz="2200" dirty="0"/>
          </a:p>
        </p:txBody>
      </p:sp>
      <p:sp>
        <p:nvSpPr>
          <p:cNvPr id="12" name="Text 10"/>
          <p:cNvSpPr/>
          <p:nvPr/>
        </p:nvSpPr>
        <p:spPr>
          <a:xfrm>
            <a:off x="7818120" y="4846320"/>
            <a:ext cx="3456432" cy="1097280"/>
          </a:xfrm>
          <a:prstGeom prst="rect">
            <a:avLst/>
          </a:prstGeom>
          <a:noFill/>
          <a:ln/>
        </p:spPr>
        <p:txBody>
          <a:bodyPr wrap="square" lIns="0" tIns="0" rIns="0" bIns="0" rtlCol="0" anchor="t"/>
          <a:lstStyle/>
          <a:p>
            <a:pPr algn="ctr" indent="0" marL="0">
              <a:lnSpc>
                <a:spcPts val="2100"/>
              </a:lnSpc>
              <a:buNone/>
            </a:pPr>
            <a:r>
              <a:rPr lang="en-US" sz="1600" i="1" dirty="0">
                <a:solidFill>
                  <a:srgbClr val="FFFFFF"/>
                </a:solidFill>
                <a:latin typeface="Telegraf" pitchFamily="34" charset="0"/>
                <a:ea typeface="Telegraf" pitchFamily="34" charset="-122"/>
                <a:cs typeface="Telegraf" pitchFamily="34" charset="-120"/>
              </a:rPr>
              <a:t>Hardware generations that logic has now outlived: three or four.</a:t>
            </a:r>
            <a:endParaRPr lang="en-US" sz="1600" dirty="0"/>
          </a:p>
        </p:txBody>
      </p:sp>
      <p:sp>
        <p:nvSpPr>
          <p:cNvPr id="13" name="Text 11"/>
          <p:cNvSpPr/>
          <p:nvPr/>
        </p:nvSpPr>
        <p:spPr>
          <a:xfrm>
            <a:off x="640080" y="6355080"/>
            <a:ext cx="10332720" cy="274320"/>
          </a:xfrm>
          <a:prstGeom prst="rect">
            <a:avLst/>
          </a:prstGeom>
          <a:noFill/>
          <a:ln/>
        </p:spPr>
        <p:txBody>
          <a:bodyPr wrap="square" lIns="0" tIns="0" rIns="0" bIns="0" rtlCol="0" anchor="ctr"/>
          <a:lstStyle/>
          <a:p>
            <a:pPr indent="0" marL="0">
              <a:buNone/>
            </a:pPr>
            <a:r>
              <a:rPr lang="en-US" sz="1100" dirty="0">
                <a:solidFill>
                  <a:srgbClr val="9AA3AA"/>
                </a:solidFill>
                <a:latin typeface="Telegraf" pitchFamily="34" charset="0"/>
                <a:ea typeface="Telegraf" pitchFamily="34" charset="-122"/>
                <a:cs typeface="Telegraf" pitchFamily="34" charset="-120"/>
              </a:rPr>
              <a:t>Source: Frost &amp; Sullivan, Modernising Water and Wastewater Operations, 2025</a:t>
            </a:r>
            <a:endParaRPr lang="en-US" sz="1100" dirty="0"/>
          </a:p>
        </p:txBody>
      </p:sp>
      <p:sp>
        <p:nvSpPr>
          <p:cNvPr id="15" name="Text 12"/>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01168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0116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BILL TWO</a:t>
            </a:r>
            <a:endParaRPr lang="en-US" sz="1500" dirty="0"/>
          </a:p>
        </p:txBody>
      </p:sp>
      <p:sp>
        <p:nvSpPr>
          <p:cNvPr id="4" name="Text 2"/>
          <p:cNvSpPr/>
          <p:nvPr/>
        </p:nvSpPr>
        <p:spPr>
          <a:xfrm>
            <a:off x="640080" y="1024128"/>
            <a:ext cx="10908792" cy="1051560"/>
          </a:xfrm>
          <a:prstGeom prst="rect">
            <a:avLst/>
          </a:prstGeom>
          <a:noFill/>
          <a:ln/>
        </p:spPr>
        <p:txBody>
          <a:bodyPr wrap="square" lIns="0" tIns="0" rIns="0" bIns="0" rtlCol="0" anchor="t"/>
          <a:lstStyle/>
          <a:p>
            <a:pPr indent="0" marL="0">
              <a:buNone/>
            </a:pPr>
            <a:r>
              <a:rPr lang="en-US" sz="3400" b="1" dirty="0">
                <a:solidFill>
                  <a:srgbClr val="FFFFFF"/>
                </a:solidFill>
                <a:latin typeface="Telegraf" pitchFamily="34" charset="0"/>
                <a:ea typeface="Telegraf" pitchFamily="34" charset="-122"/>
                <a:cs typeface="Telegraf" pitchFamily="34" charset="-120"/>
              </a:rPr>
              <a:t>Cybersecurity: built before the threat existed</a:t>
            </a:r>
            <a:endParaRPr lang="en-US" sz="3400" dirty="0"/>
          </a:p>
        </p:txBody>
      </p:sp>
      <p:sp>
        <p:nvSpPr>
          <p:cNvPr id="5" name="Text 3"/>
          <p:cNvSpPr/>
          <p:nvPr/>
        </p:nvSpPr>
        <p:spPr>
          <a:xfrm>
            <a:off x="640080" y="2194560"/>
            <a:ext cx="10515600" cy="960120"/>
          </a:xfrm>
          <a:prstGeom prst="rect">
            <a:avLst/>
          </a:prstGeom>
          <a:noFill/>
          <a:ln/>
        </p:spPr>
        <p:txBody>
          <a:bodyPr wrap="square" lIns="0" tIns="0" rIns="0" bIns="0" rtlCol="0" anchor="t"/>
          <a:lstStyle/>
          <a:p>
            <a:pPr indent="0" marL="0">
              <a:lnSpc>
                <a:spcPts val="2900"/>
              </a:lnSpc>
              <a:buNone/>
            </a:pPr>
            <a:r>
              <a:rPr lang="en-US" sz="2200" dirty="0">
                <a:solidFill>
                  <a:srgbClr val="FFFFFF"/>
                </a:solidFill>
                <a:latin typeface="Telegraf" pitchFamily="34" charset="0"/>
                <a:ea typeface="Telegraf" pitchFamily="34" charset="-122"/>
                <a:cs typeface="Telegraf" pitchFamily="34" charset="-120"/>
              </a:rPr>
              <a:t>These systems were designed for a world where the threat was a lightning strike, not a nation-state. Now water is a named target.</a:t>
            </a:r>
            <a:endParaRPr lang="en-US" sz="2200" dirty="0"/>
          </a:p>
        </p:txBody>
      </p:sp>
      <p:sp>
        <p:nvSpPr>
          <p:cNvPr id="6" name="Shape 4"/>
          <p:cNvSpPr/>
          <p:nvPr/>
        </p:nvSpPr>
        <p:spPr>
          <a:xfrm>
            <a:off x="640080" y="3246120"/>
            <a:ext cx="5212080" cy="2194560"/>
          </a:xfrm>
          <a:prstGeom prst="roundRect">
            <a:avLst>
              <a:gd name="adj" fmla="val 5000"/>
            </a:avLst>
          </a:prstGeom>
          <a:solidFill>
            <a:srgbClr val="161616"/>
          </a:solidFill>
          <a:ln w="12700">
            <a:solidFill>
              <a:srgbClr val="161616"/>
            </a:solidFill>
            <a:prstDash val="solid"/>
          </a:ln>
        </p:spPr>
      </p:sp>
      <p:sp>
        <p:nvSpPr>
          <p:cNvPr id="7" name="Text 5"/>
          <p:cNvSpPr/>
          <p:nvPr/>
        </p:nvSpPr>
        <p:spPr>
          <a:xfrm>
            <a:off x="1005840" y="3474720"/>
            <a:ext cx="4526280" cy="411480"/>
          </a:xfrm>
          <a:prstGeom prst="rect">
            <a:avLst/>
          </a:prstGeom>
          <a:noFill/>
          <a:ln/>
        </p:spPr>
        <p:txBody>
          <a:bodyPr wrap="square" lIns="0" tIns="0" rIns="0" bIns="0" rtlCol="0" anchor="ctr"/>
          <a:lstStyle/>
          <a:p>
            <a:pPr indent="0" marL="0">
              <a:buNone/>
            </a:pPr>
            <a:r>
              <a:rPr lang="en-US" sz="2200" b="1" dirty="0">
                <a:solidFill>
                  <a:srgbClr val="00A19C"/>
                </a:solidFill>
                <a:latin typeface="Telegraf" pitchFamily="34" charset="0"/>
                <a:ea typeface="Telegraf" pitchFamily="34" charset="-122"/>
                <a:cs typeface="Telegraf" pitchFamily="34" charset="-120"/>
              </a:rPr>
              <a:t>Aliquippa, PA — Nov 2023</a:t>
            </a:r>
            <a:endParaRPr lang="en-US" sz="2200" dirty="0"/>
          </a:p>
        </p:txBody>
      </p:sp>
      <p:sp>
        <p:nvSpPr>
          <p:cNvPr id="8" name="Text 6"/>
          <p:cNvSpPr/>
          <p:nvPr/>
        </p:nvSpPr>
        <p:spPr>
          <a:xfrm>
            <a:off x="1005840" y="3950208"/>
            <a:ext cx="4526280" cy="1371600"/>
          </a:xfrm>
          <a:prstGeom prst="rect">
            <a:avLst/>
          </a:prstGeom>
          <a:noFill/>
          <a:ln/>
        </p:spPr>
        <p:txBody>
          <a:bodyPr wrap="square" lIns="0" tIns="0" rIns="0" bIns="0" rtlCol="0" anchor="t"/>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A booster station PLC reached over the internet with a default password. Crews caught it on alarm and went to manual. That was the whole defense.</a:t>
            </a:r>
            <a:endParaRPr lang="en-US" sz="1800" dirty="0"/>
          </a:p>
        </p:txBody>
      </p:sp>
      <p:sp>
        <p:nvSpPr>
          <p:cNvPr id="9" name="Shape 7"/>
          <p:cNvSpPr/>
          <p:nvPr/>
        </p:nvSpPr>
        <p:spPr>
          <a:xfrm>
            <a:off x="6336792" y="3246120"/>
            <a:ext cx="5212080" cy="2194560"/>
          </a:xfrm>
          <a:prstGeom prst="roundRect">
            <a:avLst>
              <a:gd name="adj" fmla="val 5000"/>
            </a:avLst>
          </a:prstGeom>
          <a:solidFill>
            <a:srgbClr val="161616"/>
          </a:solidFill>
          <a:ln w="12700">
            <a:solidFill>
              <a:srgbClr val="161616"/>
            </a:solidFill>
            <a:prstDash val="solid"/>
          </a:ln>
        </p:spPr>
      </p:sp>
      <p:sp>
        <p:nvSpPr>
          <p:cNvPr id="10" name="Text 8"/>
          <p:cNvSpPr/>
          <p:nvPr/>
        </p:nvSpPr>
        <p:spPr>
          <a:xfrm>
            <a:off x="6702552" y="3401568"/>
            <a:ext cx="4526280" cy="777240"/>
          </a:xfrm>
          <a:prstGeom prst="rect">
            <a:avLst/>
          </a:prstGeom>
          <a:noFill/>
          <a:ln/>
        </p:spPr>
        <p:txBody>
          <a:bodyPr wrap="square" lIns="0" tIns="0" rIns="0" bIns="0" rtlCol="0" anchor="ctr"/>
          <a:lstStyle/>
          <a:p>
            <a:pPr indent="0" marL="0">
              <a:buNone/>
            </a:pPr>
            <a:r>
              <a:rPr lang="en-US" sz="4600" b="1" dirty="0">
                <a:solidFill>
                  <a:srgbClr val="3DCD58"/>
                </a:solidFill>
                <a:latin typeface="Telegraf" pitchFamily="34" charset="0"/>
                <a:ea typeface="Telegraf" pitchFamily="34" charset="-122"/>
                <a:cs typeface="Telegraf" pitchFamily="34" charset="-120"/>
              </a:rPr>
              <a:t>70%+</a:t>
            </a:r>
            <a:endParaRPr lang="en-US" sz="4600" dirty="0"/>
          </a:p>
        </p:txBody>
      </p:sp>
      <p:sp>
        <p:nvSpPr>
          <p:cNvPr id="11" name="Text 9"/>
          <p:cNvSpPr/>
          <p:nvPr/>
        </p:nvSpPr>
        <p:spPr>
          <a:xfrm>
            <a:off x="6702552" y="4187952"/>
            <a:ext cx="4526280" cy="1188720"/>
          </a:xfrm>
          <a:prstGeom prst="rect">
            <a:avLst/>
          </a:prstGeom>
          <a:noFill/>
          <a:ln/>
        </p:spPr>
        <p:txBody>
          <a:bodyPr wrap="square" lIns="0" tIns="0" rIns="0" bIns="0" rtlCol="0" anchor="t"/>
          <a:lstStyle/>
          <a:p>
            <a:pPr indent="0" marL="0">
              <a:lnSpc>
                <a:spcPts val="2300"/>
              </a:lnSpc>
              <a:buNone/>
            </a:pPr>
            <a:r>
              <a:rPr lang="en-US" sz="1700" dirty="0">
                <a:solidFill>
                  <a:srgbClr val="FFFFFF"/>
                </a:solidFill>
                <a:latin typeface="Telegraf" pitchFamily="34" charset="0"/>
                <a:ea typeface="Telegraf" pitchFamily="34" charset="-122"/>
                <a:cs typeface="Telegraf" pitchFamily="34" charset="-120"/>
              </a:rPr>
              <a:t>of drinking-water systems EPA inspected were out of compliance with Safe Drinking Water Act §1433 cybersecurity requirements.</a:t>
            </a:r>
            <a:endParaRPr lang="en-US" sz="1700" dirty="0"/>
          </a:p>
        </p:txBody>
      </p:sp>
      <p:sp>
        <p:nvSpPr>
          <p:cNvPr id="12" name="Text 10"/>
          <p:cNvSpPr/>
          <p:nvPr/>
        </p:nvSpPr>
        <p:spPr>
          <a:xfrm>
            <a:off x="640080" y="5577840"/>
            <a:ext cx="10515600" cy="822960"/>
          </a:xfrm>
          <a:prstGeom prst="rect">
            <a:avLst/>
          </a:prstGeom>
          <a:noFill/>
          <a:ln/>
        </p:spPr>
        <p:txBody>
          <a:bodyPr wrap="square" lIns="0" tIns="0" rIns="0" bIns="0" rtlCol="0" anchor="t"/>
          <a:lstStyle/>
          <a:p>
            <a:pPr indent="0" marL="0">
              <a:lnSpc>
                <a:spcPts val="2700"/>
              </a:lnSpc>
              <a:buNone/>
            </a:pPr>
            <a:r>
              <a:rPr lang="en-US" sz="2000" b="1" dirty="0">
                <a:solidFill>
                  <a:srgbClr val="FFFFFF"/>
                </a:solidFill>
                <a:latin typeface="Telegraf" pitchFamily="34" charset="0"/>
                <a:ea typeface="Telegraf" pitchFamily="34" charset="-122"/>
                <a:cs typeface="Telegraf" pitchFamily="34" charset="-120"/>
              </a:rPr>
              <a:t>The architectural problem: you can't patch what you can't take offline — and you can't take it offline when there's no way to test the change first.</a:t>
            </a:r>
            <a:endParaRPr lang="en-US" sz="2000" dirty="0"/>
          </a:p>
        </p:txBody>
      </p:sp>
      <p:sp>
        <p:nvSpPr>
          <p:cNvPr id="13" name="Text 11"/>
          <p:cNvSpPr/>
          <p:nvPr/>
        </p:nvSpPr>
        <p:spPr>
          <a:xfrm>
            <a:off x="640080" y="6446520"/>
            <a:ext cx="10332720" cy="274320"/>
          </a:xfrm>
          <a:prstGeom prst="rect">
            <a:avLst/>
          </a:prstGeom>
          <a:noFill/>
          <a:ln/>
        </p:spPr>
        <p:txBody>
          <a:bodyPr wrap="square" lIns="0" tIns="0" rIns="0" bIns="0" rtlCol="0" anchor="ctr"/>
          <a:lstStyle/>
          <a:p>
            <a:pPr indent="0" marL="0">
              <a:buNone/>
            </a:pPr>
            <a:r>
              <a:rPr lang="en-US" sz="1100" dirty="0">
                <a:solidFill>
                  <a:srgbClr val="9AA3AA"/>
                </a:solidFill>
                <a:latin typeface="Telegraf" pitchFamily="34" charset="0"/>
                <a:ea typeface="Telegraf" pitchFamily="34" charset="-122"/>
                <a:cs typeface="Telegraf" pitchFamily="34" charset="-120"/>
              </a:rPr>
              <a:t>Sources: EPA Enforcement Alert, May 2024; Municipal Water Authority of Aliquippa incident, Nov 2023 (CISA / WaterISAC)</a:t>
            </a:r>
            <a:endParaRPr lang="en-US" sz="1100" dirty="0"/>
          </a:p>
        </p:txBody>
      </p:sp>
      <p:sp>
        <p:nvSpPr>
          <p:cNvPr id="15" name="Text 12"/>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37744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37744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BILL THREE</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Data &amp; AI: it's not missing, it's stranded</a:t>
            </a:r>
            <a:endParaRPr lang="en-US" sz="3800" dirty="0"/>
          </a:p>
        </p:txBody>
      </p:sp>
      <p:sp>
        <p:nvSpPr>
          <p:cNvPr id="5" name="Text 3"/>
          <p:cNvSpPr/>
          <p:nvPr/>
        </p:nvSpPr>
        <p:spPr>
          <a:xfrm>
            <a:off x="640080" y="2148840"/>
            <a:ext cx="6309360" cy="1600200"/>
          </a:xfrm>
          <a:prstGeom prst="rect">
            <a:avLst/>
          </a:prstGeom>
          <a:noFill/>
          <a:ln/>
        </p:spPr>
        <p:txBody>
          <a:bodyPr wrap="square" lIns="0" tIns="0" rIns="0" bIns="0" rtlCol="0" anchor="t"/>
          <a:lstStyle/>
          <a:p>
            <a:pPr indent="0" marL="0">
              <a:lnSpc>
                <a:spcPts val="2900"/>
              </a:lnSpc>
              <a:buNone/>
            </a:pPr>
            <a:r>
              <a:rPr lang="en-US" sz="2100" dirty="0">
                <a:solidFill>
                  <a:srgbClr val="FFFFFF"/>
                </a:solidFill>
                <a:latin typeface="Telegraf" pitchFamily="34" charset="0"/>
                <a:ea typeface="Telegraf" pitchFamily="34" charset="-122"/>
                <a:cs typeface="Telegraf" pitchFamily="34" charset="-120"/>
              </a:rPr>
              <a:t>Every conversation about AI in water skips the boring part. Predictive maintenance, anomaly detection, optimization — none of it is a modeling problem first. It's an access problem.</a:t>
            </a:r>
            <a:endParaRPr lang="en-US" sz="2100" dirty="0"/>
          </a:p>
        </p:txBody>
      </p:sp>
      <p:sp>
        <p:nvSpPr>
          <p:cNvPr id="6" name="Text 4"/>
          <p:cNvSpPr/>
          <p:nvPr/>
        </p:nvSpPr>
        <p:spPr>
          <a:xfrm>
            <a:off x="640080" y="3840480"/>
            <a:ext cx="6309360" cy="1554480"/>
          </a:xfrm>
          <a:prstGeom prst="rect">
            <a:avLst/>
          </a:prstGeom>
          <a:noFill/>
          <a:ln/>
        </p:spPr>
        <p:txBody>
          <a:bodyPr wrap="square" lIns="0" tIns="0" rIns="0" bIns="0" rtlCol="0" anchor="t"/>
          <a:lstStyle/>
          <a:p>
            <a:pPr indent="0" marL="0">
              <a:lnSpc>
                <a:spcPts val="2900"/>
              </a:lnSpc>
              <a:buNone/>
            </a:pPr>
            <a:r>
              <a:rPr lang="en-US" sz="2100" dirty="0">
                <a:solidFill>
                  <a:srgbClr val="FFFFFF"/>
                </a:solidFill>
                <a:latin typeface="Telegraf" pitchFamily="34" charset="0"/>
                <a:ea typeface="Telegraf" pitchFamily="34" charset="-122"/>
                <a:cs typeface="Telegraf" pitchFamily="34" charset="-120"/>
              </a:rPr>
              <a:t>Your plant already generates the data. It's sitting inside a controller, in a proprietary format, behind a protocol designed in 1985 to talk to exactly one screen.</a:t>
            </a:r>
            <a:endParaRPr lang="en-US" sz="2100" dirty="0"/>
          </a:p>
        </p:txBody>
      </p:sp>
      <p:sp>
        <p:nvSpPr>
          <p:cNvPr id="7" name="Text 5"/>
          <p:cNvSpPr/>
          <p:nvPr/>
        </p:nvSpPr>
        <p:spPr>
          <a:xfrm>
            <a:off x="640080" y="5440680"/>
            <a:ext cx="6309360" cy="1051560"/>
          </a:xfrm>
          <a:prstGeom prst="rect">
            <a:avLst/>
          </a:prstGeom>
          <a:noFill/>
          <a:ln/>
        </p:spPr>
        <p:txBody>
          <a:bodyPr wrap="square" lIns="0" tIns="0" rIns="0" bIns="0" rtlCol="0" anchor="t"/>
          <a:lstStyle/>
          <a:p>
            <a:pPr indent="0" marL="0">
              <a:lnSpc>
                <a:spcPts val="2700"/>
              </a:lnSpc>
              <a:buNone/>
            </a:pPr>
            <a:r>
              <a:rPr lang="en-US" sz="2000" b="1" i="1" dirty="0">
                <a:solidFill>
                  <a:srgbClr val="3DCD58"/>
                </a:solidFill>
                <a:latin typeface="Telegraf" pitchFamily="34" charset="0"/>
                <a:ea typeface="Telegraf" pitchFamily="34" charset="-122"/>
                <a:cs typeface="Telegraf" pitchFamily="34" charset="-120"/>
              </a:rPr>
              <a:t>There is no AI strategy that survives contact with a system that can't hand over its own data.</a:t>
            </a:r>
            <a:endParaRPr lang="en-US" sz="2000" dirty="0"/>
          </a:p>
        </p:txBody>
      </p:sp>
      <p:sp>
        <p:nvSpPr>
          <p:cNvPr id="8" name="Shape 6"/>
          <p:cNvSpPr/>
          <p:nvPr/>
        </p:nvSpPr>
        <p:spPr>
          <a:xfrm>
            <a:off x="7452360" y="2148840"/>
            <a:ext cx="4096512" cy="3977640"/>
          </a:xfrm>
          <a:prstGeom prst="roundRect">
            <a:avLst>
              <a:gd name="adj" fmla="val 2759"/>
            </a:avLst>
          </a:prstGeom>
          <a:solidFill>
            <a:srgbClr val="161616"/>
          </a:solidFill>
          <a:ln w="12700">
            <a:solidFill>
              <a:srgbClr val="161616"/>
            </a:solidFill>
            <a:prstDash val="solid"/>
          </a:ln>
        </p:spPr>
      </p:sp>
      <p:sp>
        <p:nvSpPr>
          <p:cNvPr id="9" name="Text 7"/>
          <p:cNvSpPr/>
          <p:nvPr/>
        </p:nvSpPr>
        <p:spPr>
          <a:xfrm>
            <a:off x="7726680" y="2359152"/>
            <a:ext cx="3547872" cy="868680"/>
          </a:xfrm>
          <a:prstGeom prst="rect">
            <a:avLst/>
          </a:prstGeom>
          <a:noFill/>
          <a:ln/>
        </p:spPr>
        <p:txBody>
          <a:bodyPr wrap="square" lIns="0" tIns="0" rIns="0" bIns="0" rtlCol="0" anchor="t"/>
          <a:lstStyle/>
          <a:p>
            <a:pPr algn="ctr" indent="0" marL="0">
              <a:lnSpc>
                <a:spcPts val="2300"/>
              </a:lnSpc>
              <a:buNone/>
            </a:pPr>
            <a:r>
              <a:rPr lang="en-US" sz="1700" dirty="0">
                <a:solidFill>
                  <a:srgbClr val="9AA3AA"/>
                </a:solidFill>
                <a:latin typeface="Telegraf" pitchFamily="34" charset="0"/>
                <a:ea typeface="Telegraf" pitchFamily="34" charset="-122"/>
                <a:cs typeface="Telegraf" pitchFamily="34" charset="-120"/>
              </a:rPr>
              <a:t>What that looked like in</a:t>
            </a:r>
            <a:endParaRPr lang="en-US" sz="1700" dirty="0"/>
          </a:p>
          <a:p>
            <a:pPr algn="ctr" indent="0" marL="0">
              <a:lnSpc>
                <a:spcPts val="2300"/>
              </a:lnSpc>
              <a:buNone/>
            </a:pPr>
            <a:r>
              <a:rPr lang="en-US" sz="1700" dirty="0">
                <a:solidFill>
                  <a:srgbClr val="9AA3AA"/>
                </a:solidFill>
                <a:latin typeface="Telegraf" pitchFamily="34" charset="0"/>
                <a:ea typeface="Telegraf" pitchFamily="34" charset="-122"/>
                <a:cs typeface="Telegraf" pitchFamily="34" charset="-120"/>
              </a:rPr>
              <a:t>Conroe, Texas — before</a:t>
            </a:r>
            <a:endParaRPr lang="en-US" sz="1700" dirty="0"/>
          </a:p>
        </p:txBody>
      </p:sp>
      <p:sp>
        <p:nvSpPr>
          <p:cNvPr id="10" name="Text 8"/>
          <p:cNvSpPr/>
          <p:nvPr/>
        </p:nvSpPr>
        <p:spPr>
          <a:xfrm>
            <a:off x="7726680" y="3246120"/>
            <a:ext cx="3547872" cy="914400"/>
          </a:xfrm>
          <a:prstGeom prst="rect">
            <a:avLst/>
          </a:prstGeom>
          <a:noFill/>
          <a:ln/>
        </p:spPr>
        <p:txBody>
          <a:bodyPr wrap="square" lIns="0" tIns="0" rIns="0" bIns="0" rtlCol="0" anchor="ctr"/>
          <a:lstStyle/>
          <a:p>
            <a:pPr algn="ctr" indent="0" marL="0">
              <a:buNone/>
            </a:pPr>
            <a:r>
              <a:rPr lang="en-US" sz="5200" b="1" dirty="0">
                <a:solidFill>
                  <a:srgbClr val="00A19C"/>
                </a:solidFill>
                <a:latin typeface="Telegraf" pitchFamily="34" charset="0"/>
                <a:ea typeface="Telegraf" pitchFamily="34" charset="-122"/>
                <a:cs typeface="Telegraf" pitchFamily="34" charset="-120"/>
              </a:rPr>
              <a:t>5 hours</a:t>
            </a:r>
            <a:endParaRPr lang="en-US" sz="5200" dirty="0"/>
          </a:p>
        </p:txBody>
      </p:sp>
      <p:sp>
        <p:nvSpPr>
          <p:cNvPr id="11" name="Text 9"/>
          <p:cNvSpPr/>
          <p:nvPr/>
        </p:nvSpPr>
        <p:spPr>
          <a:xfrm>
            <a:off x="7726680" y="4160520"/>
            <a:ext cx="3547872" cy="411480"/>
          </a:xfrm>
          <a:prstGeom prst="rect">
            <a:avLst/>
          </a:prstGeom>
          <a:noFill/>
          <a:ln/>
        </p:spPr>
        <p:txBody>
          <a:bodyPr wrap="square" lIns="0" tIns="0" rIns="0" bIns="0" rtlCol="0" anchor="ctr"/>
          <a:lstStyle/>
          <a:p>
            <a:pPr algn="ctr" indent="0" marL="0">
              <a:buNone/>
            </a:pPr>
            <a:r>
              <a:rPr lang="en-US" sz="2200" dirty="0">
                <a:solidFill>
                  <a:srgbClr val="00A19C"/>
                </a:solidFill>
                <a:latin typeface="Telegraf" pitchFamily="34" charset="0"/>
                <a:ea typeface="Telegraf" pitchFamily="34" charset="-122"/>
                <a:cs typeface="Telegraf" pitchFamily="34" charset="-120"/>
              </a:rPr>
              <a:t>every day</a:t>
            </a:r>
            <a:endParaRPr lang="en-US" sz="2200" dirty="0"/>
          </a:p>
        </p:txBody>
      </p:sp>
      <p:sp>
        <p:nvSpPr>
          <p:cNvPr id="12" name="Text 10"/>
          <p:cNvSpPr/>
          <p:nvPr/>
        </p:nvSpPr>
        <p:spPr>
          <a:xfrm>
            <a:off x="7726680" y="4709160"/>
            <a:ext cx="3547872" cy="1234440"/>
          </a:xfrm>
          <a:prstGeom prst="rect">
            <a:avLst/>
          </a:prstGeom>
          <a:noFill/>
          <a:ln/>
        </p:spPr>
        <p:txBody>
          <a:bodyPr wrap="square" lIns="0" tIns="0" rIns="0" bIns="0" rtlCol="0" anchor="t"/>
          <a:lstStyle/>
          <a:p>
            <a:pPr algn="ctr" indent="0" marL="0">
              <a:lnSpc>
                <a:spcPts val="2300"/>
              </a:lnSpc>
              <a:buNone/>
            </a:pPr>
            <a:r>
              <a:rPr lang="en-US" sz="1700" dirty="0">
                <a:solidFill>
                  <a:srgbClr val="FFFFFF"/>
                </a:solidFill>
                <a:latin typeface="Telegraf" pitchFamily="34" charset="0"/>
                <a:ea typeface="Telegraf" pitchFamily="34" charset="-122"/>
                <a:cs typeface="Telegraf" pitchFamily="34" charset="-120"/>
              </a:rPr>
              <a:t>of staff time spent collecting, by hand, data the plant had already produced.</a:t>
            </a:r>
            <a:endParaRPr lang="en-US" sz="1700" dirty="0"/>
          </a:p>
        </p:txBody>
      </p:sp>
      <p:sp>
        <p:nvSpPr>
          <p:cNvPr id="14" name="Text 11"/>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28600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28600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BILL FOUR</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Workforce: the logic is in someone's head</a:t>
            </a:r>
            <a:endParaRPr lang="en-US" sz="3800" dirty="0"/>
          </a:p>
        </p:txBody>
      </p:sp>
      <p:sp>
        <p:nvSpPr>
          <p:cNvPr id="5" name="Text 3"/>
          <p:cNvSpPr/>
          <p:nvPr/>
        </p:nvSpPr>
        <p:spPr>
          <a:xfrm>
            <a:off x="640080" y="2121408"/>
            <a:ext cx="10515600" cy="1005840"/>
          </a:xfrm>
          <a:prstGeom prst="rect">
            <a:avLst/>
          </a:prstGeom>
          <a:noFill/>
          <a:ln/>
        </p:spPr>
        <p:txBody>
          <a:bodyPr wrap="square" lIns="0" tIns="0" rIns="0" bIns="0" rtlCol="0" anchor="t"/>
          <a:lstStyle/>
          <a:p>
            <a:pPr indent="0" marL="0">
              <a:lnSpc>
                <a:spcPts val="2900"/>
              </a:lnSpc>
              <a:buNone/>
            </a:pPr>
            <a:r>
              <a:rPr lang="en-US" sz="2200" dirty="0">
                <a:solidFill>
                  <a:srgbClr val="FFFFFF"/>
                </a:solidFill>
                <a:latin typeface="Telegraf" pitchFamily="34" charset="0"/>
                <a:ea typeface="Telegraf" pitchFamily="34" charset="-122"/>
                <a:cs typeface="Telegraf" pitchFamily="34" charset="-120"/>
              </a:rPr>
              <a:t>The person who knows why that interlock is there didn't document it. They remember it. And they are retiring.</a:t>
            </a:r>
            <a:endParaRPr lang="en-US" sz="2200" dirty="0"/>
          </a:p>
        </p:txBody>
      </p:sp>
      <p:sp>
        <p:nvSpPr>
          <p:cNvPr id="6" name="Text 4"/>
          <p:cNvSpPr/>
          <p:nvPr/>
        </p:nvSpPr>
        <p:spPr>
          <a:xfrm>
            <a:off x="640080" y="3200400"/>
            <a:ext cx="3401568" cy="1051560"/>
          </a:xfrm>
          <a:prstGeom prst="rect">
            <a:avLst/>
          </a:prstGeom>
          <a:noFill/>
          <a:ln/>
        </p:spPr>
        <p:txBody>
          <a:bodyPr wrap="square" lIns="0" tIns="0" rIns="0" bIns="0" rtlCol="0" anchor="b"/>
          <a:lstStyle/>
          <a:p>
            <a:pPr algn="ctr" indent="0" marL="0">
              <a:buNone/>
            </a:pPr>
            <a:r>
              <a:rPr lang="en-US" sz="6000" b="1" dirty="0">
                <a:solidFill>
                  <a:srgbClr val="00A19C"/>
                </a:solidFill>
                <a:latin typeface="Telegraf" pitchFamily="34" charset="0"/>
                <a:ea typeface="Telegraf" pitchFamily="34" charset="-122"/>
                <a:cs typeface="Telegraf" pitchFamily="34" charset="-120"/>
              </a:rPr>
              <a:t>21%</a:t>
            </a:r>
            <a:endParaRPr lang="en-US" sz="6000" dirty="0"/>
          </a:p>
        </p:txBody>
      </p:sp>
      <p:sp>
        <p:nvSpPr>
          <p:cNvPr id="7" name="Text 5"/>
          <p:cNvSpPr/>
          <p:nvPr/>
        </p:nvSpPr>
        <p:spPr>
          <a:xfrm>
            <a:off x="640080" y="4315968"/>
            <a:ext cx="3401568" cy="868680"/>
          </a:xfrm>
          <a:prstGeom prst="rect">
            <a:avLst/>
          </a:prstGeom>
          <a:noFill/>
          <a:ln/>
        </p:spPr>
        <p:txBody>
          <a:bodyPr wrap="square" lIns="0" tIns="0" rIns="0" bIns="0" rtlCol="0" anchor="t"/>
          <a:lstStyle/>
          <a:p>
            <a:pPr algn="ctr" indent="0" marL="0">
              <a:buNone/>
            </a:pPr>
            <a:r>
              <a:rPr lang="en-US" sz="1700" dirty="0">
                <a:solidFill>
                  <a:srgbClr val="9AA3AA"/>
                </a:solidFill>
                <a:latin typeface="Telegraf" pitchFamily="34" charset="0"/>
                <a:ea typeface="Telegraf" pitchFamily="34" charset="-122"/>
                <a:cs typeface="Telegraf" pitchFamily="34" charset="-120"/>
              </a:rPr>
              <a:t>of utility employees eligible to</a:t>
            </a:r>
            <a:endParaRPr lang="en-US" sz="1700" dirty="0"/>
          </a:p>
          <a:p>
            <a:pPr algn="ctr" indent="0" marL="0">
              <a:buNone/>
            </a:pPr>
            <a:r>
              <a:rPr lang="en-US" sz="1700" dirty="0">
                <a:solidFill>
                  <a:srgbClr val="9AA3AA"/>
                </a:solidFill>
                <a:latin typeface="Telegraf" pitchFamily="34" charset="0"/>
                <a:ea typeface="Telegraf" pitchFamily="34" charset="-122"/>
                <a:cs typeface="Telegraf" pitchFamily="34" charset="-120"/>
              </a:rPr>
              <a:t>retire within five years</a:t>
            </a:r>
            <a:endParaRPr lang="en-US" sz="1700" dirty="0"/>
          </a:p>
        </p:txBody>
      </p:sp>
      <p:sp>
        <p:nvSpPr>
          <p:cNvPr id="8" name="Text 6"/>
          <p:cNvSpPr/>
          <p:nvPr/>
        </p:nvSpPr>
        <p:spPr>
          <a:xfrm>
            <a:off x="4398264" y="3200400"/>
            <a:ext cx="3401568" cy="1051560"/>
          </a:xfrm>
          <a:prstGeom prst="rect">
            <a:avLst/>
          </a:prstGeom>
          <a:noFill/>
          <a:ln/>
        </p:spPr>
        <p:txBody>
          <a:bodyPr wrap="square" lIns="0" tIns="0" rIns="0" bIns="0" rtlCol="0" anchor="b"/>
          <a:lstStyle/>
          <a:p>
            <a:pPr algn="ctr" indent="0" marL="0">
              <a:buNone/>
            </a:pPr>
            <a:r>
              <a:rPr lang="en-US" sz="6000" b="1" dirty="0">
                <a:solidFill>
                  <a:srgbClr val="3DCD58"/>
                </a:solidFill>
                <a:latin typeface="Telegraf" pitchFamily="34" charset="0"/>
                <a:ea typeface="Telegraf" pitchFamily="34" charset="-122"/>
                <a:cs typeface="Telegraf" pitchFamily="34" charset="-120"/>
              </a:rPr>
              <a:t>9%</a:t>
            </a:r>
            <a:endParaRPr lang="en-US" sz="6000" dirty="0"/>
          </a:p>
        </p:txBody>
      </p:sp>
      <p:sp>
        <p:nvSpPr>
          <p:cNvPr id="9" name="Text 7"/>
          <p:cNvSpPr/>
          <p:nvPr/>
        </p:nvSpPr>
        <p:spPr>
          <a:xfrm>
            <a:off x="4398264" y="4315968"/>
            <a:ext cx="3401568" cy="868680"/>
          </a:xfrm>
          <a:prstGeom prst="rect">
            <a:avLst/>
          </a:prstGeom>
          <a:noFill/>
          <a:ln/>
        </p:spPr>
        <p:txBody>
          <a:bodyPr wrap="square" lIns="0" tIns="0" rIns="0" bIns="0" rtlCol="0" anchor="t"/>
          <a:lstStyle/>
          <a:p>
            <a:pPr algn="ctr" indent="0" marL="0">
              <a:buNone/>
            </a:pPr>
            <a:r>
              <a:rPr lang="en-US" sz="1700" dirty="0">
                <a:solidFill>
                  <a:srgbClr val="9AA3AA"/>
                </a:solidFill>
                <a:latin typeface="Telegraf" pitchFamily="34" charset="0"/>
                <a:ea typeface="Telegraf" pitchFamily="34" charset="-122"/>
                <a:cs typeface="Telegraf" pitchFamily="34" charset="-120"/>
              </a:rPr>
              <a:t>average vacancy rate — before</a:t>
            </a:r>
            <a:endParaRPr lang="en-US" sz="1700" dirty="0"/>
          </a:p>
          <a:p>
            <a:pPr algn="ctr" indent="0" marL="0">
              <a:buNone/>
            </a:pPr>
            <a:r>
              <a:rPr lang="en-US" sz="1700" dirty="0">
                <a:solidFill>
                  <a:srgbClr val="9AA3AA"/>
                </a:solidFill>
                <a:latin typeface="Telegraf" pitchFamily="34" charset="0"/>
                <a:ea typeface="Telegraf" pitchFamily="34" charset="-122"/>
                <a:cs typeface="Telegraf" pitchFamily="34" charset="-120"/>
              </a:rPr>
              <a:t>those retirements land</a:t>
            </a:r>
            <a:endParaRPr lang="en-US" sz="1700" dirty="0"/>
          </a:p>
        </p:txBody>
      </p:sp>
      <p:sp>
        <p:nvSpPr>
          <p:cNvPr id="10" name="Text 8"/>
          <p:cNvSpPr/>
          <p:nvPr/>
        </p:nvSpPr>
        <p:spPr>
          <a:xfrm>
            <a:off x="8147304" y="3200400"/>
            <a:ext cx="3401568" cy="1051560"/>
          </a:xfrm>
          <a:prstGeom prst="rect">
            <a:avLst/>
          </a:prstGeom>
          <a:noFill/>
          <a:ln/>
        </p:spPr>
        <p:txBody>
          <a:bodyPr wrap="square" lIns="0" tIns="0" rIns="0" bIns="0" rtlCol="0" anchor="b"/>
          <a:lstStyle/>
          <a:p>
            <a:pPr algn="ctr" indent="0" marL="0">
              <a:buNone/>
            </a:pPr>
            <a:r>
              <a:rPr lang="en-US" sz="6000" b="1" dirty="0">
                <a:solidFill>
                  <a:srgbClr val="00A19C"/>
                </a:solidFill>
                <a:latin typeface="Telegraf" pitchFamily="34" charset="0"/>
                <a:ea typeface="Telegraf" pitchFamily="34" charset="-122"/>
                <a:cs typeface="Telegraf" pitchFamily="34" charset="-120"/>
              </a:rPr>
              <a:t>~10k</a:t>
            </a:r>
            <a:endParaRPr lang="en-US" sz="6000" dirty="0"/>
          </a:p>
        </p:txBody>
      </p:sp>
      <p:sp>
        <p:nvSpPr>
          <p:cNvPr id="11" name="Text 9"/>
          <p:cNvSpPr/>
          <p:nvPr/>
        </p:nvSpPr>
        <p:spPr>
          <a:xfrm>
            <a:off x="8147304" y="4315968"/>
            <a:ext cx="3401568" cy="868680"/>
          </a:xfrm>
          <a:prstGeom prst="rect">
            <a:avLst/>
          </a:prstGeom>
          <a:noFill/>
          <a:ln/>
        </p:spPr>
        <p:txBody>
          <a:bodyPr wrap="square" lIns="0" tIns="0" rIns="0" bIns="0" rtlCol="0" anchor="t"/>
          <a:lstStyle/>
          <a:p>
            <a:pPr algn="ctr" indent="0" marL="0">
              <a:buNone/>
            </a:pPr>
            <a:r>
              <a:rPr lang="en-US" sz="1700" dirty="0">
                <a:solidFill>
                  <a:srgbClr val="9AA3AA"/>
                </a:solidFill>
                <a:latin typeface="Telegraf" pitchFamily="34" charset="0"/>
                <a:ea typeface="Telegraf" pitchFamily="34" charset="-122"/>
                <a:cs typeface="Telegraf" pitchFamily="34" charset="-120"/>
              </a:rPr>
              <a:t>operator openings per year</a:t>
            </a:r>
            <a:endParaRPr lang="en-US" sz="1700" dirty="0"/>
          </a:p>
          <a:p>
            <a:pPr algn="ctr" indent="0" marL="0">
              <a:buNone/>
            </a:pPr>
            <a:r>
              <a:rPr lang="en-US" sz="1700" dirty="0">
                <a:solidFill>
                  <a:srgbClr val="9AA3AA"/>
                </a:solidFill>
                <a:latin typeface="Telegraf" pitchFamily="34" charset="0"/>
                <a:ea typeface="Telegraf" pitchFamily="34" charset="-122"/>
                <a:cs typeface="Telegraf" pitchFamily="34" charset="-120"/>
              </a:rPr>
              <a:t>through 2034, nationally</a:t>
            </a:r>
            <a:endParaRPr lang="en-US" sz="1700" dirty="0"/>
          </a:p>
        </p:txBody>
      </p:sp>
      <p:sp>
        <p:nvSpPr>
          <p:cNvPr id="12" name="Text 10"/>
          <p:cNvSpPr/>
          <p:nvPr/>
        </p:nvSpPr>
        <p:spPr>
          <a:xfrm>
            <a:off x="640080" y="5303520"/>
            <a:ext cx="10515600" cy="1051560"/>
          </a:xfrm>
          <a:prstGeom prst="rect">
            <a:avLst/>
          </a:prstGeom>
          <a:noFill/>
          <a:ln/>
        </p:spPr>
        <p:txBody>
          <a:bodyPr wrap="square" lIns="0" tIns="0" rIns="0" bIns="0" rtlCol="0" anchor="t"/>
          <a:lstStyle/>
          <a:p>
            <a:pPr indent="0" marL="0">
              <a:lnSpc>
                <a:spcPts val="2700"/>
              </a:lnSpc>
              <a:buNone/>
            </a:pPr>
            <a:r>
              <a:rPr lang="en-US" sz="2000" b="1" dirty="0">
                <a:solidFill>
                  <a:srgbClr val="FFFFFF"/>
                </a:solidFill>
                <a:latin typeface="Telegraf" pitchFamily="34" charset="0"/>
                <a:ea typeface="Telegraf" pitchFamily="34" charset="-122"/>
                <a:cs typeface="Telegraf" pitchFamily="34" charset="-120"/>
              </a:rPr>
              <a:t>Meanwhile, the engineers you can actually hire grew up with version control, containers, and Python — not with a proprietary IDE and a ladder-logic printout in a binder.</a:t>
            </a:r>
            <a:endParaRPr lang="en-US" sz="2000" dirty="0"/>
          </a:p>
        </p:txBody>
      </p:sp>
      <p:sp>
        <p:nvSpPr>
          <p:cNvPr id="13" name="Text 11"/>
          <p:cNvSpPr/>
          <p:nvPr/>
        </p:nvSpPr>
        <p:spPr>
          <a:xfrm>
            <a:off x="640080" y="6446520"/>
            <a:ext cx="10332720" cy="274320"/>
          </a:xfrm>
          <a:prstGeom prst="rect">
            <a:avLst/>
          </a:prstGeom>
          <a:noFill/>
          <a:ln/>
        </p:spPr>
        <p:txBody>
          <a:bodyPr wrap="square" lIns="0" tIns="0" rIns="0" bIns="0" rtlCol="0" anchor="ctr"/>
          <a:lstStyle/>
          <a:p>
            <a:pPr indent="0" marL="0">
              <a:buNone/>
            </a:pPr>
            <a:r>
              <a:rPr lang="en-US" sz="1100" dirty="0">
                <a:solidFill>
                  <a:srgbClr val="9AA3AA"/>
                </a:solidFill>
                <a:latin typeface="Telegraf" pitchFamily="34" charset="0"/>
                <a:ea typeface="Telegraf" pitchFamily="34" charset="-122"/>
                <a:cs typeface="Telegraf" pitchFamily="34" charset="-120"/>
              </a:rPr>
              <a:t>Sources: AWWA 2025 Utility Benchmarking Survey; U.S. Bureau of Labor Statistics projections through 2034</a:t>
            </a:r>
            <a:endParaRPr lang="en-US" sz="1100" dirty="0"/>
          </a:p>
        </p:txBody>
      </p:sp>
      <p:sp>
        <p:nvSpPr>
          <p:cNvPr id="15" name="Text 12"/>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1371600"/>
            <a:ext cx="329184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1371600"/>
            <a:ext cx="329184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A QUESTION FOR YOU</a:t>
            </a:r>
            <a:endParaRPr lang="en-US" sz="1500" dirty="0"/>
          </a:p>
        </p:txBody>
      </p:sp>
      <p:sp>
        <p:nvSpPr>
          <p:cNvPr id="4" name="Text 2"/>
          <p:cNvSpPr/>
          <p:nvPr/>
        </p:nvSpPr>
        <p:spPr>
          <a:xfrm>
            <a:off x="640080" y="2148840"/>
            <a:ext cx="10607040" cy="1645920"/>
          </a:xfrm>
          <a:prstGeom prst="rect">
            <a:avLst/>
          </a:prstGeom>
          <a:noFill/>
          <a:ln/>
        </p:spPr>
        <p:txBody>
          <a:bodyPr wrap="square" lIns="0" tIns="0" rIns="0" bIns="0" rtlCol="0" anchor="ctr"/>
          <a:lstStyle/>
          <a:p>
            <a:pPr indent="0" marL="0">
              <a:lnSpc>
                <a:spcPts val="5000"/>
              </a:lnSpc>
              <a:buNone/>
            </a:pPr>
            <a:r>
              <a:rPr lang="en-US" sz="4000" b="1" dirty="0">
                <a:solidFill>
                  <a:srgbClr val="FFFFFF"/>
                </a:solidFill>
                <a:latin typeface="Telegraf" pitchFamily="34" charset="0"/>
                <a:ea typeface="Telegraf" pitchFamily="34" charset="-122"/>
                <a:cs typeface="Telegraf" pitchFamily="34" charset="-120"/>
              </a:rPr>
              <a:t>If your control logic could outlive</a:t>
            </a:r>
            <a:endParaRPr lang="en-US" sz="4000" dirty="0"/>
          </a:p>
          <a:p>
            <a:pPr indent="0" marL="0">
              <a:lnSpc>
                <a:spcPts val="5000"/>
              </a:lnSpc>
              <a:buNone/>
            </a:pPr>
            <a:r>
              <a:rPr lang="en-US" sz="4000" b="1" dirty="0">
                <a:solidFill>
                  <a:srgbClr val="FFFFFF"/>
                </a:solidFill>
                <a:latin typeface="Telegraf" pitchFamily="34" charset="0"/>
                <a:ea typeface="Telegraf" pitchFamily="34" charset="-122"/>
                <a:cs typeface="Telegraf" pitchFamily="34" charset="-120"/>
              </a:rPr>
              <a:t>three generations of hardware —</a:t>
            </a:r>
            <a:endParaRPr lang="en-US" sz="4000" dirty="0"/>
          </a:p>
        </p:txBody>
      </p:sp>
      <p:sp>
        <p:nvSpPr>
          <p:cNvPr id="5" name="Text 3"/>
          <p:cNvSpPr/>
          <p:nvPr/>
        </p:nvSpPr>
        <p:spPr>
          <a:xfrm>
            <a:off x="640080" y="3977640"/>
            <a:ext cx="10607040" cy="1325880"/>
          </a:xfrm>
          <a:prstGeom prst="rect">
            <a:avLst/>
          </a:prstGeom>
          <a:noFill/>
          <a:ln/>
        </p:spPr>
        <p:txBody>
          <a:bodyPr wrap="square" lIns="0" tIns="0" rIns="0" bIns="0" rtlCol="0" anchor="ctr"/>
          <a:lstStyle/>
          <a:p>
            <a:pPr indent="0" marL="0">
              <a:lnSpc>
                <a:spcPts val="5000"/>
              </a:lnSpc>
              <a:buNone/>
            </a:pPr>
            <a:r>
              <a:rPr lang="en-US" sz="4000" b="1" dirty="0">
                <a:solidFill>
                  <a:srgbClr val="3DCD58"/>
                </a:solidFill>
                <a:latin typeface="Telegraf" pitchFamily="34" charset="0"/>
                <a:ea typeface="Telegraf" pitchFamily="34" charset="-122"/>
                <a:cs typeface="Telegraf" pitchFamily="34" charset="-120"/>
              </a:rPr>
              <a:t>what would change about how you plan a capital project?</a:t>
            </a:r>
            <a:endParaRPr lang="en-US" sz="4000" dirty="0"/>
          </a:p>
        </p:txBody>
      </p:sp>
      <p:sp>
        <p:nvSpPr>
          <p:cNvPr id="6" name="Text 4"/>
          <p:cNvSpPr/>
          <p:nvPr/>
        </p:nvSpPr>
        <p:spPr>
          <a:xfrm>
            <a:off x="640080" y="5486400"/>
            <a:ext cx="10607040" cy="548640"/>
          </a:xfrm>
          <a:prstGeom prst="rect">
            <a:avLst/>
          </a:prstGeom>
          <a:noFill/>
          <a:ln/>
        </p:spPr>
        <p:txBody>
          <a:bodyPr wrap="square" lIns="0" tIns="0" rIns="0" bIns="0" rtlCol="0" anchor="ctr"/>
          <a:lstStyle/>
          <a:p>
            <a:pPr indent="0" marL="0">
              <a:buNone/>
            </a:pPr>
            <a:r>
              <a:rPr lang="en-US" sz="2200" i="1" dirty="0">
                <a:solidFill>
                  <a:srgbClr val="6FD9D4"/>
                </a:solidFill>
                <a:latin typeface="Telegraf" pitchFamily="34" charset="0"/>
                <a:ea typeface="Telegraf" pitchFamily="34" charset="-122"/>
                <a:cs typeface="Telegraf" pitchFamily="34" charset="-120"/>
              </a:rPr>
              <a:t>Hold that. We'll come back to it.</a:t>
            </a:r>
            <a:endParaRPr lang="en-US" sz="2200" dirty="0"/>
          </a:p>
        </p:txBody>
      </p:sp>
      <p:sp>
        <p:nvSpPr>
          <p:cNvPr id="8" name="Text 5"/>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2148840"/>
            <a:ext cx="164592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2148840"/>
            <a:ext cx="164592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ACT III</a:t>
            </a:r>
            <a:endParaRPr lang="en-US" sz="1500" dirty="0"/>
          </a:p>
        </p:txBody>
      </p:sp>
      <p:sp>
        <p:nvSpPr>
          <p:cNvPr id="4" name="Text 2"/>
          <p:cNvSpPr/>
          <p:nvPr/>
        </p:nvSpPr>
        <p:spPr>
          <a:xfrm>
            <a:off x="640080" y="2743200"/>
            <a:ext cx="10607040" cy="1005840"/>
          </a:xfrm>
          <a:prstGeom prst="rect">
            <a:avLst/>
          </a:prstGeom>
          <a:noFill/>
          <a:ln/>
        </p:spPr>
        <p:txBody>
          <a:bodyPr wrap="square" lIns="0" tIns="0" rIns="0" bIns="0" rtlCol="0" anchor="ctr"/>
          <a:lstStyle/>
          <a:p>
            <a:pPr indent="0" marL="0">
              <a:buNone/>
            </a:pPr>
            <a:r>
              <a:rPr lang="en-US" sz="5200" b="1" dirty="0">
                <a:solidFill>
                  <a:srgbClr val="FFFFFF"/>
                </a:solidFill>
                <a:latin typeface="Telegraf" pitchFamily="34" charset="0"/>
                <a:ea typeface="Telegraf" pitchFamily="34" charset="-122"/>
                <a:cs typeface="Telegraf" pitchFamily="34" charset="-120"/>
              </a:rPr>
              <a:t>What actually changes</a:t>
            </a:r>
            <a:endParaRPr lang="en-US" sz="5200" dirty="0"/>
          </a:p>
        </p:txBody>
      </p:sp>
      <p:sp>
        <p:nvSpPr>
          <p:cNvPr id="5" name="Text 3"/>
          <p:cNvSpPr/>
          <p:nvPr/>
        </p:nvSpPr>
        <p:spPr>
          <a:xfrm>
            <a:off x="640080" y="3931920"/>
            <a:ext cx="10241280" cy="1371600"/>
          </a:xfrm>
          <a:prstGeom prst="rect">
            <a:avLst/>
          </a:prstGeom>
          <a:noFill/>
          <a:ln/>
        </p:spPr>
        <p:txBody>
          <a:bodyPr wrap="square" lIns="0" tIns="0" rIns="0" bIns="0" rtlCol="0" anchor="ctr"/>
          <a:lstStyle/>
          <a:p>
            <a:pPr indent="0" marL="0">
              <a:lnSpc>
                <a:spcPts val="3200"/>
              </a:lnSpc>
              <a:buNone/>
            </a:pPr>
            <a:r>
              <a:rPr lang="en-US" sz="2300" dirty="0">
                <a:solidFill>
                  <a:srgbClr val="6FD9D4"/>
                </a:solidFill>
                <a:latin typeface="Telegraf" pitchFamily="34" charset="0"/>
                <a:ea typeface="Telegraf" pitchFamily="34" charset="-122"/>
                <a:cs typeface="Telegraf" pitchFamily="34" charset="-120"/>
              </a:rPr>
              <a:t>Software-defined automation is the third act of a story that started in 1968.</a:t>
            </a:r>
            <a:endParaRPr lang="en-US" sz="2300" dirty="0"/>
          </a:p>
          <a:p>
            <a:pPr indent="0" marL="0">
              <a:lnSpc>
                <a:spcPts val="3200"/>
              </a:lnSpc>
              <a:buNone/>
            </a:pPr>
            <a:r>
              <a:rPr lang="en-US" sz="2300" dirty="0">
                <a:solidFill>
                  <a:srgbClr val="6FD9D4"/>
                </a:solidFill>
                <a:latin typeface="Telegraf" pitchFamily="34" charset="0"/>
                <a:ea typeface="Telegraf" pitchFamily="34" charset="-122"/>
                <a:cs typeface="Telegraf" pitchFamily="34" charset="-120"/>
              </a:rPr>
              <a:t>It finishes the job the PLC started.</a:t>
            </a:r>
            <a:endParaRPr lang="en-US" sz="2300" dirty="0"/>
          </a:p>
        </p:txBody>
      </p:sp>
      <p:sp>
        <p:nvSpPr>
          <p:cNvPr id="7" name="Text 4"/>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64592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64592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THE IDEA</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Cut the seam between logic and hardware</a:t>
            </a:r>
            <a:endParaRPr lang="en-US" sz="3800" dirty="0"/>
          </a:p>
        </p:txBody>
      </p:sp>
      <p:sp>
        <p:nvSpPr>
          <p:cNvPr id="5" name="Shape 3"/>
          <p:cNvSpPr/>
          <p:nvPr/>
        </p:nvSpPr>
        <p:spPr>
          <a:xfrm>
            <a:off x="640080" y="2194560"/>
            <a:ext cx="5212080" cy="3657600"/>
          </a:xfrm>
          <a:prstGeom prst="roundRect">
            <a:avLst>
              <a:gd name="adj" fmla="val 3000"/>
            </a:avLst>
          </a:prstGeom>
          <a:solidFill>
            <a:srgbClr val="161616"/>
          </a:solidFill>
          <a:ln w="12700">
            <a:solidFill>
              <a:srgbClr val="161616"/>
            </a:solidFill>
            <a:prstDash val="solid"/>
          </a:ln>
        </p:spPr>
      </p:sp>
      <p:sp>
        <p:nvSpPr>
          <p:cNvPr id="6" name="Shape 4"/>
          <p:cNvSpPr/>
          <p:nvPr/>
        </p:nvSpPr>
        <p:spPr>
          <a:xfrm>
            <a:off x="1005840" y="2487168"/>
            <a:ext cx="1371600" cy="402336"/>
          </a:xfrm>
          <a:prstGeom prst="roundRect">
            <a:avLst>
              <a:gd name="adj" fmla="val 50000"/>
            </a:avLst>
          </a:prstGeom>
          <a:solidFill>
            <a:srgbClr val="E2231A"/>
          </a:solidFill>
          <a:ln w="12700">
            <a:solidFill>
              <a:srgbClr val="E2231A"/>
            </a:solidFill>
            <a:prstDash val="solid"/>
          </a:ln>
        </p:spPr>
      </p:sp>
      <p:sp>
        <p:nvSpPr>
          <p:cNvPr id="7" name="Text 5"/>
          <p:cNvSpPr/>
          <p:nvPr/>
        </p:nvSpPr>
        <p:spPr>
          <a:xfrm>
            <a:off x="1005840" y="2487168"/>
            <a:ext cx="137160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TODAY</a:t>
            </a:r>
            <a:endParaRPr lang="en-US" sz="1500" dirty="0"/>
          </a:p>
        </p:txBody>
      </p:sp>
      <p:sp>
        <p:nvSpPr>
          <p:cNvPr id="8" name="Text 6"/>
          <p:cNvSpPr/>
          <p:nvPr/>
        </p:nvSpPr>
        <p:spPr>
          <a:xfrm>
            <a:off x="1005840" y="3108960"/>
            <a:ext cx="4526280" cy="868680"/>
          </a:xfrm>
          <a:prstGeom prst="rect">
            <a:avLst/>
          </a:prstGeom>
          <a:noFill/>
          <a:ln/>
        </p:spPr>
        <p:txBody>
          <a:bodyPr wrap="square" lIns="0" tIns="0" rIns="0" bIns="0" rtlCol="0" anchor="t"/>
          <a:lstStyle/>
          <a:p>
            <a:pPr indent="0" marL="0">
              <a:lnSpc>
                <a:spcPts val="3200"/>
              </a:lnSpc>
              <a:buNone/>
            </a:pPr>
            <a:r>
              <a:rPr lang="en-US" sz="2400" b="1" dirty="0">
                <a:solidFill>
                  <a:srgbClr val="FFFFFF"/>
                </a:solidFill>
                <a:latin typeface="Telegraf" pitchFamily="34" charset="0"/>
                <a:ea typeface="Telegraf" pitchFamily="34" charset="-122"/>
                <a:cs typeface="Telegraf" pitchFamily="34" charset="-120"/>
              </a:rPr>
              <a:t>The logic lives inside the controller.</a:t>
            </a:r>
            <a:endParaRPr lang="en-US" sz="2400" dirty="0"/>
          </a:p>
        </p:txBody>
      </p:sp>
      <p:sp>
        <p:nvSpPr>
          <p:cNvPr id="9" name="Text 7"/>
          <p:cNvSpPr/>
          <p:nvPr/>
        </p:nvSpPr>
        <p:spPr>
          <a:xfrm>
            <a:off x="1005840" y="4069080"/>
            <a:ext cx="4526280" cy="1691640"/>
          </a:xfrm>
          <a:prstGeom prst="rect">
            <a:avLst/>
          </a:prstGeom>
          <a:noFill/>
          <a:ln/>
        </p:spPr>
        <p:txBody>
          <a:bodyPr wrap="square" lIns="0" tIns="0" rIns="0" bIns="0" rtlCol="0" anchor="t"/>
          <a:lstStyle/>
          <a:p>
            <a:pPr indent="0" marL="0">
              <a:lnSpc>
                <a:spcPts val="2600"/>
              </a:lnSpc>
              <a:buNone/>
            </a:pPr>
            <a:r>
              <a:rPr lang="en-US" sz="1900" dirty="0">
                <a:solidFill>
                  <a:srgbClr val="FFFFFF"/>
                </a:solidFill>
                <a:latin typeface="Telegraf" pitchFamily="34" charset="0"/>
                <a:ea typeface="Telegraf" pitchFamily="34" charset="-122"/>
                <a:cs typeface="Telegraf" pitchFamily="34" charset="-120"/>
              </a:rPr>
              <a:t>Replace the controller and you rewrite the logic. Change vendors and you start over. The hardware decision is the software decision.</a:t>
            </a:r>
            <a:endParaRPr lang="en-US" sz="1900" dirty="0"/>
          </a:p>
        </p:txBody>
      </p:sp>
      <p:sp>
        <p:nvSpPr>
          <p:cNvPr id="10" name="Shape 8"/>
          <p:cNvSpPr/>
          <p:nvPr/>
        </p:nvSpPr>
        <p:spPr>
          <a:xfrm>
            <a:off x="6336792" y="2194560"/>
            <a:ext cx="5212080" cy="3657600"/>
          </a:xfrm>
          <a:prstGeom prst="roundRect">
            <a:avLst>
              <a:gd name="adj" fmla="val 3000"/>
            </a:avLst>
          </a:prstGeom>
          <a:solidFill>
            <a:srgbClr val="161616"/>
          </a:solidFill>
          <a:ln w="12700">
            <a:solidFill>
              <a:srgbClr val="161616"/>
            </a:solidFill>
            <a:prstDash val="solid"/>
          </a:ln>
        </p:spPr>
      </p:sp>
      <p:sp>
        <p:nvSpPr>
          <p:cNvPr id="11" name="Shape 9"/>
          <p:cNvSpPr/>
          <p:nvPr/>
        </p:nvSpPr>
        <p:spPr>
          <a:xfrm>
            <a:off x="6702552" y="2487168"/>
            <a:ext cx="2926080" cy="402336"/>
          </a:xfrm>
          <a:prstGeom prst="roundRect">
            <a:avLst>
              <a:gd name="adj" fmla="val 50000"/>
            </a:avLst>
          </a:prstGeom>
          <a:solidFill>
            <a:srgbClr val="00A19C"/>
          </a:solidFill>
          <a:ln w="12700">
            <a:solidFill>
              <a:srgbClr val="00A19C"/>
            </a:solidFill>
            <a:prstDash val="solid"/>
          </a:ln>
        </p:spPr>
      </p:sp>
      <p:sp>
        <p:nvSpPr>
          <p:cNvPr id="12" name="Text 10"/>
          <p:cNvSpPr/>
          <p:nvPr/>
        </p:nvSpPr>
        <p:spPr>
          <a:xfrm>
            <a:off x="6702552" y="2487168"/>
            <a:ext cx="29260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SOFTWARE-DEFINED</a:t>
            </a:r>
            <a:endParaRPr lang="en-US" sz="1500" dirty="0"/>
          </a:p>
        </p:txBody>
      </p:sp>
      <p:sp>
        <p:nvSpPr>
          <p:cNvPr id="13" name="Text 11"/>
          <p:cNvSpPr/>
          <p:nvPr/>
        </p:nvSpPr>
        <p:spPr>
          <a:xfrm>
            <a:off x="6702552" y="3108960"/>
            <a:ext cx="4526280" cy="868680"/>
          </a:xfrm>
          <a:prstGeom prst="rect">
            <a:avLst/>
          </a:prstGeom>
          <a:noFill/>
          <a:ln/>
        </p:spPr>
        <p:txBody>
          <a:bodyPr wrap="square" lIns="0" tIns="0" rIns="0" bIns="0" rtlCol="0" anchor="t"/>
          <a:lstStyle/>
          <a:p>
            <a:pPr indent="0" marL="0">
              <a:lnSpc>
                <a:spcPts val="3200"/>
              </a:lnSpc>
              <a:buNone/>
            </a:pPr>
            <a:r>
              <a:rPr lang="en-US" sz="2400" b="1" dirty="0">
                <a:solidFill>
                  <a:srgbClr val="00A19C"/>
                </a:solidFill>
                <a:latin typeface="Telegraf" pitchFamily="34" charset="0"/>
                <a:ea typeface="Telegraf" pitchFamily="34" charset="-122"/>
                <a:cs typeface="Telegraf" pitchFamily="34" charset="-120"/>
              </a:rPr>
              <a:t>The logic is a portable application.</a:t>
            </a:r>
            <a:endParaRPr lang="en-US" sz="2400" dirty="0"/>
          </a:p>
        </p:txBody>
      </p:sp>
      <p:sp>
        <p:nvSpPr>
          <p:cNvPr id="14" name="Text 12"/>
          <p:cNvSpPr/>
          <p:nvPr/>
        </p:nvSpPr>
        <p:spPr>
          <a:xfrm>
            <a:off x="6702552" y="4069080"/>
            <a:ext cx="4526280" cy="1691640"/>
          </a:xfrm>
          <a:prstGeom prst="rect">
            <a:avLst/>
          </a:prstGeom>
          <a:noFill/>
          <a:ln/>
        </p:spPr>
        <p:txBody>
          <a:bodyPr wrap="square" lIns="0" tIns="0" rIns="0" bIns="0" rtlCol="0" anchor="t"/>
          <a:lstStyle/>
          <a:p>
            <a:pPr indent="0" marL="0">
              <a:lnSpc>
                <a:spcPts val="2600"/>
              </a:lnSpc>
              <a:buNone/>
            </a:pPr>
            <a:r>
              <a:rPr lang="en-US" sz="1900" dirty="0">
                <a:solidFill>
                  <a:srgbClr val="FFFFFF"/>
                </a:solidFill>
                <a:latin typeface="Telegraf" pitchFamily="34" charset="0"/>
                <a:ea typeface="Telegraf" pitchFamily="34" charset="-122"/>
                <a:cs typeface="Telegraf" pitchFamily="34" charset="-120"/>
              </a:rPr>
              <a:t>It runs on the hardware you choose, and it keeps running when you choose different hardware. The two decisions come apart.</a:t>
            </a:r>
            <a:endParaRPr lang="en-US" sz="1900" dirty="0"/>
          </a:p>
        </p:txBody>
      </p:sp>
      <p:sp>
        <p:nvSpPr>
          <p:cNvPr id="15" name="Text 13"/>
          <p:cNvSpPr/>
          <p:nvPr/>
        </p:nvSpPr>
        <p:spPr>
          <a:xfrm>
            <a:off x="640080" y="6080760"/>
            <a:ext cx="10332720" cy="457200"/>
          </a:xfrm>
          <a:prstGeom prst="rect">
            <a:avLst/>
          </a:prstGeom>
          <a:noFill/>
          <a:ln/>
        </p:spPr>
        <p:txBody>
          <a:bodyPr wrap="square" lIns="0" tIns="0" rIns="0" bIns="0" rtlCol="0" anchor="ctr"/>
          <a:lstStyle/>
          <a:p>
            <a:pPr indent="0" marL="0">
              <a:buNone/>
            </a:pPr>
            <a:r>
              <a:rPr lang="en-US" sz="2000" i="1" dirty="0">
                <a:solidFill>
                  <a:srgbClr val="3DCD58"/>
                </a:solidFill>
                <a:latin typeface="Telegraf" pitchFamily="34" charset="0"/>
                <a:ea typeface="Telegraf" pitchFamily="34" charset="-122"/>
                <a:cs typeface="Telegraf" pitchFamily="34" charset="-120"/>
              </a:rPr>
              <a:t>That's it. That's the whole technical idea in this talk.</a:t>
            </a:r>
            <a:endParaRPr lang="en-US" sz="2000" dirty="0"/>
          </a:p>
        </p:txBody>
      </p:sp>
      <p:sp>
        <p:nvSpPr>
          <p:cNvPr id="17" name="Text 14"/>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92608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9260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WHAT IT FEELS LIKE</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You already live this way</a:t>
            </a:r>
            <a:endParaRPr lang="en-US" sz="3800" dirty="0"/>
          </a:p>
        </p:txBody>
      </p:sp>
      <p:sp>
        <p:nvSpPr>
          <p:cNvPr id="5" name="Text 3"/>
          <p:cNvSpPr/>
          <p:nvPr/>
        </p:nvSpPr>
        <p:spPr>
          <a:xfrm>
            <a:off x="640080" y="2148840"/>
            <a:ext cx="10515600" cy="1234440"/>
          </a:xfrm>
          <a:prstGeom prst="rect">
            <a:avLst/>
          </a:prstGeom>
          <a:noFill/>
          <a:ln/>
        </p:spPr>
        <p:txBody>
          <a:bodyPr wrap="square" lIns="0" tIns="0" rIns="0" bIns="0" rtlCol="0" anchor="t"/>
          <a:lstStyle/>
          <a:p>
            <a:pPr indent="0" marL="0">
              <a:lnSpc>
                <a:spcPts val="3000"/>
              </a:lnSpc>
              <a:buNone/>
            </a:pPr>
            <a:r>
              <a:rPr lang="en-US" sz="2200" dirty="0">
                <a:solidFill>
                  <a:srgbClr val="FFFFFF"/>
                </a:solidFill>
                <a:latin typeface="Telegraf" pitchFamily="34" charset="0"/>
                <a:ea typeface="Telegraf" pitchFamily="34" charset="-122"/>
                <a:cs typeface="Telegraf" pitchFamily="34" charset="-120"/>
              </a:rPr>
              <a:t>You get in a rental car you've never driven. You plug in your phone. Your maps, your music, your contacts, your layout — on somebody else's dashboard, instantly.</a:t>
            </a:r>
            <a:endParaRPr lang="en-US" sz="2200" dirty="0"/>
          </a:p>
        </p:txBody>
      </p:sp>
      <p:sp>
        <p:nvSpPr>
          <p:cNvPr id="6" name="Text 4"/>
          <p:cNvSpPr/>
          <p:nvPr/>
        </p:nvSpPr>
        <p:spPr>
          <a:xfrm>
            <a:off x="640080" y="3429000"/>
            <a:ext cx="10515600" cy="731520"/>
          </a:xfrm>
          <a:prstGeom prst="rect">
            <a:avLst/>
          </a:prstGeom>
          <a:noFill/>
          <a:ln/>
        </p:spPr>
        <p:txBody>
          <a:bodyPr wrap="square" lIns="0" tIns="0" rIns="0" bIns="0" rtlCol="0" anchor="t"/>
          <a:lstStyle/>
          <a:p>
            <a:pPr indent="0" marL="0">
              <a:buNone/>
            </a:pPr>
            <a:r>
              <a:rPr lang="en-US" sz="2200" b="1" dirty="0">
                <a:solidFill>
                  <a:srgbClr val="FFFFFF"/>
                </a:solidFill>
                <a:latin typeface="Telegraf" pitchFamily="34" charset="0"/>
                <a:ea typeface="Telegraf" pitchFamily="34" charset="-122"/>
                <a:cs typeface="Telegraf" pitchFamily="34" charset="-120"/>
              </a:rPr>
              <a:t>Nobody re-teaches the car. The experience is yours; the hardware is rented.</a:t>
            </a:r>
            <a:endParaRPr lang="en-US" sz="2200" dirty="0"/>
          </a:p>
        </p:txBody>
      </p:sp>
      <p:sp>
        <p:nvSpPr>
          <p:cNvPr id="7" name="Shape 5"/>
          <p:cNvSpPr/>
          <p:nvPr/>
        </p:nvSpPr>
        <p:spPr>
          <a:xfrm>
            <a:off x="640080" y="4251960"/>
            <a:ext cx="5212080" cy="2103120"/>
          </a:xfrm>
          <a:prstGeom prst="roundRect">
            <a:avLst>
              <a:gd name="adj" fmla="val 5217"/>
            </a:avLst>
          </a:prstGeom>
          <a:solidFill>
            <a:srgbClr val="161616"/>
          </a:solidFill>
          <a:ln w="12700">
            <a:solidFill>
              <a:srgbClr val="161616"/>
            </a:solidFill>
            <a:prstDash val="solid"/>
          </a:ln>
        </p:spPr>
      </p:sp>
      <p:sp>
        <p:nvSpPr>
          <p:cNvPr id="8" name="Text 6"/>
          <p:cNvSpPr/>
          <p:nvPr/>
        </p:nvSpPr>
        <p:spPr>
          <a:xfrm>
            <a:off x="1005840" y="4480560"/>
            <a:ext cx="4526280" cy="1828800"/>
          </a:xfrm>
          <a:prstGeom prst="rect">
            <a:avLst/>
          </a:prstGeom>
          <a:noFill/>
          <a:ln/>
        </p:spPr>
        <p:txBody>
          <a:bodyPr wrap="square" lIns="0" tIns="0" rIns="0" bIns="0" rtlCol="0" anchor="t"/>
          <a:lstStyle/>
          <a:p>
            <a:pPr indent="0" marL="0">
              <a:lnSpc>
                <a:spcPts val="2400"/>
              </a:lnSpc>
              <a:buNone/>
            </a:pPr>
            <a:r>
              <a:rPr lang="en-US" sz="1800" b="1" dirty="0">
                <a:solidFill>
                  <a:srgbClr val="9AA3AA"/>
                </a:solidFill>
                <a:latin typeface="Telegraf" pitchFamily="34" charset="0"/>
                <a:ea typeface="Telegraf" pitchFamily="34" charset="-122"/>
                <a:cs typeface="Telegraf" pitchFamily="34" charset="-120"/>
              </a:rPr>
              <a:t>Before CarPlay
</a:t>
            </a:r>
            <a:endParaRPr lang="en-US" sz="1800" dirty="0"/>
          </a:p>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Your navigation was a feature of the car. Buy a different car, learn a different system, lose your saved places.</a:t>
            </a:r>
            <a:endParaRPr lang="en-US" sz="1800" dirty="0"/>
          </a:p>
        </p:txBody>
      </p:sp>
      <p:sp>
        <p:nvSpPr>
          <p:cNvPr id="9" name="Shape 7"/>
          <p:cNvSpPr/>
          <p:nvPr/>
        </p:nvSpPr>
        <p:spPr>
          <a:xfrm>
            <a:off x="6336792" y="4251960"/>
            <a:ext cx="5212080" cy="2103120"/>
          </a:xfrm>
          <a:prstGeom prst="roundRect">
            <a:avLst>
              <a:gd name="adj" fmla="val 5217"/>
            </a:avLst>
          </a:prstGeom>
          <a:solidFill>
            <a:srgbClr val="161616"/>
          </a:solidFill>
          <a:ln w="12700">
            <a:solidFill>
              <a:srgbClr val="161616"/>
            </a:solidFill>
            <a:prstDash val="solid"/>
          </a:ln>
        </p:spPr>
      </p:sp>
      <p:sp>
        <p:nvSpPr>
          <p:cNvPr id="10" name="Text 8"/>
          <p:cNvSpPr/>
          <p:nvPr/>
        </p:nvSpPr>
        <p:spPr>
          <a:xfrm>
            <a:off x="6702552" y="4480560"/>
            <a:ext cx="4526280" cy="1828800"/>
          </a:xfrm>
          <a:prstGeom prst="rect">
            <a:avLst/>
          </a:prstGeom>
          <a:noFill/>
          <a:ln/>
        </p:spPr>
        <p:txBody>
          <a:bodyPr wrap="square" lIns="0" tIns="0" rIns="0" bIns="0" rtlCol="0" anchor="t"/>
          <a:lstStyle/>
          <a:p>
            <a:pPr indent="0" marL="0">
              <a:lnSpc>
                <a:spcPts val="2400"/>
              </a:lnSpc>
              <a:buNone/>
            </a:pPr>
            <a:r>
              <a:rPr lang="en-US" sz="1800" b="1" dirty="0">
                <a:solidFill>
                  <a:srgbClr val="3DCD58"/>
                </a:solidFill>
                <a:latin typeface="Telegraf" pitchFamily="34" charset="0"/>
                <a:ea typeface="Telegraf" pitchFamily="34" charset="-122"/>
                <a:cs typeface="Telegraf" pitchFamily="34" charset="-120"/>
              </a:rPr>
              <a:t>Your plant, today
</a:t>
            </a:r>
            <a:endParaRPr lang="en-US" sz="1800" dirty="0"/>
          </a:p>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Your control logic is a feature of the controller. Buy a different controller, rebuild the logic, retrain the staff.</a:t>
            </a:r>
            <a:endParaRPr lang="en-US" sz="1800" dirty="0"/>
          </a:p>
        </p:txBody>
      </p:sp>
      <p:sp>
        <p:nvSpPr>
          <p:cNvPr id="12" name="Text 9"/>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475488"/>
            <a:ext cx="274320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475488"/>
            <a:ext cx="274320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WHY IT MATTERS</a:t>
            </a:r>
            <a:endParaRPr lang="en-US" sz="1500" dirty="0"/>
          </a:p>
        </p:txBody>
      </p:sp>
      <p:sp>
        <p:nvSpPr>
          <p:cNvPr id="4" name="Text 2"/>
          <p:cNvSpPr/>
          <p:nvPr/>
        </p:nvSpPr>
        <p:spPr>
          <a:xfrm>
            <a:off x="640080" y="1024128"/>
            <a:ext cx="10908792" cy="1051560"/>
          </a:xfrm>
          <a:prstGeom prst="rect">
            <a:avLst/>
          </a:prstGeom>
          <a:noFill/>
          <a:ln/>
        </p:spPr>
        <p:txBody>
          <a:bodyPr wrap="square" lIns="0" tIns="0" rIns="0" bIns="0" rtlCol="0" anchor="t"/>
          <a:lstStyle/>
          <a:p>
            <a:pPr indent="0" marL="0">
              <a:buNone/>
            </a:pPr>
            <a:r>
              <a:rPr lang="en-US" sz="3400" b="1" dirty="0">
                <a:solidFill>
                  <a:srgbClr val="FFFFFF"/>
                </a:solidFill>
                <a:latin typeface="Telegraf" pitchFamily="34" charset="0"/>
                <a:ea typeface="Telegraf" pitchFamily="34" charset="-122"/>
                <a:cs typeface="Telegraf" pitchFamily="34" charset="-120"/>
              </a:rPr>
              <a:t>A better analogy — this one's about ownership</a:t>
            </a:r>
            <a:endParaRPr lang="en-US" sz="3400" dirty="0"/>
          </a:p>
        </p:txBody>
      </p:sp>
      <p:sp>
        <p:nvSpPr>
          <p:cNvPr id="5" name="Text 3"/>
          <p:cNvSpPr/>
          <p:nvPr/>
        </p:nvSpPr>
        <p:spPr>
          <a:xfrm>
            <a:off x="640080" y="2286000"/>
            <a:ext cx="10424160" cy="1188720"/>
          </a:xfrm>
          <a:prstGeom prst="rect">
            <a:avLst/>
          </a:prstGeom>
          <a:noFill/>
          <a:ln/>
        </p:spPr>
        <p:txBody>
          <a:bodyPr wrap="square" lIns="0" tIns="0" rIns="0" bIns="0" rtlCol="0" anchor="t"/>
          <a:lstStyle/>
          <a:p>
            <a:pPr indent="0" marL="0">
              <a:lnSpc>
                <a:spcPts val="3000"/>
              </a:lnSpc>
              <a:buNone/>
            </a:pPr>
            <a:r>
              <a:rPr lang="en-US" sz="2200" dirty="0">
                <a:solidFill>
                  <a:srgbClr val="6FD9D4"/>
                </a:solidFill>
                <a:latin typeface="Telegraf" pitchFamily="34" charset="0"/>
                <a:ea typeface="Telegraf" pitchFamily="34" charset="-122"/>
                <a:cs typeface="Telegraf" pitchFamily="34" charset="-120"/>
              </a:rPr>
              <a:t>Before 1996, your phone number belonged to your carrier. Switching meant giving it up — so almost nobody switched. Not because the service was good.</a:t>
            </a:r>
            <a:endParaRPr lang="en-US" sz="2200" dirty="0"/>
          </a:p>
        </p:txBody>
      </p:sp>
      <p:sp>
        <p:nvSpPr>
          <p:cNvPr id="6" name="Text 4"/>
          <p:cNvSpPr/>
          <p:nvPr/>
        </p:nvSpPr>
        <p:spPr>
          <a:xfrm>
            <a:off x="640080" y="3566160"/>
            <a:ext cx="10424160" cy="1188720"/>
          </a:xfrm>
          <a:prstGeom prst="rect">
            <a:avLst/>
          </a:prstGeom>
          <a:noFill/>
          <a:ln/>
        </p:spPr>
        <p:txBody>
          <a:bodyPr wrap="square" lIns="0" tIns="0" rIns="0" bIns="0" rtlCol="0" anchor="t"/>
          <a:lstStyle/>
          <a:p>
            <a:pPr indent="0" marL="0">
              <a:lnSpc>
                <a:spcPts val="3000"/>
              </a:lnSpc>
              <a:buNone/>
            </a:pPr>
            <a:r>
              <a:rPr lang="en-US" sz="2200" dirty="0">
                <a:solidFill>
                  <a:srgbClr val="FFFFFF"/>
                </a:solidFill>
                <a:latin typeface="Telegraf" pitchFamily="34" charset="0"/>
                <a:ea typeface="Telegraf" pitchFamily="34" charset="-122"/>
                <a:cs typeface="Telegraf" pitchFamily="34" charset="-120"/>
              </a:rPr>
              <a:t>Number portability didn't invent a single new phone. It moved one asset — the number — from the carrier's balance sheet to yours.</a:t>
            </a:r>
            <a:endParaRPr lang="en-US" sz="2200" dirty="0"/>
          </a:p>
        </p:txBody>
      </p:sp>
      <p:sp>
        <p:nvSpPr>
          <p:cNvPr id="7" name="Shape 5"/>
          <p:cNvSpPr/>
          <p:nvPr/>
        </p:nvSpPr>
        <p:spPr>
          <a:xfrm>
            <a:off x="640080" y="4846320"/>
            <a:ext cx="10908792" cy="1600200"/>
          </a:xfrm>
          <a:prstGeom prst="roundRect">
            <a:avLst>
              <a:gd name="adj" fmla="val 8000"/>
            </a:avLst>
          </a:prstGeom>
          <a:solidFill>
            <a:srgbClr val="1B1B1B"/>
          </a:solidFill>
          <a:ln w="12700">
            <a:solidFill>
              <a:srgbClr val="1B1B1B"/>
            </a:solidFill>
            <a:prstDash val="solid"/>
          </a:ln>
        </p:spPr>
      </p:sp>
      <p:sp>
        <p:nvSpPr>
          <p:cNvPr id="8" name="Text 6"/>
          <p:cNvSpPr/>
          <p:nvPr/>
        </p:nvSpPr>
        <p:spPr>
          <a:xfrm>
            <a:off x="1051560" y="5074920"/>
            <a:ext cx="10058400" cy="1234440"/>
          </a:xfrm>
          <a:prstGeom prst="rect">
            <a:avLst/>
          </a:prstGeom>
          <a:noFill/>
          <a:ln/>
        </p:spPr>
        <p:txBody>
          <a:bodyPr wrap="square" lIns="0" tIns="0" rIns="0" bIns="0" rtlCol="0" anchor="t"/>
          <a:lstStyle/>
          <a:p>
            <a:pPr indent="0" marL="0">
              <a:lnSpc>
                <a:spcPts val="3000"/>
              </a:lnSpc>
              <a:buNone/>
            </a:pPr>
            <a:r>
              <a:rPr lang="en-US" sz="2200" b="1" dirty="0">
                <a:solidFill>
                  <a:srgbClr val="3DCD58"/>
                </a:solidFill>
                <a:latin typeface="Telegraf" pitchFamily="34" charset="0"/>
                <a:ea typeface="Telegraf" pitchFamily="34" charset="-122"/>
                <a:cs typeface="Telegraf" pitchFamily="34" charset="-120"/>
              </a:rPr>
              <a:t>Software-defined automation does that for control logic. Same plant, same pumps, same people — the thing that changes hands is who owns the application.</a:t>
            </a:r>
            <a:endParaRPr lang="en-US" sz="2200" dirty="0"/>
          </a:p>
        </p:txBody>
      </p:sp>
      <p:sp>
        <p:nvSpPr>
          <p:cNvPr id="10" name="Text 7"/>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01168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0116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IN PRACTICE</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What that buys an operations team</a:t>
            </a:r>
            <a:endParaRPr lang="en-US" sz="3800" dirty="0"/>
          </a:p>
        </p:txBody>
      </p:sp>
      <p:sp>
        <p:nvSpPr>
          <p:cNvPr id="5" name="Shape 3"/>
          <p:cNvSpPr/>
          <p:nvPr/>
        </p:nvSpPr>
        <p:spPr>
          <a:xfrm>
            <a:off x="640080" y="2194560"/>
            <a:ext cx="5303520" cy="1783080"/>
          </a:xfrm>
          <a:prstGeom prst="roundRect">
            <a:avLst>
              <a:gd name="adj" fmla="val 6154"/>
            </a:avLst>
          </a:prstGeom>
          <a:solidFill>
            <a:srgbClr val="161616"/>
          </a:solidFill>
          <a:ln w="12700">
            <a:solidFill>
              <a:srgbClr val="161616"/>
            </a:solidFill>
            <a:prstDash val="solid"/>
          </a:ln>
        </p:spPr>
      </p:sp>
      <p:sp>
        <p:nvSpPr>
          <p:cNvPr id="6" name="Text 4"/>
          <p:cNvSpPr/>
          <p:nvPr/>
        </p:nvSpPr>
        <p:spPr>
          <a:xfrm>
            <a:off x="1005840" y="2414016"/>
            <a:ext cx="4617720" cy="502920"/>
          </a:xfrm>
          <a:prstGeom prst="rect">
            <a:avLst/>
          </a:prstGeom>
          <a:noFill/>
          <a:ln/>
        </p:spPr>
        <p:txBody>
          <a:bodyPr wrap="square" lIns="0" tIns="0" rIns="0" bIns="0" rtlCol="0" anchor="ctr"/>
          <a:lstStyle/>
          <a:p>
            <a:pPr indent="0" marL="0">
              <a:buNone/>
            </a:pPr>
            <a:r>
              <a:rPr lang="en-US" sz="2000" b="1" dirty="0">
                <a:solidFill>
                  <a:srgbClr val="00A19C"/>
                </a:solidFill>
                <a:latin typeface="Telegraf" pitchFamily="34" charset="0"/>
                <a:ea typeface="Telegraf" pitchFamily="34" charset="-122"/>
                <a:cs typeface="Telegraf" pitchFamily="34" charset="-120"/>
              </a:rPr>
              <a:t>Test before you touch</a:t>
            </a:r>
            <a:endParaRPr lang="en-US" sz="2000" dirty="0"/>
          </a:p>
        </p:txBody>
      </p:sp>
      <p:sp>
        <p:nvSpPr>
          <p:cNvPr id="7" name="Text 5"/>
          <p:cNvSpPr/>
          <p:nvPr/>
        </p:nvSpPr>
        <p:spPr>
          <a:xfrm>
            <a:off x="1005840" y="2944368"/>
            <a:ext cx="4617720" cy="96012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Run the logic against a simulated plant on a laptop. Prove the change works before it goes near a live process.</a:t>
            </a:r>
            <a:endParaRPr lang="en-US" sz="1700" dirty="0"/>
          </a:p>
        </p:txBody>
      </p:sp>
      <p:sp>
        <p:nvSpPr>
          <p:cNvPr id="8" name="Shape 6"/>
          <p:cNvSpPr/>
          <p:nvPr/>
        </p:nvSpPr>
        <p:spPr>
          <a:xfrm>
            <a:off x="6245352" y="2194560"/>
            <a:ext cx="5303520" cy="1783080"/>
          </a:xfrm>
          <a:prstGeom prst="roundRect">
            <a:avLst>
              <a:gd name="adj" fmla="val 6154"/>
            </a:avLst>
          </a:prstGeom>
          <a:solidFill>
            <a:srgbClr val="161616"/>
          </a:solidFill>
          <a:ln w="12700">
            <a:solidFill>
              <a:srgbClr val="161616"/>
            </a:solidFill>
            <a:prstDash val="solid"/>
          </a:ln>
        </p:spPr>
      </p:sp>
      <p:sp>
        <p:nvSpPr>
          <p:cNvPr id="9" name="Text 7"/>
          <p:cNvSpPr/>
          <p:nvPr/>
        </p:nvSpPr>
        <p:spPr>
          <a:xfrm>
            <a:off x="6611112" y="2414016"/>
            <a:ext cx="4617720" cy="502920"/>
          </a:xfrm>
          <a:prstGeom prst="rect">
            <a:avLst/>
          </a:prstGeom>
          <a:noFill/>
          <a:ln/>
        </p:spPr>
        <p:txBody>
          <a:bodyPr wrap="square" lIns="0" tIns="0" rIns="0" bIns="0" rtlCol="0" anchor="ctr"/>
          <a:lstStyle/>
          <a:p>
            <a:pPr indent="0" marL="0">
              <a:buNone/>
            </a:pPr>
            <a:r>
              <a:rPr lang="en-US" sz="2000" b="1" dirty="0">
                <a:solidFill>
                  <a:srgbClr val="00A19C"/>
                </a:solidFill>
                <a:latin typeface="Telegraf" pitchFamily="34" charset="0"/>
                <a:ea typeface="Telegraf" pitchFamily="34" charset="-122"/>
                <a:cs typeface="Telegraf" pitchFamily="34" charset="-120"/>
              </a:rPr>
              <a:t>Recover by redeploy</a:t>
            </a:r>
            <a:endParaRPr lang="en-US" sz="2000" dirty="0"/>
          </a:p>
        </p:txBody>
      </p:sp>
      <p:sp>
        <p:nvSpPr>
          <p:cNvPr id="10" name="Text 8"/>
          <p:cNvSpPr/>
          <p:nvPr/>
        </p:nvSpPr>
        <p:spPr>
          <a:xfrm>
            <a:off x="6611112" y="2944368"/>
            <a:ext cx="4617720" cy="96012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A failed node isn't a hunt for a discontinued card. The application redeploys onto working hardware.</a:t>
            </a:r>
            <a:endParaRPr lang="en-US" sz="1700" dirty="0"/>
          </a:p>
        </p:txBody>
      </p:sp>
      <p:sp>
        <p:nvSpPr>
          <p:cNvPr id="11" name="Shape 9"/>
          <p:cNvSpPr/>
          <p:nvPr/>
        </p:nvSpPr>
        <p:spPr>
          <a:xfrm>
            <a:off x="640080" y="4160520"/>
            <a:ext cx="5303520" cy="1783080"/>
          </a:xfrm>
          <a:prstGeom prst="roundRect">
            <a:avLst>
              <a:gd name="adj" fmla="val 6154"/>
            </a:avLst>
          </a:prstGeom>
          <a:solidFill>
            <a:srgbClr val="161616"/>
          </a:solidFill>
          <a:ln w="12700">
            <a:solidFill>
              <a:srgbClr val="161616"/>
            </a:solidFill>
            <a:prstDash val="solid"/>
          </a:ln>
        </p:spPr>
      </p:sp>
      <p:sp>
        <p:nvSpPr>
          <p:cNvPr id="12" name="Text 10"/>
          <p:cNvSpPr/>
          <p:nvPr/>
        </p:nvSpPr>
        <p:spPr>
          <a:xfrm>
            <a:off x="1005840" y="4379976"/>
            <a:ext cx="4617720" cy="502920"/>
          </a:xfrm>
          <a:prstGeom prst="rect">
            <a:avLst/>
          </a:prstGeom>
          <a:noFill/>
          <a:ln/>
        </p:spPr>
        <p:txBody>
          <a:bodyPr wrap="square" lIns="0" tIns="0" rIns="0" bIns="0" rtlCol="0" anchor="ctr"/>
          <a:lstStyle/>
          <a:p>
            <a:pPr indent="0" marL="0">
              <a:buNone/>
            </a:pPr>
            <a:r>
              <a:rPr lang="en-US" sz="2000" b="1" dirty="0">
                <a:solidFill>
                  <a:srgbClr val="00A19C"/>
                </a:solidFill>
                <a:latin typeface="Telegraf" pitchFamily="34" charset="0"/>
                <a:ea typeface="Telegraf" pitchFamily="34" charset="-122"/>
                <a:cs typeface="Telegraf" pitchFamily="34" charset="-120"/>
              </a:rPr>
              <a:t>Write once, deploy everywhere</a:t>
            </a:r>
            <a:endParaRPr lang="en-US" sz="2000" dirty="0"/>
          </a:p>
        </p:txBody>
      </p:sp>
      <p:sp>
        <p:nvSpPr>
          <p:cNvPr id="13" name="Text 11"/>
          <p:cNvSpPr/>
          <p:nvPr/>
        </p:nvSpPr>
        <p:spPr>
          <a:xfrm>
            <a:off x="1005840" y="4910328"/>
            <a:ext cx="4617720" cy="96012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One lift-station sequence, written once, deployed to forty sites instead of re-engineered forty times.</a:t>
            </a:r>
            <a:endParaRPr lang="en-US" sz="1700" dirty="0"/>
          </a:p>
        </p:txBody>
      </p:sp>
      <p:sp>
        <p:nvSpPr>
          <p:cNvPr id="14" name="Shape 12"/>
          <p:cNvSpPr/>
          <p:nvPr/>
        </p:nvSpPr>
        <p:spPr>
          <a:xfrm>
            <a:off x="6245352" y="4160520"/>
            <a:ext cx="5303520" cy="1783080"/>
          </a:xfrm>
          <a:prstGeom prst="roundRect">
            <a:avLst>
              <a:gd name="adj" fmla="val 6154"/>
            </a:avLst>
          </a:prstGeom>
          <a:solidFill>
            <a:srgbClr val="161616"/>
          </a:solidFill>
          <a:ln w="12700">
            <a:solidFill>
              <a:srgbClr val="161616"/>
            </a:solidFill>
            <a:prstDash val="solid"/>
          </a:ln>
        </p:spPr>
      </p:sp>
      <p:sp>
        <p:nvSpPr>
          <p:cNvPr id="15" name="Text 13"/>
          <p:cNvSpPr/>
          <p:nvPr/>
        </p:nvSpPr>
        <p:spPr>
          <a:xfrm>
            <a:off x="6611112" y="4379976"/>
            <a:ext cx="4617720" cy="502920"/>
          </a:xfrm>
          <a:prstGeom prst="rect">
            <a:avLst/>
          </a:prstGeom>
          <a:noFill/>
          <a:ln/>
        </p:spPr>
        <p:txBody>
          <a:bodyPr wrap="square" lIns="0" tIns="0" rIns="0" bIns="0" rtlCol="0" anchor="ctr"/>
          <a:lstStyle/>
          <a:p>
            <a:pPr indent="0" marL="0">
              <a:buNone/>
            </a:pPr>
            <a:r>
              <a:rPr lang="en-US" sz="2000" b="1" dirty="0">
                <a:solidFill>
                  <a:srgbClr val="00A19C"/>
                </a:solidFill>
                <a:latin typeface="Telegraf" pitchFamily="34" charset="0"/>
                <a:ea typeface="Telegraf" pitchFamily="34" charset="-122"/>
                <a:cs typeface="Telegraf" pitchFamily="34" charset="-120"/>
              </a:rPr>
              <a:t>Get data out without a new box</a:t>
            </a:r>
            <a:endParaRPr lang="en-US" sz="2000" dirty="0"/>
          </a:p>
        </p:txBody>
      </p:sp>
      <p:sp>
        <p:nvSpPr>
          <p:cNvPr id="16" name="Text 14"/>
          <p:cNvSpPr/>
          <p:nvPr/>
        </p:nvSpPr>
        <p:spPr>
          <a:xfrm>
            <a:off x="6611112" y="4910328"/>
            <a:ext cx="4617720" cy="96012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Data access stops being a bolt-on middleware project and becomes part of the control application itself.</a:t>
            </a:r>
            <a:endParaRPr lang="en-US" sz="1700" dirty="0"/>
          </a:p>
        </p:txBody>
      </p:sp>
      <p:sp>
        <p:nvSpPr>
          <p:cNvPr id="17" name="Text 15"/>
          <p:cNvSpPr/>
          <p:nvPr/>
        </p:nvSpPr>
        <p:spPr>
          <a:xfrm>
            <a:off x="640080" y="6126480"/>
            <a:ext cx="10332720" cy="457200"/>
          </a:xfrm>
          <a:prstGeom prst="rect">
            <a:avLst/>
          </a:prstGeom>
          <a:noFill/>
          <a:ln/>
        </p:spPr>
        <p:txBody>
          <a:bodyPr wrap="square" lIns="0" tIns="0" rIns="0" bIns="0" rtlCol="0" anchor="ctr"/>
          <a:lstStyle/>
          <a:p>
            <a:pPr indent="0" marL="0">
              <a:buNone/>
            </a:pPr>
            <a:r>
              <a:rPr lang="en-US" sz="2000" i="1" dirty="0">
                <a:solidFill>
                  <a:srgbClr val="3DCD58"/>
                </a:solidFill>
                <a:latin typeface="Telegraf" pitchFamily="34" charset="0"/>
                <a:ea typeface="Telegraf" pitchFamily="34" charset="-122"/>
                <a:cs typeface="Telegraf" pitchFamily="34" charset="-120"/>
              </a:rPr>
              <a:t>Notice none of these are features. They're all consequences of one decision.</a:t>
            </a:r>
            <a:endParaRPr lang="en-US" sz="2000" dirty="0"/>
          </a:p>
        </p:txBody>
      </p:sp>
      <p:sp>
        <p:nvSpPr>
          <p:cNvPr id="19" name="Text 16"/>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475488"/>
            <a:ext cx="246888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475488"/>
            <a:ext cx="246888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THE FINE PRINT</a:t>
            </a:r>
            <a:endParaRPr lang="en-US" sz="1500" dirty="0"/>
          </a:p>
        </p:txBody>
      </p:sp>
      <p:sp>
        <p:nvSpPr>
          <p:cNvPr id="4" name="Text 2"/>
          <p:cNvSpPr/>
          <p:nvPr/>
        </p:nvSpPr>
        <p:spPr>
          <a:xfrm>
            <a:off x="640080" y="1024128"/>
            <a:ext cx="10908792" cy="1051560"/>
          </a:xfrm>
          <a:prstGeom prst="rect">
            <a:avLst/>
          </a:prstGeom>
          <a:noFill/>
          <a:ln/>
        </p:spPr>
        <p:txBody>
          <a:bodyPr wrap="square" lIns="0" tIns="0" rIns="0" bIns="0" rtlCol="0" anchor="t"/>
          <a:lstStyle/>
          <a:p>
            <a:pPr indent="0" marL="0">
              <a:buNone/>
            </a:pPr>
            <a:r>
              <a:rPr lang="en-US" sz="3400" b="1" dirty="0">
                <a:solidFill>
                  <a:srgbClr val="FFFFFF"/>
                </a:solidFill>
                <a:latin typeface="Telegraf" pitchFamily="34" charset="0"/>
                <a:ea typeface="Telegraf" pitchFamily="34" charset="-122"/>
                <a:cs typeface="Telegraf" pitchFamily="34" charset="-120"/>
              </a:rPr>
              <a:t>"Software-defined" is not the same as "open"</a:t>
            </a:r>
            <a:endParaRPr lang="en-US" sz="3400" dirty="0"/>
          </a:p>
        </p:txBody>
      </p:sp>
      <p:sp>
        <p:nvSpPr>
          <p:cNvPr id="5" name="Text 3"/>
          <p:cNvSpPr/>
          <p:nvPr/>
        </p:nvSpPr>
        <p:spPr>
          <a:xfrm>
            <a:off x="640080" y="2194560"/>
            <a:ext cx="10515600" cy="731520"/>
          </a:xfrm>
          <a:prstGeom prst="rect">
            <a:avLst/>
          </a:prstGeom>
          <a:noFill/>
          <a:ln/>
        </p:spPr>
        <p:txBody>
          <a:bodyPr wrap="square" lIns="0" tIns="0" rIns="0" bIns="0" rtlCol="0" anchor="t"/>
          <a:lstStyle/>
          <a:p>
            <a:pPr indent="0" marL="0">
              <a:buNone/>
            </a:pPr>
            <a:r>
              <a:rPr lang="en-US" sz="2100" dirty="0">
                <a:solidFill>
                  <a:srgbClr val="6FD9D4"/>
                </a:solidFill>
                <a:latin typeface="Telegraf" pitchFamily="34" charset="0"/>
                <a:ea typeface="Telegraf" pitchFamily="34" charset="-122"/>
                <a:cs typeface="Telegraf" pitchFamily="34" charset="-120"/>
              </a:rPr>
              <a:t>This is the question to ask every vendor who shows up at your plant with this pitch — including mine.</a:t>
            </a:r>
            <a:endParaRPr lang="en-US" sz="2100" dirty="0"/>
          </a:p>
        </p:txBody>
      </p:sp>
      <p:sp>
        <p:nvSpPr>
          <p:cNvPr id="6" name="Shape 4"/>
          <p:cNvSpPr/>
          <p:nvPr/>
        </p:nvSpPr>
        <p:spPr>
          <a:xfrm>
            <a:off x="640080" y="2971800"/>
            <a:ext cx="5212080" cy="2971800"/>
          </a:xfrm>
          <a:prstGeom prst="roundRect">
            <a:avLst>
              <a:gd name="adj" fmla="val 3692"/>
            </a:avLst>
          </a:prstGeom>
          <a:solidFill>
            <a:srgbClr val="1B1B1B"/>
          </a:solidFill>
          <a:ln w="12700">
            <a:solidFill>
              <a:srgbClr val="1B1B1B"/>
            </a:solidFill>
            <a:prstDash val="solid"/>
          </a:ln>
        </p:spPr>
      </p:sp>
      <p:sp>
        <p:nvSpPr>
          <p:cNvPr id="7" name="Text 5"/>
          <p:cNvSpPr/>
          <p:nvPr/>
        </p:nvSpPr>
        <p:spPr>
          <a:xfrm>
            <a:off x="1005840" y="3200400"/>
            <a:ext cx="4526280" cy="457200"/>
          </a:xfrm>
          <a:prstGeom prst="rect">
            <a:avLst/>
          </a:prstGeom>
          <a:noFill/>
          <a:ln/>
        </p:spPr>
        <p:txBody>
          <a:bodyPr wrap="square" lIns="0" tIns="0" rIns="0" bIns="0" rtlCol="0" anchor="ctr"/>
          <a:lstStyle/>
          <a:p>
            <a:pPr indent="0" marL="0">
              <a:buNone/>
            </a:pPr>
            <a:r>
              <a:rPr lang="en-US" sz="2500" b="1" dirty="0">
                <a:solidFill>
                  <a:srgbClr val="00A19C"/>
                </a:solidFill>
                <a:latin typeface="Telegraf" pitchFamily="34" charset="0"/>
                <a:ea typeface="Telegraf" pitchFamily="34" charset="-122"/>
                <a:cs typeface="Telegraf" pitchFamily="34" charset="-120"/>
              </a:rPr>
              <a:t>Software-defined</a:t>
            </a:r>
            <a:endParaRPr lang="en-US" sz="2500" dirty="0"/>
          </a:p>
        </p:txBody>
      </p:sp>
      <p:sp>
        <p:nvSpPr>
          <p:cNvPr id="8" name="Text 6"/>
          <p:cNvSpPr/>
          <p:nvPr/>
        </p:nvSpPr>
        <p:spPr>
          <a:xfrm>
            <a:off x="1005840" y="3730752"/>
            <a:ext cx="4526280" cy="1417320"/>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The vendor's stack, virtualized. It runs in a container now — but it's still their runtime, their tools, their hardware roadmap.</a:t>
            </a:r>
            <a:endParaRPr lang="en-US" sz="1800" dirty="0"/>
          </a:p>
        </p:txBody>
      </p:sp>
      <p:sp>
        <p:nvSpPr>
          <p:cNvPr id="9" name="Text 7"/>
          <p:cNvSpPr/>
          <p:nvPr/>
        </p:nvSpPr>
        <p:spPr>
          <a:xfrm>
            <a:off x="1005840" y="5166360"/>
            <a:ext cx="4526280" cy="685800"/>
          </a:xfrm>
          <a:prstGeom prst="rect">
            <a:avLst/>
          </a:prstGeom>
          <a:noFill/>
          <a:ln/>
        </p:spPr>
        <p:txBody>
          <a:bodyPr wrap="square" lIns="0" tIns="0" rIns="0" bIns="0" rtlCol="0" anchor="t"/>
          <a:lstStyle/>
          <a:p>
            <a:pPr indent="0" marL="0">
              <a:lnSpc>
                <a:spcPts val="2400"/>
              </a:lnSpc>
              <a:buNone/>
            </a:pPr>
            <a:r>
              <a:rPr lang="en-US" sz="1800" b="1" i="1" dirty="0">
                <a:solidFill>
                  <a:srgbClr val="E2231A"/>
                </a:solidFill>
                <a:latin typeface="Telegraf" pitchFamily="34" charset="0"/>
                <a:ea typeface="Telegraf" pitchFamily="34" charset="-122"/>
                <a:cs typeface="Telegraf" pitchFamily="34" charset="-120"/>
              </a:rPr>
              <a:t>You changed where the lock-in lives. You didn't remove it.</a:t>
            </a:r>
            <a:endParaRPr lang="en-US" sz="1800" dirty="0"/>
          </a:p>
        </p:txBody>
      </p:sp>
      <p:sp>
        <p:nvSpPr>
          <p:cNvPr id="10" name="Shape 8"/>
          <p:cNvSpPr/>
          <p:nvPr/>
        </p:nvSpPr>
        <p:spPr>
          <a:xfrm>
            <a:off x="6336792" y="2971800"/>
            <a:ext cx="5212080" cy="2971800"/>
          </a:xfrm>
          <a:prstGeom prst="roundRect">
            <a:avLst>
              <a:gd name="adj" fmla="val 3692"/>
            </a:avLst>
          </a:prstGeom>
          <a:solidFill>
            <a:srgbClr val="1B1B1B"/>
          </a:solidFill>
          <a:ln w="12700">
            <a:solidFill>
              <a:srgbClr val="1B1B1B"/>
            </a:solidFill>
            <a:prstDash val="solid"/>
          </a:ln>
        </p:spPr>
      </p:sp>
      <p:sp>
        <p:nvSpPr>
          <p:cNvPr id="11" name="Text 9"/>
          <p:cNvSpPr/>
          <p:nvPr/>
        </p:nvSpPr>
        <p:spPr>
          <a:xfrm>
            <a:off x="6702552" y="3200400"/>
            <a:ext cx="4526280" cy="457200"/>
          </a:xfrm>
          <a:prstGeom prst="rect">
            <a:avLst/>
          </a:prstGeom>
          <a:noFill/>
          <a:ln/>
        </p:spPr>
        <p:txBody>
          <a:bodyPr wrap="square" lIns="0" tIns="0" rIns="0" bIns="0" rtlCol="0" anchor="ctr"/>
          <a:lstStyle/>
          <a:p>
            <a:pPr indent="0" marL="0">
              <a:buNone/>
            </a:pPr>
            <a:r>
              <a:rPr lang="en-US" sz="2500" b="1" dirty="0">
                <a:solidFill>
                  <a:srgbClr val="3DCD58"/>
                </a:solidFill>
                <a:latin typeface="Telegraf" pitchFamily="34" charset="0"/>
                <a:ea typeface="Telegraf" pitchFamily="34" charset="-122"/>
                <a:cs typeface="Telegraf" pitchFamily="34" charset="-120"/>
              </a:rPr>
              <a:t>Open software-defined</a:t>
            </a:r>
            <a:endParaRPr lang="en-US" sz="2500" dirty="0"/>
          </a:p>
        </p:txBody>
      </p:sp>
      <p:sp>
        <p:nvSpPr>
          <p:cNvPr id="12" name="Text 10"/>
          <p:cNvSpPr/>
          <p:nvPr/>
        </p:nvSpPr>
        <p:spPr>
          <a:xfrm>
            <a:off x="6702552" y="3730752"/>
            <a:ext cx="4526280" cy="1417320"/>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A shared runtime any vendor can implement, built on a public standard. Your application is portable across manufacturers.</a:t>
            </a:r>
            <a:endParaRPr lang="en-US" sz="1800" dirty="0"/>
          </a:p>
        </p:txBody>
      </p:sp>
      <p:sp>
        <p:nvSpPr>
          <p:cNvPr id="13" name="Text 11"/>
          <p:cNvSpPr/>
          <p:nvPr/>
        </p:nvSpPr>
        <p:spPr>
          <a:xfrm>
            <a:off x="6702552" y="5166360"/>
            <a:ext cx="4526280" cy="685800"/>
          </a:xfrm>
          <a:prstGeom prst="rect">
            <a:avLst/>
          </a:prstGeom>
          <a:noFill/>
          <a:ln/>
        </p:spPr>
        <p:txBody>
          <a:bodyPr wrap="square" lIns="0" tIns="0" rIns="0" bIns="0" rtlCol="0" anchor="t"/>
          <a:lstStyle/>
          <a:p>
            <a:pPr indent="0" marL="0">
              <a:lnSpc>
                <a:spcPts val="2400"/>
              </a:lnSpc>
              <a:buNone/>
            </a:pPr>
            <a:r>
              <a:rPr lang="en-US" sz="1800" b="1" i="1" dirty="0">
                <a:solidFill>
                  <a:srgbClr val="3DCD58"/>
                </a:solidFill>
                <a:latin typeface="Telegraf" pitchFamily="34" charset="0"/>
                <a:ea typeface="Telegraf" pitchFamily="34" charset="-122"/>
                <a:cs typeface="Telegraf" pitchFamily="34" charset="-120"/>
              </a:rPr>
              <a:t>The lock-in is actually gone — including ours.</a:t>
            </a:r>
            <a:endParaRPr lang="en-US" sz="1800" dirty="0"/>
          </a:p>
        </p:txBody>
      </p:sp>
      <p:sp>
        <p:nvSpPr>
          <p:cNvPr id="15" name="Text 12"/>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83464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83464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OPEN, SPECIFICALLY</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There is an actual standard behind this</a:t>
            </a:r>
            <a:endParaRPr lang="en-US" sz="3800" dirty="0"/>
          </a:p>
        </p:txBody>
      </p:sp>
      <p:sp>
        <p:nvSpPr>
          <p:cNvPr id="5" name="Shape 3"/>
          <p:cNvSpPr/>
          <p:nvPr/>
        </p:nvSpPr>
        <p:spPr>
          <a:xfrm>
            <a:off x="640080" y="2194560"/>
            <a:ext cx="5212080" cy="2057400"/>
          </a:xfrm>
          <a:prstGeom prst="roundRect">
            <a:avLst>
              <a:gd name="adj" fmla="val 5333"/>
            </a:avLst>
          </a:prstGeom>
          <a:solidFill>
            <a:srgbClr val="161616"/>
          </a:solidFill>
          <a:ln w="12700">
            <a:solidFill>
              <a:srgbClr val="161616"/>
            </a:solidFill>
            <a:prstDash val="solid"/>
          </a:ln>
        </p:spPr>
      </p:sp>
      <p:sp>
        <p:nvSpPr>
          <p:cNvPr id="6" name="Text 4"/>
          <p:cNvSpPr/>
          <p:nvPr/>
        </p:nvSpPr>
        <p:spPr>
          <a:xfrm>
            <a:off x="1005840" y="2395728"/>
            <a:ext cx="4526280" cy="457200"/>
          </a:xfrm>
          <a:prstGeom prst="rect">
            <a:avLst/>
          </a:prstGeom>
          <a:noFill/>
          <a:ln/>
        </p:spPr>
        <p:txBody>
          <a:bodyPr wrap="square" lIns="0" tIns="0" rIns="0" bIns="0" rtlCol="0" anchor="ctr"/>
          <a:lstStyle/>
          <a:p>
            <a:pPr indent="0" marL="0">
              <a:buNone/>
            </a:pPr>
            <a:r>
              <a:rPr lang="en-US" sz="2600" b="1" dirty="0">
                <a:solidFill>
                  <a:srgbClr val="00A19C"/>
                </a:solidFill>
                <a:latin typeface="Telegraf" pitchFamily="34" charset="0"/>
                <a:ea typeface="Telegraf" pitchFamily="34" charset="-122"/>
                <a:cs typeface="Telegraf" pitchFamily="34" charset="-120"/>
              </a:rPr>
              <a:t>IEC 61499</a:t>
            </a:r>
            <a:endParaRPr lang="en-US" sz="2600" dirty="0"/>
          </a:p>
        </p:txBody>
      </p:sp>
      <p:sp>
        <p:nvSpPr>
          <p:cNvPr id="7" name="Text 5"/>
          <p:cNvSpPr/>
          <p:nvPr/>
        </p:nvSpPr>
        <p:spPr>
          <a:xfrm>
            <a:off x="1005840" y="2926080"/>
            <a:ext cx="4526280" cy="118872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An international standard for portable, distributed control applications — the successor thinking to the IEC 61131-3 languages you already use.</a:t>
            </a:r>
            <a:endParaRPr lang="en-US" sz="1700" dirty="0"/>
          </a:p>
        </p:txBody>
      </p:sp>
      <p:sp>
        <p:nvSpPr>
          <p:cNvPr id="8" name="Shape 6"/>
          <p:cNvSpPr/>
          <p:nvPr/>
        </p:nvSpPr>
        <p:spPr>
          <a:xfrm>
            <a:off x="6336792" y="2194560"/>
            <a:ext cx="5212080" cy="2057400"/>
          </a:xfrm>
          <a:prstGeom prst="roundRect">
            <a:avLst>
              <a:gd name="adj" fmla="val 5333"/>
            </a:avLst>
          </a:prstGeom>
          <a:solidFill>
            <a:srgbClr val="161616"/>
          </a:solidFill>
          <a:ln w="12700">
            <a:solidFill>
              <a:srgbClr val="161616"/>
            </a:solidFill>
            <a:prstDash val="solid"/>
          </a:ln>
        </p:spPr>
      </p:sp>
      <p:sp>
        <p:nvSpPr>
          <p:cNvPr id="9" name="Text 7"/>
          <p:cNvSpPr/>
          <p:nvPr/>
        </p:nvSpPr>
        <p:spPr>
          <a:xfrm>
            <a:off x="6702552" y="2395728"/>
            <a:ext cx="4526280" cy="457200"/>
          </a:xfrm>
          <a:prstGeom prst="rect">
            <a:avLst/>
          </a:prstGeom>
          <a:noFill/>
          <a:ln/>
        </p:spPr>
        <p:txBody>
          <a:bodyPr wrap="square" lIns="0" tIns="0" rIns="0" bIns="0" rtlCol="0" anchor="ctr"/>
          <a:lstStyle/>
          <a:p>
            <a:pPr indent="0" marL="0">
              <a:buNone/>
            </a:pPr>
            <a:r>
              <a:rPr lang="en-US" sz="2600" b="1" dirty="0">
                <a:solidFill>
                  <a:srgbClr val="00A19C"/>
                </a:solidFill>
                <a:latin typeface="Telegraf" pitchFamily="34" charset="0"/>
                <a:ea typeface="Telegraf" pitchFamily="34" charset="-122"/>
                <a:cs typeface="Telegraf" pitchFamily="34" charset="-120"/>
              </a:rPr>
              <a:t>UniversalAutomation.org</a:t>
            </a:r>
            <a:endParaRPr lang="en-US" sz="2600" dirty="0"/>
          </a:p>
        </p:txBody>
      </p:sp>
      <p:sp>
        <p:nvSpPr>
          <p:cNvPr id="10" name="Text 8"/>
          <p:cNvSpPr/>
          <p:nvPr/>
        </p:nvSpPr>
        <p:spPr>
          <a:xfrm>
            <a:off x="6702552" y="2926080"/>
            <a:ext cx="4526280" cy="1188720"/>
          </a:xfrm>
          <a:prstGeom prst="rect">
            <a:avLst/>
          </a:prstGeom>
          <a:noFill/>
          <a:ln/>
        </p:spPr>
        <p:txBody>
          <a:bodyPr wrap="square" lIns="0" tIns="0" rIns="0" bIns="0" rtlCol="0" anchor="t"/>
          <a:lstStyle/>
          <a:p>
            <a:pPr indent="0" marL="0">
              <a:lnSpc>
                <a:spcPts val="2200"/>
              </a:lnSpc>
              <a:buNone/>
            </a:pPr>
            <a:r>
              <a:rPr lang="en-US" sz="1700" dirty="0">
                <a:solidFill>
                  <a:srgbClr val="FFFFFF"/>
                </a:solidFill>
                <a:latin typeface="Telegraf" pitchFamily="34" charset="0"/>
                <a:ea typeface="Telegraf" pitchFamily="34" charset="-122"/>
                <a:cs typeface="Telegraf" pitchFamily="34" charset="-120"/>
              </a:rPr>
              <a:t>A non-profit, founded November 2021, that stewards a shared implementation of that runtime. Any vendor can license and ship it.</a:t>
            </a:r>
            <a:endParaRPr lang="en-US" sz="1700" dirty="0"/>
          </a:p>
        </p:txBody>
      </p:sp>
      <p:sp>
        <p:nvSpPr>
          <p:cNvPr id="11" name="Text 9"/>
          <p:cNvSpPr/>
          <p:nvPr/>
        </p:nvSpPr>
        <p:spPr>
          <a:xfrm>
            <a:off x="640080" y="4434840"/>
            <a:ext cx="10515600" cy="411480"/>
          </a:xfrm>
          <a:prstGeom prst="rect">
            <a:avLst/>
          </a:prstGeom>
          <a:noFill/>
          <a:ln/>
        </p:spPr>
        <p:txBody>
          <a:bodyPr wrap="square" lIns="0" tIns="0" rIns="0" bIns="0" rtlCol="0" anchor="ctr"/>
          <a:lstStyle/>
          <a:p>
            <a:pPr indent="0" marL="0">
              <a:buNone/>
            </a:pPr>
            <a:r>
              <a:rPr lang="en-US" sz="2400" b="1" dirty="0">
                <a:solidFill>
                  <a:srgbClr val="FFFFFF"/>
                </a:solidFill>
                <a:latin typeface="Telegraf" pitchFamily="34" charset="0"/>
                <a:ea typeface="Telegraf" pitchFamily="34" charset="-122"/>
                <a:cs typeface="Telegraf" pitchFamily="34" charset="-120"/>
              </a:rPr>
              <a:t>Who's actually in it</a:t>
            </a:r>
            <a:endParaRPr lang="en-US" sz="2400" dirty="0"/>
          </a:p>
        </p:txBody>
      </p:sp>
      <p:sp>
        <p:nvSpPr>
          <p:cNvPr id="12" name="Text 10"/>
          <p:cNvSpPr/>
          <p:nvPr/>
        </p:nvSpPr>
        <p:spPr>
          <a:xfrm>
            <a:off x="640080" y="4892040"/>
            <a:ext cx="10515600" cy="1097280"/>
          </a:xfrm>
          <a:prstGeom prst="rect">
            <a:avLst/>
          </a:prstGeom>
          <a:noFill/>
          <a:ln/>
        </p:spPr>
        <p:txBody>
          <a:bodyPr wrap="square" lIns="0" tIns="0" rIns="0" bIns="0" rtlCol="0" anchor="t"/>
          <a:lstStyle/>
          <a:p>
            <a:pPr indent="0" marL="0">
              <a:lnSpc>
                <a:spcPts val="2700"/>
              </a:lnSpc>
              <a:buNone/>
            </a:pPr>
            <a:r>
              <a:rPr lang="en-US" sz="2000" dirty="0">
                <a:solidFill>
                  <a:srgbClr val="FFFFFF"/>
                </a:solidFill>
                <a:latin typeface="Telegraf" pitchFamily="34" charset="0"/>
                <a:ea typeface="Telegraf" pitchFamily="34" charset="-122"/>
                <a:cs typeface="Telegraf" pitchFamily="34" charset="-120"/>
              </a:rPr>
              <a:t>90+ members. Board seats held by ExxonMobil, Yokogawa, Intel, Kongsberg Maritime, Novo Nordisk, Schneider Electric and others — end users and competitors sitting at the same table.</a:t>
            </a:r>
            <a:endParaRPr lang="en-US" sz="2000" dirty="0"/>
          </a:p>
        </p:txBody>
      </p:sp>
      <p:sp>
        <p:nvSpPr>
          <p:cNvPr id="13" name="Text 11"/>
          <p:cNvSpPr/>
          <p:nvPr/>
        </p:nvSpPr>
        <p:spPr>
          <a:xfrm>
            <a:off x="640080" y="6035040"/>
            <a:ext cx="10332720" cy="658368"/>
          </a:xfrm>
          <a:prstGeom prst="rect">
            <a:avLst/>
          </a:prstGeom>
          <a:noFill/>
          <a:ln/>
        </p:spPr>
        <p:txBody>
          <a:bodyPr wrap="square" lIns="0" tIns="0" rIns="0" bIns="0" rtlCol="0" anchor="t"/>
          <a:lstStyle/>
          <a:p>
            <a:pPr indent="0" marL="0">
              <a:buNone/>
            </a:pPr>
            <a:r>
              <a:rPr lang="en-US" sz="1900" i="1" dirty="0">
                <a:solidFill>
                  <a:srgbClr val="3DCD58"/>
                </a:solidFill>
                <a:latin typeface="Telegraf" pitchFamily="34" charset="0"/>
                <a:ea typeface="Telegraf" pitchFamily="34" charset="-122"/>
                <a:cs typeface="Telegraf" pitchFamily="34" charset="-120"/>
              </a:rPr>
              <a:t>That matters more than any vendor's roadmap: when the buyers write the standard, portability stops being a favor.</a:t>
            </a:r>
            <a:endParaRPr lang="en-US" sz="1900" dirty="0"/>
          </a:p>
        </p:txBody>
      </p:sp>
      <p:sp>
        <p:nvSpPr>
          <p:cNvPr id="15" name="Text 12"/>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475488"/>
            <a:ext cx="146304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475488"/>
            <a:ext cx="146304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PROOF</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Conroe, Texas — 19 facilities</a:t>
            </a:r>
            <a:endParaRPr lang="en-US" sz="3800" dirty="0"/>
          </a:p>
        </p:txBody>
      </p:sp>
      <p:sp>
        <p:nvSpPr>
          <p:cNvPr id="5" name="Text 3"/>
          <p:cNvSpPr/>
          <p:nvPr/>
        </p:nvSpPr>
        <p:spPr>
          <a:xfrm>
            <a:off x="640080" y="2148840"/>
            <a:ext cx="10515600" cy="1188720"/>
          </a:xfrm>
          <a:prstGeom prst="rect">
            <a:avLst/>
          </a:prstGeom>
          <a:noFill/>
          <a:ln/>
        </p:spPr>
        <p:txBody>
          <a:bodyPr wrap="square" lIns="0" tIns="0" rIns="0" bIns="0" rtlCol="0" anchor="t"/>
          <a:lstStyle/>
          <a:p>
            <a:pPr indent="0" marL="0">
              <a:lnSpc>
                <a:spcPts val="2800"/>
              </a:lnSpc>
              <a:buNone/>
            </a:pPr>
            <a:r>
              <a:rPr lang="en-US" sz="2100" dirty="0">
                <a:solidFill>
                  <a:srgbClr val="6FD9D4"/>
                </a:solidFill>
                <a:latin typeface="Telegraf" pitchFamily="34" charset="0"/>
                <a:ea typeface="Telegraf" pitchFamily="34" charset="-122"/>
                <a:cs typeface="Telegraf" pitchFamily="34" charset="-120"/>
              </a:rPr>
              <a:t>A fast-growing city north of Houston, modernizing water and wastewater across a $50 million infrastructure program — with open software-defined automation as the control layer.</a:t>
            </a:r>
            <a:endParaRPr lang="en-US" sz="2100" dirty="0"/>
          </a:p>
        </p:txBody>
      </p:sp>
      <p:sp>
        <p:nvSpPr>
          <p:cNvPr id="6" name="Text 4"/>
          <p:cNvSpPr/>
          <p:nvPr/>
        </p:nvSpPr>
        <p:spPr>
          <a:xfrm>
            <a:off x="640080" y="3383280"/>
            <a:ext cx="3401568" cy="1051560"/>
          </a:xfrm>
          <a:prstGeom prst="rect">
            <a:avLst/>
          </a:prstGeom>
          <a:noFill/>
          <a:ln/>
        </p:spPr>
        <p:txBody>
          <a:bodyPr wrap="square" lIns="0" tIns="0" rIns="0" bIns="0" rtlCol="0" anchor="b"/>
          <a:lstStyle/>
          <a:p>
            <a:pPr algn="ctr" indent="0" marL="0">
              <a:buNone/>
            </a:pPr>
            <a:r>
              <a:rPr lang="en-US" sz="6000" b="1" dirty="0">
                <a:solidFill>
                  <a:srgbClr val="3DCD58"/>
                </a:solidFill>
                <a:latin typeface="Telegraf" pitchFamily="34" charset="0"/>
                <a:ea typeface="Telegraf" pitchFamily="34" charset="-122"/>
                <a:cs typeface="Telegraf" pitchFamily="34" charset="-120"/>
              </a:rPr>
              <a:t>70%</a:t>
            </a:r>
            <a:endParaRPr lang="en-US" sz="6000" dirty="0"/>
          </a:p>
        </p:txBody>
      </p:sp>
      <p:sp>
        <p:nvSpPr>
          <p:cNvPr id="7" name="Text 5"/>
          <p:cNvSpPr/>
          <p:nvPr/>
        </p:nvSpPr>
        <p:spPr>
          <a:xfrm>
            <a:off x="640080" y="4498848"/>
            <a:ext cx="3401568" cy="868680"/>
          </a:xfrm>
          <a:prstGeom prst="rect">
            <a:avLst/>
          </a:prstGeom>
          <a:noFill/>
          <a:ln/>
        </p:spPr>
        <p:txBody>
          <a:bodyPr wrap="square" lIns="0" tIns="0" rIns="0" bIns="0" rtlCol="0" anchor="t"/>
          <a:lstStyle/>
          <a:p>
            <a:pPr algn="ctr" indent="0" marL="0">
              <a:buNone/>
            </a:pPr>
            <a:r>
              <a:rPr lang="en-US" sz="1700" dirty="0">
                <a:solidFill>
                  <a:srgbClr val="6FD9D4"/>
                </a:solidFill>
                <a:latin typeface="Telegraf" pitchFamily="34" charset="0"/>
                <a:ea typeface="Telegraf" pitchFamily="34" charset="-122"/>
                <a:cs typeface="Telegraf" pitchFamily="34" charset="-120"/>
              </a:rPr>
              <a:t>gain in engineering</a:t>
            </a:r>
            <a:endParaRPr lang="en-US" sz="1700" dirty="0"/>
          </a:p>
          <a:p>
            <a:pPr algn="ctr" indent="0" marL="0">
              <a:buNone/>
            </a:pPr>
            <a:r>
              <a:rPr lang="en-US" sz="1700" dirty="0">
                <a:solidFill>
                  <a:srgbClr val="6FD9D4"/>
                </a:solidFill>
                <a:latin typeface="Telegraf" pitchFamily="34" charset="0"/>
                <a:ea typeface="Telegraf" pitchFamily="34" charset="-122"/>
                <a:cs typeface="Telegraf" pitchFamily="34" charset="-120"/>
              </a:rPr>
              <a:t>efficiency</a:t>
            </a:r>
            <a:endParaRPr lang="en-US" sz="1700" dirty="0"/>
          </a:p>
        </p:txBody>
      </p:sp>
      <p:sp>
        <p:nvSpPr>
          <p:cNvPr id="8" name="Text 6"/>
          <p:cNvSpPr/>
          <p:nvPr/>
        </p:nvSpPr>
        <p:spPr>
          <a:xfrm>
            <a:off x="4398264" y="3383280"/>
            <a:ext cx="3401568" cy="1051560"/>
          </a:xfrm>
          <a:prstGeom prst="rect">
            <a:avLst/>
          </a:prstGeom>
          <a:noFill/>
          <a:ln/>
        </p:spPr>
        <p:txBody>
          <a:bodyPr wrap="square" lIns="0" tIns="0" rIns="0" bIns="0" rtlCol="0" anchor="b"/>
          <a:lstStyle/>
          <a:p>
            <a:pPr algn="ctr" indent="0" marL="0">
              <a:buNone/>
            </a:pPr>
            <a:r>
              <a:rPr lang="en-US" sz="6000" b="1" dirty="0">
                <a:solidFill>
                  <a:srgbClr val="3DCD58"/>
                </a:solidFill>
                <a:latin typeface="Telegraf" pitchFamily="34" charset="0"/>
                <a:ea typeface="Telegraf" pitchFamily="34" charset="-122"/>
                <a:cs typeface="Telegraf" pitchFamily="34" charset="-120"/>
              </a:rPr>
              <a:t>80%</a:t>
            </a:r>
            <a:endParaRPr lang="en-US" sz="6000" dirty="0"/>
          </a:p>
        </p:txBody>
      </p:sp>
      <p:sp>
        <p:nvSpPr>
          <p:cNvPr id="9" name="Text 7"/>
          <p:cNvSpPr/>
          <p:nvPr/>
        </p:nvSpPr>
        <p:spPr>
          <a:xfrm>
            <a:off x="4398264" y="4498848"/>
            <a:ext cx="3401568" cy="868680"/>
          </a:xfrm>
          <a:prstGeom prst="rect">
            <a:avLst/>
          </a:prstGeom>
          <a:noFill/>
          <a:ln/>
        </p:spPr>
        <p:txBody>
          <a:bodyPr wrap="square" lIns="0" tIns="0" rIns="0" bIns="0" rtlCol="0" anchor="t"/>
          <a:lstStyle/>
          <a:p>
            <a:pPr algn="ctr" indent="0" marL="0">
              <a:buNone/>
            </a:pPr>
            <a:r>
              <a:rPr lang="en-US" sz="1700" dirty="0">
                <a:solidFill>
                  <a:srgbClr val="6FD9D4"/>
                </a:solidFill>
                <a:latin typeface="Telegraf" pitchFamily="34" charset="0"/>
                <a:ea typeface="Telegraf" pitchFamily="34" charset="-122"/>
                <a:cs typeface="Telegraf" pitchFamily="34" charset="-120"/>
              </a:rPr>
              <a:t>faster recovery when</a:t>
            </a:r>
            <a:endParaRPr lang="en-US" sz="1700" dirty="0"/>
          </a:p>
          <a:p>
            <a:pPr algn="ctr" indent="0" marL="0">
              <a:buNone/>
            </a:pPr>
            <a:r>
              <a:rPr lang="en-US" sz="1700" dirty="0">
                <a:solidFill>
                  <a:srgbClr val="6FD9D4"/>
                </a:solidFill>
                <a:latin typeface="Telegraf" pitchFamily="34" charset="0"/>
                <a:ea typeface="Telegraf" pitchFamily="34" charset="-122"/>
                <a:cs typeface="Telegraf" pitchFamily="34" charset="-120"/>
              </a:rPr>
              <a:t>something goes down</a:t>
            </a:r>
            <a:endParaRPr lang="en-US" sz="1700" dirty="0"/>
          </a:p>
        </p:txBody>
      </p:sp>
      <p:sp>
        <p:nvSpPr>
          <p:cNvPr id="10" name="Text 8"/>
          <p:cNvSpPr/>
          <p:nvPr/>
        </p:nvSpPr>
        <p:spPr>
          <a:xfrm>
            <a:off x="8147304" y="3383280"/>
            <a:ext cx="3401568" cy="1051560"/>
          </a:xfrm>
          <a:prstGeom prst="rect">
            <a:avLst/>
          </a:prstGeom>
          <a:noFill/>
          <a:ln/>
        </p:spPr>
        <p:txBody>
          <a:bodyPr wrap="square" lIns="0" tIns="0" rIns="0" bIns="0" rtlCol="0" anchor="b"/>
          <a:lstStyle/>
          <a:p>
            <a:pPr algn="ctr" indent="0" marL="0">
              <a:buNone/>
            </a:pPr>
            <a:r>
              <a:rPr lang="en-US" sz="6000" b="1" dirty="0">
                <a:solidFill>
                  <a:srgbClr val="3DCD58"/>
                </a:solidFill>
                <a:latin typeface="Telegraf" pitchFamily="34" charset="0"/>
                <a:ea typeface="Telegraf" pitchFamily="34" charset="-122"/>
                <a:cs typeface="Telegraf" pitchFamily="34" charset="-120"/>
              </a:rPr>
              <a:t>5 hrs</a:t>
            </a:r>
            <a:endParaRPr lang="en-US" sz="6000" dirty="0"/>
          </a:p>
        </p:txBody>
      </p:sp>
      <p:sp>
        <p:nvSpPr>
          <p:cNvPr id="11" name="Text 9"/>
          <p:cNvSpPr/>
          <p:nvPr/>
        </p:nvSpPr>
        <p:spPr>
          <a:xfrm>
            <a:off x="8147304" y="4498848"/>
            <a:ext cx="3401568" cy="868680"/>
          </a:xfrm>
          <a:prstGeom prst="rect">
            <a:avLst/>
          </a:prstGeom>
          <a:noFill/>
          <a:ln/>
        </p:spPr>
        <p:txBody>
          <a:bodyPr wrap="square" lIns="0" tIns="0" rIns="0" bIns="0" rtlCol="0" anchor="t"/>
          <a:lstStyle/>
          <a:p>
            <a:pPr algn="ctr" indent="0" marL="0">
              <a:buNone/>
            </a:pPr>
            <a:r>
              <a:rPr lang="en-US" sz="1700" dirty="0">
                <a:solidFill>
                  <a:srgbClr val="6FD9D4"/>
                </a:solidFill>
                <a:latin typeface="Telegraf" pitchFamily="34" charset="0"/>
                <a:ea typeface="Telegraf" pitchFamily="34" charset="-122"/>
                <a:cs typeface="Telegraf" pitchFamily="34" charset="-120"/>
              </a:rPr>
              <a:t>of daily manual data</a:t>
            </a:r>
            <a:endParaRPr lang="en-US" sz="1700" dirty="0"/>
          </a:p>
          <a:p>
            <a:pPr algn="ctr" indent="0" marL="0">
              <a:buNone/>
            </a:pPr>
            <a:r>
              <a:rPr lang="en-US" sz="1700" dirty="0">
                <a:solidFill>
                  <a:srgbClr val="6FD9D4"/>
                </a:solidFill>
                <a:latin typeface="Telegraf" pitchFamily="34" charset="0"/>
                <a:ea typeface="Telegraf" pitchFamily="34" charset="-122"/>
                <a:cs typeface="Telegraf" pitchFamily="34" charset="-120"/>
              </a:rPr>
              <a:t>collection → minutes</a:t>
            </a:r>
            <a:endParaRPr lang="en-US" sz="1700" dirty="0"/>
          </a:p>
        </p:txBody>
      </p:sp>
      <p:sp>
        <p:nvSpPr>
          <p:cNvPr id="12" name="Text 10"/>
          <p:cNvSpPr/>
          <p:nvPr/>
        </p:nvSpPr>
        <p:spPr>
          <a:xfrm>
            <a:off x="640080" y="5806440"/>
            <a:ext cx="10332720" cy="640080"/>
          </a:xfrm>
          <a:prstGeom prst="rect">
            <a:avLst/>
          </a:prstGeom>
          <a:noFill/>
          <a:ln/>
        </p:spPr>
        <p:txBody>
          <a:bodyPr wrap="square" lIns="0" tIns="0" rIns="0" bIns="0" rtlCol="0" anchor="t"/>
          <a:lstStyle/>
          <a:p>
            <a:pPr indent="0" marL="0">
              <a:buNone/>
            </a:pPr>
            <a:r>
              <a:rPr lang="en-US" sz="1900" i="1" dirty="0">
                <a:solidFill>
                  <a:srgbClr val="FFFFFF"/>
                </a:solidFill>
                <a:latin typeface="Telegraf" pitchFamily="34" charset="0"/>
                <a:ea typeface="Telegraf" pitchFamily="34" charset="-122"/>
                <a:cs typeface="Telegraf" pitchFamily="34" charset="-120"/>
              </a:rPr>
              <a:t>Post-Harvey, the recovery number is the one Conroe talks about. Note that none of these required replacing the plant.</a:t>
            </a:r>
            <a:endParaRPr lang="en-US" sz="1900" dirty="0"/>
          </a:p>
        </p:txBody>
      </p:sp>
      <p:sp>
        <p:nvSpPr>
          <p:cNvPr id="13" name="Text 11"/>
          <p:cNvSpPr/>
          <p:nvPr/>
        </p:nvSpPr>
        <p:spPr>
          <a:xfrm>
            <a:off x="640080" y="6473952"/>
            <a:ext cx="10332720" cy="274320"/>
          </a:xfrm>
          <a:prstGeom prst="rect">
            <a:avLst/>
          </a:prstGeom>
          <a:noFill/>
          <a:ln/>
        </p:spPr>
        <p:txBody>
          <a:bodyPr wrap="square" lIns="0" tIns="0" rIns="0" bIns="0" rtlCol="0" anchor="ctr"/>
          <a:lstStyle/>
          <a:p>
            <a:pPr indent="0" marL="0">
              <a:buNone/>
            </a:pPr>
            <a:r>
              <a:rPr lang="en-US" sz="1100" dirty="0">
                <a:solidFill>
                  <a:srgbClr val="3A3A3A"/>
                </a:solidFill>
                <a:latin typeface="Telegraf" pitchFamily="34" charset="0"/>
                <a:ea typeface="Telegraf" pitchFamily="34" charset="-122"/>
                <a:cs typeface="Telegraf" pitchFamily="34" charset="-120"/>
              </a:rPr>
              <a:t>Source: City of Conroe / Schneider Electric, announced WEFTEC 2025</a:t>
            </a:r>
            <a:endParaRPr lang="en-US" sz="1100" dirty="0"/>
          </a:p>
        </p:txBody>
      </p:sp>
      <p:sp>
        <p:nvSpPr>
          <p:cNvPr id="15" name="Text 12"/>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46304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46304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PROOF</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And it isn't one city in Texas</a:t>
            </a:r>
            <a:endParaRPr lang="en-US" sz="3800" dirty="0"/>
          </a:p>
        </p:txBody>
      </p:sp>
      <p:sp>
        <p:nvSpPr>
          <p:cNvPr id="5" name="Shape 3"/>
          <p:cNvSpPr/>
          <p:nvPr/>
        </p:nvSpPr>
        <p:spPr>
          <a:xfrm>
            <a:off x="640080" y="2212848"/>
            <a:ext cx="10908792" cy="1170432"/>
          </a:xfrm>
          <a:prstGeom prst="roundRect">
            <a:avLst>
              <a:gd name="adj" fmla="val 9375"/>
            </a:avLst>
          </a:prstGeom>
          <a:solidFill>
            <a:srgbClr val="161616"/>
          </a:solidFill>
          <a:ln w="12700">
            <a:solidFill>
              <a:srgbClr val="161616"/>
            </a:solidFill>
            <a:prstDash val="solid"/>
          </a:ln>
        </p:spPr>
      </p:sp>
      <p:sp>
        <p:nvSpPr>
          <p:cNvPr id="6" name="Text 4"/>
          <p:cNvSpPr/>
          <p:nvPr/>
        </p:nvSpPr>
        <p:spPr>
          <a:xfrm>
            <a:off x="1005840" y="2359152"/>
            <a:ext cx="4114800" cy="411480"/>
          </a:xfrm>
          <a:prstGeom prst="rect">
            <a:avLst/>
          </a:prstGeom>
          <a:noFill/>
          <a:ln/>
        </p:spPr>
        <p:txBody>
          <a:bodyPr wrap="square" lIns="0" tIns="0" rIns="0" bIns="0" rtlCol="0" anchor="ctr"/>
          <a:lstStyle/>
          <a:p>
            <a:pPr indent="0" marL="0">
              <a:buNone/>
            </a:pPr>
            <a:r>
              <a:rPr lang="en-US" sz="2100" b="1" dirty="0">
                <a:solidFill>
                  <a:srgbClr val="00A19C"/>
                </a:solidFill>
                <a:latin typeface="Telegraf" pitchFamily="34" charset="0"/>
                <a:ea typeface="Telegraf" pitchFamily="34" charset="-122"/>
                <a:cs typeface="Telegraf" pitchFamily="34" charset="-120"/>
              </a:rPr>
              <a:t>İZSU — İzmir, Turkey</a:t>
            </a:r>
            <a:endParaRPr lang="en-US" sz="2100" dirty="0"/>
          </a:p>
        </p:txBody>
      </p:sp>
      <p:sp>
        <p:nvSpPr>
          <p:cNvPr id="7" name="Text 5"/>
          <p:cNvSpPr/>
          <p:nvPr/>
        </p:nvSpPr>
        <p:spPr>
          <a:xfrm>
            <a:off x="1005840" y="2779776"/>
            <a:ext cx="4114800" cy="411480"/>
          </a:xfrm>
          <a:prstGeom prst="rect">
            <a:avLst/>
          </a:prstGeom>
          <a:noFill/>
          <a:ln/>
        </p:spPr>
        <p:txBody>
          <a:bodyPr wrap="square" lIns="0" tIns="0" rIns="0" bIns="0" rtlCol="0" anchor="ctr"/>
          <a:lstStyle/>
          <a:p>
            <a:pPr indent="0" marL="0">
              <a:buNone/>
            </a:pPr>
            <a:r>
              <a:rPr lang="en-US" sz="1600" dirty="0">
                <a:solidFill>
                  <a:srgbClr val="9AA3AA"/>
                </a:solidFill>
                <a:latin typeface="Telegraf" pitchFamily="34" charset="0"/>
                <a:ea typeface="Telegraf" pitchFamily="34" charset="-122"/>
                <a:cs typeface="Telegraf" pitchFamily="34" charset="-120"/>
              </a:rPr>
              <a:t>Water reuse for Turkey's 3rd city</a:t>
            </a:r>
            <a:endParaRPr lang="en-US" sz="1600" dirty="0"/>
          </a:p>
        </p:txBody>
      </p:sp>
      <p:sp>
        <p:nvSpPr>
          <p:cNvPr id="8" name="Text 6"/>
          <p:cNvSpPr/>
          <p:nvPr/>
        </p:nvSpPr>
        <p:spPr>
          <a:xfrm>
            <a:off x="5394960" y="2468880"/>
            <a:ext cx="5852160" cy="685800"/>
          </a:xfrm>
          <a:prstGeom prst="rect">
            <a:avLst/>
          </a:prstGeom>
          <a:noFill/>
          <a:ln/>
        </p:spPr>
        <p:txBody>
          <a:bodyPr wrap="square" lIns="0" tIns="0" rIns="0" bIns="0" rtlCol="0" anchor="ctr"/>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2,000–3,000 m³/day recovered for agriculture · 20% less engineering time</a:t>
            </a:r>
            <a:endParaRPr lang="en-US" sz="1800" dirty="0"/>
          </a:p>
        </p:txBody>
      </p:sp>
      <p:sp>
        <p:nvSpPr>
          <p:cNvPr id="9" name="Shape 7"/>
          <p:cNvSpPr/>
          <p:nvPr/>
        </p:nvSpPr>
        <p:spPr>
          <a:xfrm>
            <a:off x="640080" y="3538728"/>
            <a:ext cx="10908792" cy="1170432"/>
          </a:xfrm>
          <a:prstGeom prst="roundRect">
            <a:avLst>
              <a:gd name="adj" fmla="val 9375"/>
            </a:avLst>
          </a:prstGeom>
          <a:solidFill>
            <a:srgbClr val="161616"/>
          </a:solidFill>
          <a:ln w="12700">
            <a:solidFill>
              <a:srgbClr val="161616"/>
            </a:solidFill>
            <a:prstDash val="solid"/>
          </a:ln>
        </p:spPr>
      </p:sp>
      <p:sp>
        <p:nvSpPr>
          <p:cNvPr id="10" name="Text 8"/>
          <p:cNvSpPr/>
          <p:nvPr/>
        </p:nvSpPr>
        <p:spPr>
          <a:xfrm>
            <a:off x="1005840" y="3685032"/>
            <a:ext cx="4114800" cy="411480"/>
          </a:xfrm>
          <a:prstGeom prst="rect">
            <a:avLst/>
          </a:prstGeom>
          <a:noFill/>
          <a:ln/>
        </p:spPr>
        <p:txBody>
          <a:bodyPr wrap="square" lIns="0" tIns="0" rIns="0" bIns="0" rtlCol="0" anchor="ctr"/>
          <a:lstStyle/>
          <a:p>
            <a:pPr indent="0" marL="0">
              <a:buNone/>
            </a:pPr>
            <a:r>
              <a:rPr lang="en-US" sz="2100" b="1" dirty="0">
                <a:solidFill>
                  <a:srgbClr val="00A19C"/>
                </a:solidFill>
                <a:latin typeface="Telegraf" pitchFamily="34" charset="0"/>
                <a:ea typeface="Telegraf" pitchFamily="34" charset="-122"/>
                <a:cs typeface="Telegraf" pitchFamily="34" charset="-120"/>
              </a:rPr>
              <a:t>Anglian Water — U.K.</a:t>
            </a:r>
            <a:endParaRPr lang="en-US" sz="2100" dirty="0"/>
          </a:p>
        </p:txBody>
      </p:sp>
      <p:sp>
        <p:nvSpPr>
          <p:cNvPr id="11" name="Text 9"/>
          <p:cNvSpPr/>
          <p:nvPr/>
        </p:nvSpPr>
        <p:spPr>
          <a:xfrm>
            <a:off x="1005840" y="4105656"/>
            <a:ext cx="4114800" cy="411480"/>
          </a:xfrm>
          <a:prstGeom prst="rect">
            <a:avLst/>
          </a:prstGeom>
          <a:noFill/>
          <a:ln/>
        </p:spPr>
        <p:txBody>
          <a:bodyPr wrap="square" lIns="0" tIns="0" rIns="0" bIns="0" rtlCol="0" anchor="ctr"/>
          <a:lstStyle/>
          <a:p>
            <a:pPr indent="0" marL="0">
              <a:buNone/>
            </a:pPr>
            <a:r>
              <a:rPr lang="en-US" sz="1600" dirty="0">
                <a:solidFill>
                  <a:srgbClr val="9AA3AA"/>
                </a:solidFill>
                <a:latin typeface="Telegraf" pitchFamily="34" charset="0"/>
                <a:ea typeface="Telegraf" pitchFamily="34" charset="-122"/>
                <a:cs typeface="Telegraf" pitchFamily="34" charset="-120"/>
              </a:rPr>
              <a:t>Largest water recycling co. by area</a:t>
            </a:r>
            <a:endParaRPr lang="en-US" sz="1600" dirty="0"/>
          </a:p>
        </p:txBody>
      </p:sp>
      <p:sp>
        <p:nvSpPr>
          <p:cNvPr id="12" name="Text 10"/>
          <p:cNvSpPr/>
          <p:nvPr/>
        </p:nvSpPr>
        <p:spPr>
          <a:xfrm>
            <a:off x="5394960" y="3794760"/>
            <a:ext cx="5852160" cy="685800"/>
          </a:xfrm>
          <a:prstGeom prst="rect">
            <a:avLst/>
          </a:prstGeom>
          <a:noFill/>
          <a:ln/>
        </p:spPr>
        <p:txBody>
          <a:bodyPr wrap="square" lIns="0" tIns="0" rIns="0" bIns="0" rtlCol="0" anchor="ctr"/>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Leakage cut 10% — among the lowest in the U.K. · 10% operational efficiency gain</a:t>
            </a:r>
            <a:endParaRPr lang="en-US" sz="1800" dirty="0"/>
          </a:p>
        </p:txBody>
      </p:sp>
      <p:sp>
        <p:nvSpPr>
          <p:cNvPr id="13" name="Shape 11"/>
          <p:cNvSpPr/>
          <p:nvPr/>
        </p:nvSpPr>
        <p:spPr>
          <a:xfrm>
            <a:off x="640080" y="4864608"/>
            <a:ext cx="10908792" cy="1170432"/>
          </a:xfrm>
          <a:prstGeom prst="roundRect">
            <a:avLst>
              <a:gd name="adj" fmla="val 9375"/>
            </a:avLst>
          </a:prstGeom>
          <a:solidFill>
            <a:srgbClr val="161616"/>
          </a:solidFill>
          <a:ln w="12700">
            <a:solidFill>
              <a:srgbClr val="161616"/>
            </a:solidFill>
            <a:prstDash val="solid"/>
          </a:ln>
        </p:spPr>
      </p:sp>
      <p:sp>
        <p:nvSpPr>
          <p:cNvPr id="14" name="Text 12"/>
          <p:cNvSpPr/>
          <p:nvPr/>
        </p:nvSpPr>
        <p:spPr>
          <a:xfrm>
            <a:off x="1005840" y="5010912"/>
            <a:ext cx="4114800" cy="411480"/>
          </a:xfrm>
          <a:prstGeom prst="rect">
            <a:avLst/>
          </a:prstGeom>
          <a:noFill/>
          <a:ln/>
        </p:spPr>
        <p:txBody>
          <a:bodyPr wrap="square" lIns="0" tIns="0" rIns="0" bIns="0" rtlCol="0" anchor="ctr"/>
          <a:lstStyle/>
          <a:p>
            <a:pPr indent="0" marL="0">
              <a:buNone/>
            </a:pPr>
            <a:r>
              <a:rPr lang="en-US" sz="2100" b="1" dirty="0">
                <a:solidFill>
                  <a:srgbClr val="00A19C"/>
                </a:solidFill>
                <a:latin typeface="Telegraf" pitchFamily="34" charset="0"/>
                <a:ea typeface="Telegraf" pitchFamily="34" charset="-122"/>
                <a:cs typeface="Telegraf" pitchFamily="34" charset="-120"/>
              </a:rPr>
              <a:t>Acqua Novara.VCO — Italy</a:t>
            </a:r>
            <a:endParaRPr lang="en-US" sz="2100" dirty="0"/>
          </a:p>
        </p:txBody>
      </p:sp>
      <p:sp>
        <p:nvSpPr>
          <p:cNvPr id="15" name="Text 13"/>
          <p:cNvSpPr/>
          <p:nvPr/>
        </p:nvSpPr>
        <p:spPr>
          <a:xfrm>
            <a:off x="1005840" y="5431536"/>
            <a:ext cx="4114800" cy="411480"/>
          </a:xfrm>
          <a:prstGeom prst="rect">
            <a:avLst/>
          </a:prstGeom>
          <a:noFill/>
          <a:ln/>
        </p:spPr>
        <p:txBody>
          <a:bodyPr wrap="square" lIns="0" tIns="0" rIns="0" bIns="0" rtlCol="0" anchor="ctr"/>
          <a:lstStyle/>
          <a:p>
            <a:pPr indent="0" marL="0">
              <a:buNone/>
            </a:pPr>
            <a:r>
              <a:rPr lang="en-US" sz="1600" dirty="0">
                <a:solidFill>
                  <a:srgbClr val="9AA3AA"/>
                </a:solidFill>
                <a:latin typeface="Telegraf" pitchFamily="34" charset="0"/>
                <a:ea typeface="Telegraf" pitchFamily="34" charset="-122"/>
                <a:cs typeface="Telegraf" pitchFamily="34" charset="-120"/>
              </a:rPr>
              <a:t>139 municipalities, 450,000 people</a:t>
            </a:r>
            <a:endParaRPr lang="en-US" sz="1600" dirty="0"/>
          </a:p>
        </p:txBody>
      </p:sp>
      <p:sp>
        <p:nvSpPr>
          <p:cNvPr id="16" name="Text 14"/>
          <p:cNvSpPr/>
          <p:nvPr/>
        </p:nvSpPr>
        <p:spPr>
          <a:xfrm>
            <a:off x="5394960" y="5120640"/>
            <a:ext cx="5852160" cy="685800"/>
          </a:xfrm>
          <a:prstGeom prst="rect">
            <a:avLst/>
          </a:prstGeom>
          <a:noFill/>
          <a:ln/>
        </p:spPr>
        <p:txBody>
          <a:bodyPr wrap="square" lIns="0" tIns="0" rIns="0" bIns="0" rtlCol="0" anchor="ctr"/>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10% less water loss · 15% less energy used</a:t>
            </a:r>
            <a:endParaRPr lang="en-US" sz="1800" dirty="0"/>
          </a:p>
        </p:txBody>
      </p:sp>
      <p:sp>
        <p:nvSpPr>
          <p:cNvPr id="17" name="Text 15"/>
          <p:cNvSpPr/>
          <p:nvPr/>
        </p:nvSpPr>
        <p:spPr>
          <a:xfrm>
            <a:off x="640080" y="6144768"/>
            <a:ext cx="10332720" cy="384048"/>
          </a:xfrm>
          <a:prstGeom prst="rect">
            <a:avLst/>
          </a:prstGeom>
          <a:noFill/>
          <a:ln/>
        </p:spPr>
        <p:txBody>
          <a:bodyPr wrap="square" lIns="0" tIns="0" rIns="0" bIns="0" rtlCol="0" anchor="t"/>
          <a:lstStyle/>
          <a:p>
            <a:pPr indent="0" marL="0">
              <a:buNone/>
            </a:pPr>
            <a:r>
              <a:rPr lang="en-US" sz="1700" i="1" dirty="0">
                <a:solidFill>
                  <a:srgbClr val="3DCD58"/>
                </a:solidFill>
                <a:latin typeface="Telegraf" pitchFamily="34" charset="0"/>
                <a:ea typeface="Telegraf" pitchFamily="34" charset="-122"/>
                <a:cs typeface="Telegraf" pitchFamily="34" charset="-120"/>
              </a:rPr>
              <a:t>Different regulators, different climates, different vendors on site. Same architectural move.</a:t>
            </a:r>
            <a:endParaRPr lang="en-US" sz="1700" dirty="0"/>
          </a:p>
        </p:txBody>
      </p:sp>
      <p:sp>
        <p:nvSpPr>
          <p:cNvPr id="18" name="Text 16"/>
          <p:cNvSpPr/>
          <p:nvPr/>
        </p:nvSpPr>
        <p:spPr>
          <a:xfrm>
            <a:off x="640080" y="6528816"/>
            <a:ext cx="10332720" cy="256032"/>
          </a:xfrm>
          <a:prstGeom prst="rect">
            <a:avLst/>
          </a:prstGeom>
          <a:noFill/>
          <a:ln/>
        </p:spPr>
        <p:txBody>
          <a:bodyPr wrap="square" lIns="0" tIns="0" rIns="0" bIns="0" rtlCol="0" anchor="ctr"/>
          <a:lstStyle/>
          <a:p>
            <a:pPr indent="0" marL="0">
              <a:buNone/>
            </a:pPr>
            <a:r>
              <a:rPr lang="en-US" sz="1100" dirty="0">
                <a:solidFill>
                  <a:srgbClr val="9AA3AA"/>
                </a:solidFill>
                <a:latin typeface="Telegraf" pitchFamily="34" charset="0"/>
                <a:ea typeface="Telegraf" pitchFamily="34" charset="-122"/>
                <a:cs typeface="Telegraf" pitchFamily="34" charset="-120"/>
              </a:rPr>
              <a:t>Source: Frost &amp; Sullivan, Modernising Water and Wastewater Operations, 2025</a:t>
            </a:r>
            <a:endParaRPr lang="en-US" sz="1100" dirty="0"/>
          </a:p>
        </p:txBody>
      </p:sp>
      <p:sp>
        <p:nvSpPr>
          <p:cNvPr id="20" name="Text 17"/>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192024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192024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PICTURE IT</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A Tuesday, five years from now</a:t>
            </a:r>
            <a:endParaRPr lang="en-US" sz="3800" dirty="0"/>
          </a:p>
        </p:txBody>
      </p:sp>
      <p:sp>
        <p:nvSpPr>
          <p:cNvPr id="5" name="Shape 3"/>
          <p:cNvSpPr/>
          <p:nvPr/>
        </p:nvSpPr>
        <p:spPr>
          <a:xfrm>
            <a:off x="640080" y="2295144"/>
            <a:ext cx="1325880" cy="402336"/>
          </a:xfrm>
          <a:prstGeom prst="roundRect">
            <a:avLst>
              <a:gd name="adj" fmla="val 50000"/>
            </a:avLst>
          </a:prstGeom>
          <a:solidFill>
            <a:srgbClr val="00A19C"/>
          </a:solidFill>
          <a:ln w="12700">
            <a:solidFill>
              <a:srgbClr val="00A19C"/>
            </a:solidFill>
            <a:prstDash val="solid"/>
          </a:ln>
        </p:spPr>
      </p:sp>
      <p:sp>
        <p:nvSpPr>
          <p:cNvPr id="6" name="Text 4"/>
          <p:cNvSpPr/>
          <p:nvPr/>
        </p:nvSpPr>
        <p:spPr>
          <a:xfrm>
            <a:off x="640080" y="2295144"/>
            <a:ext cx="13258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7:10 AM</a:t>
            </a:r>
            <a:endParaRPr lang="en-US" sz="1500" dirty="0"/>
          </a:p>
        </p:txBody>
      </p:sp>
      <p:sp>
        <p:nvSpPr>
          <p:cNvPr id="7" name="Text 5"/>
          <p:cNvSpPr/>
          <p:nvPr/>
        </p:nvSpPr>
        <p:spPr>
          <a:xfrm>
            <a:off x="2240280" y="2148840"/>
            <a:ext cx="9326880" cy="1005840"/>
          </a:xfrm>
          <a:prstGeom prst="rect">
            <a:avLst/>
          </a:prstGeom>
          <a:noFill/>
          <a:ln/>
        </p:spPr>
        <p:txBody>
          <a:bodyPr wrap="square" lIns="0" tIns="0" rIns="0" bIns="0" rtlCol="0" anchor="t"/>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A lift station controller fails overnight. The on-call tech doesn't hunt for a discontinued card — the application has already restarted on a spare node. Nobody got called out at 2 AM.</a:t>
            </a:r>
            <a:endParaRPr lang="en-US" sz="1800" dirty="0"/>
          </a:p>
        </p:txBody>
      </p:sp>
      <p:sp>
        <p:nvSpPr>
          <p:cNvPr id="8" name="Shape 6"/>
          <p:cNvSpPr/>
          <p:nvPr/>
        </p:nvSpPr>
        <p:spPr>
          <a:xfrm>
            <a:off x="640080" y="3374136"/>
            <a:ext cx="1325880" cy="402336"/>
          </a:xfrm>
          <a:prstGeom prst="roundRect">
            <a:avLst>
              <a:gd name="adj" fmla="val 50000"/>
            </a:avLst>
          </a:prstGeom>
          <a:solidFill>
            <a:srgbClr val="00A19C"/>
          </a:solidFill>
          <a:ln w="12700">
            <a:solidFill>
              <a:srgbClr val="00A19C"/>
            </a:solidFill>
            <a:prstDash val="solid"/>
          </a:ln>
        </p:spPr>
      </p:sp>
      <p:sp>
        <p:nvSpPr>
          <p:cNvPr id="9" name="Text 7"/>
          <p:cNvSpPr/>
          <p:nvPr/>
        </p:nvSpPr>
        <p:spPr>
          <a:xfrm>
            <a:off x="640080" y="3374136"/>
            <a:ext cx="13258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10:30 AM</a:t>
            </a:r>
            <a:endParaRPr lang="en-US" sz="1500" dirty="0"/>
          </a:p>
        </p:txBody>
      </p:sp>
      <p:sp>
        <p:nvSpPr>
          <p:cNvPr id="10" name="Text 8"/>
          <p:cNvSpPr/>
          <p:nvPr/>
        </p:nvSpPr>
        <p:spPr>
          <a:xfrm>
            <a:off x="2240280" y="3227832"/>
            <a:ext cx="9326880" cy="1005840"/>
          </a:xfrm>
          <a:prstGeom prst="rect">
            <a:avLst/>
          </a:prstGeom>
          <a:noFill/>
          <a:ln/>
        </p:spPr>
        <p:txBody>
          <a:bodyPr wrap="square" lIns="0" tIns="0" rIns="0" bIns="0" rtlCol="0" anchor="t"/>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An engineer changes a chemical dosing sequence, tests it against a simulated plant on her laptop, and sends it for review the way she'd send code — with a record of what changed and why.</a:t>
            </a:r>
            <a:endParaRPr lang="en-US" sz="1800" dirty="0"/>
          </a:p>
        </p:txBody>
      </p:sp>
      <p:sp>
        <p:nvSpPr>
          <p:cNvPr id="11" name="Shape 9"/>
          <p:cNvSpPr/>
          <p:nvPr/>
        </p:nvSpPr>
        <p:spPr>
          <a:xfrm>
            <a:off x="640080" y="4453128"/>
            <a:ext cx="1325880" cy="402336"/>
          </a:xfrm>
          <a:prstGeom prst="roundRect">
            <a:avLst>
              <a:gd name="adj" fmla="val 50000"/>
            </a:avLst>
          </a:prstGeom>
          <a:solidFill>
            <a:srgbClr val="00A19C"/>
          </a:solidFill>
          <a:ln w="12700">
            <a:solidFill>
              <a:srgbClr val="00A19C"/>
            </a:solidFill>
            <a:prstDash val="solid"/>
          </a:ln>
        </p:spPr>
      </p:sp>
      <p:sp>
        <p:nvSpPr>
          <p:cNvPr id="12" name="Text 10"/>
          <p:cNvSpPr/>
          <p:nvPr/>
        </p:nvSpPr>
        <p:spPr>
          <a:xfrm>
            <a:off x="640080" y="4453128"/>
            <a:ext cx="13258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2:00 PM</a:t>
            </a:r>
            <a:endParaRPr lang="en-US" sz="1500" dirty="0"/>
          </a:p>
        </p:txBody>
      </p:sp>
      <p:sp>
        <p:nvSpPr>
          <p:cNvPr id="13" name="Text 11"/>
          <p:cNvSpPr/>
          <p:nvPr/>
        </p:nvSpPr>
        <p:spPr>
          <a:xfrm>
            <a:off x="2240280" y="4306824"/>
            <a:ext cx="9326880" cy="1005840"/>
          </a:xfrm>
          <a:prstGeom prst="rect">
            <a:avLst/>
          </a:prstGeom>
          <a:noFill/>
          <a:ln/>
        </p:spPr>
        <p:txBody>
          <a:bodyPr wrap="square" lIns="0" tIns="0" rIns="0" bIns="0" rtlCol="0" anchor="t"/>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The utility's asset team pulls pump vibration trends straight from the control application. No new gateway, no integration project, no purchase order.</a:t>
            </a:r>
            <a:endParaRPr lang="en-US" sz="1800" dirty="0"/>
          </a:p>
        </p:txBody>
      </p:sp>
      <p:sp>
        <p:nvSpPr>
          <p:cNvPr id="14" name="Shape 12"/>
          <p:cNvSpPr/>
          <p:nvPr/>
        </p:nvSpPr>
        <p:spPr>
          <a:xfrm>
            <a:off x="640080" y="5532120"/>
            <a:ext cx="1325880" cy="402336"/>
          </a:xfrm>
          <a:prstGeom prst="roundRect">
            <a:avLst>
              <a:gd name="adj" fmla="val 50000"/>
            </a:avLst>
          </a:prstGeom>
          <a:solidFill>
            <a:srgbClr val="00A19C"/>
          </a:solidFill>
          <a:ln w="12700">
            <a:solidFill>
              <a:srgbClr val="00A19C"/>
            </a:solidFill>
            <a:prstDash val="solid"/>
          </a:ln>
        </p:spPr>
      </p:sp>
      <p:sp>
        <p:nvSpPr>
          <p:cNvPr id="15" name="Text 13"/>
          <p:cNvSpPr/>
          <p:nvPr/>
        </p:nvSpPr>
        <p:spPr>
          <a:xfrm>
            <a:off x="640080" y="5532120"/>
            <a:ext cx="13258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4:45 PM</a:t>
            </a:r>
            <a:endParaRPr lang="en-US" sz="1500" dirty="0"/>
          </a:p>
        </p:txBody>
      </p:sp>
      <p:sp>
        <p:nvSpPr>
          <p:cNvPr id="16" name="Text 14"/>
          <p:cNvSpPr/>
          <p:nvPr/>
        </p:nvSpPr>
        <p:spPr>
          <a:xfrm>
            <a:off x="2240280" y="5385816"/>
            <a:ext cx="9326880" cy="1005840"/>
          </a:xfrm>
          <a:prstGeom prst="rect">
            <a:avLst/>
          </a:prstGeom>
          <a:noFill/>
          <a:ln/>
        </p:spPr>
        <p:txBody>
          <a:bodyPr wrap="square" lIns="0" tIns="0" rIns="0" bIns="0" rtlCol="0" anchor="t"/>
          <a:lstStyle/>
          <a:p>
            <a:pPr indent="0" marL="0">
              <a:lnSpc>
                <a:spcPts val="2400"/>
              </a:lnSpc>
              <a:buNone/>
            </a:pPr>
            <a:r>
              <a:rPr lang="en-US" sz="1800" dirty="0">
                <a:solidFill>
                  <a:srgbClr val="FFFFFF"/>
                </a:solidFill>
                <a:latin typeface="Telegraf" pitchFamily="34" charset="0"/>
                <a:ea typeface="Telegraf" pitchFamily="34" charset="-122"/>
                <a:cs typeface="Telegraf" pitchFamily="34" charset="-120"/>
              </a:rPr>
              <a:t>Procurement issues an RFP for the next expansion without specifying a controller brand — because the logic they already own will run on whoever wins.</a:t>
            </a:r>
            <a:endParaRPr lang="en-US" sz="1800" dirty="0"/>
          </a:p>
        </p:txBody>
      </p:sp>
      <p:sp>
        <p:nvSpPr>
          <p:cNvPr id="17" name="Text 15"/>
          <p:cNvSpPr/>
          <p:nvPr/>
        </p:nvSpPr>
        <p:spPr>
          <a:xfrm>
            <a:off x="640080" y="6355080"/>
            <a:ext cx="10332720" cy="411480"/>
          </a:xfrm>
          <a:prstGeom prst="rect">
            <a:avLst/>
          </a:prstGeom>
          <a:noFill/>
          <a:ln/>
        </p:spPr>
        <p:txBody>
          <a:bodyPr wrap="square" lIns="0" tIns="0" rIns="0" bIns="0" rtlCol="0" anchor="t"/>
          <a:lstStyle/>
          <a:p>
            <a:pPr indent="0" marL="0">
              <a:buNone/>
            </a:pPr>
            <a:r>
              <a:rPr lang="en-US" sz="1900" i="1" dirty="0">
                <a:solidFill>
                  <a:srgbClr val="3DCD58"/>
                </a:solidFill>
                <a:latin typeface="Telegraf" pitchFamily="34" charset="0"/>
                <a:ea typeface="Telegraf" pitchFamily="34" charset="-122"/>
                <a:cs typeface="Telegraf" pitchFamily="34" charset="-120"/>
              </a:rPr>
              <a:t>Nothing on this slide is science fiction. All four are happening somewhere today.</a:t>
            </a:r>
            <a:endParaRPr lang="en-US" sz="1900" dirty="0"/>
          </a:p>
        </p:txBody>
      </p:sp>
      <p:sp>
        <p:nvSpPr>
          <p:cNvPr id="19" name="Text 16"/>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338328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338328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FULL DISCLOSURE, AGAIN</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Where my employer sits in this</a:t>
            </a:r>
            <a:endParaRPr lang="en-US" sz="3800" dirty="0"/>
          </a:p>
        </p:txBody>
      </p:sp>
      <p:sp>
        <p:nvSpPr>
          <p:cNvPr id="5" name="Text 3"/>
          <p:cNvSpPr/>
          <p:nvPr/>
        </p:nvSpPr>
        <p:spPr>
          <a:xfrm>
            <a:off x="640080" y="2148840"/>
            <a:ext cx="10515600" cy="960120"/>
          </a:xfrm>
          <a:prstGeom prst="rect">
            <a:avLst/>
          </a:prstGeom>
          <a:noFill/>
          <a:ln/>
        </p:spPr>
        <p:txBody>
          <a:bodyPr wrap="square" lIns="0" tIns="0" rIns="0" bIns="0" rtlCol="0" anchor="t"/>
          <a:lstStyle/>
          <a:p>
            <a:pPr indent="0" marL="0">
              <a:lnSpc>
                <a:spcPts val="2800"/>
              </a:lnSpc>
              <a:buNone/>
            </a:pPr>
            <a:r>
              <a:rPr lang="en-US" sz="2100" dirty="0">
                <a:solidFill>
                  <a:srgbClr val="FFFFFF"/>
                </a:solidFill>
                <a:latin typeface="Telegraf" pitchFamily="34" charset="0"/>
                <a:ea typeface="Telegraf" pitchFamily="34" charset="-122"/>
                <a:cs typeface="Telegraf" pitchFamily="34" charset="-120"/>
              </a:rPr>
              <a:t>I've spent forty minutes arguing against the business model my industry built. Here's what my company actually did about it, so you can judge it for yourself.</a:t>
            </a:r>
            <a:endParaRPr lang="en-US" sz="2100" dirty="0"/>
          </a:p>
        </p:txBody>
      </p:sp>
      <p:sp>
        <p:nvSpPr>
          <p:cNvPr id="6" name="Shape 4"/>
          <p:cNvSpPr/>
          <p:nvPr/>
        </p:nvSpPr>
        <p:spPr>
          <a:xfrm>
            <a:off x="640080" y="3282696"/>
            <a:ext cx="502920" cy="502920"/>
          </a:xfrm>
          <a:prstGeom prst="roundRect">
            <a:avLst>
              <a:gd name="adj" fmla="val 50909"/>
            </a:avLst>
          </a:prstGeom>
          <a:solidFill>
            <a:srgbClr val="00A19C"/>
          </a:solidFill>
          <a:ln w="12700">
            <a:solidFill>
              <a:srgbClr val="00A19C"/>
            </a:solidFill>
            <a:prstDash val="solid"/>
          </a:ln>
        </p:spPr>
      </p:sp>
      <p:sp>
        <p:nvSpPr>
          <p:cNvPr id="7" name="Text 5"/>
          <p:cNvSpPr/>
          <p:nvPr/>
        </p:nvSpPr>
        <p:spPr>
          <a:xfrm>
            <a:off x="640080" y="328269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Telegraf" pitchFamily="34" charset="0"/>
                <a:ea typeface="Telegraf" pitchFamily="34" charset="-122"/>
                <a:cs typeface="Telegraf" pitchFamily="34" charset="-120"/>
              </a:rPr>
              <a:t>1</a:t>
            </a:r>
            <a:endParaRPr lang="en-US" sz="1900" dirty="0"/>
          </a:p>
        </p:txBody>
      </p:sp>
      <p:sp>
        <p:nvSpPr>
          <p:cNvPr id="8" name="Text 6"/>
          <p:cNvSpPr/>
          <p:nvPr/>
        </p:nvSpPr>
        <p:spPr>
          <a:xfrm>
            <a:off x="1463040" y="3246120"/>
            <a:ext cx="9966960" cy="411480"/>
          </a:xfrm>
          <a:prstGeom prst="rect">
            <a:avLst/>
          </a:prstGeom>
          <a:noFill/>
          <a:ln/>
        </p:spPr>
        <p:txBody>
          <a:bodyPr wrap="square" lIns="0" tIns="0" rIns="0" bIns="0" rtlCol="0" anchor="ctr"/>
          <a:lstStyle/>
          <a:p>
            <a:pPr indent="0" marL="0">
              <a:buNone/>
            </a:pPr>
            <a:r>
              <a:rPr lang="en-US" sz="2100" b="1" dirty="0">
                <a:solidFill>
                  <a:srgbClr val="FFFFFF"/>
                </a:solidFill>
                <a:latin typeface="Telegraf" pitchFamily="34" charset="0"/>
                <a:ea typeface="Telegraf" pitchFamily="34" charset="-122"/>
                <a:cs typeface="Telegraf" pitchFamily="34" charset="-120"/>
              </a:rPr>
              <a:t>Founding member of UniversalAutomation.org</a:t>
            </a:r>
            <a:endParaRPr lang="en-US" sz="2100" dirty="0"/>
          </a:p>
        </p:txBody>
      </p:sp>
      <p:sp>
        <p:nvSpPr>
          <p:cNvPr id="9" name="Text 7"/>
          <p:cNvSpPr/>
          <p:nvPr/>
        </p:nvSpPr>
        <p:spPr>
          <a:xfrm>
            <a:off x="1463040" y="3666744"/>
            <a:ext cx="9966960" cy="548640"/>
          </a:xfrm>
          <a:prstGeom prst="rect">
            <a:avLst/>
          </a:prstGeom>
          <a:noFill/>
          <a:ln/>
        </p:spPr>
        <p:txBody>
          <a:bodyPr wrap="square" lIns="0" tIns="0" rIns="0" bIns="0" rtlCol="0" anchor="t"/>
          <a:lstStyle/>
          <a:p>
            <a:pPr indent="0" marL="0">
              <a:lnSpc>
                <a:spcPts val="2200"/>
              </a:lnSpc>
              <a:buNone/>
            </a:pPr>
            <a:r>
              <a:rPr lang="en-US" sz="1700" dirty="0">
                <a:solidFill>
                  <a:srgbClr val="9AA3AA"/>
                </a:solidFill>
                <a:latin typeface="Telegraf" pitchFamily="34" charset="0"/>
                <a:ea typeface="Telegraf" pitchFamily="34" charset="-122"/>
                <a:cs typeface="Telegraf" pitchFamily="34" charset="-120"/>
              </a:rPr>
              <a:t>One of nine founders in 2021 — alongside competitors and end users.</a:t>
            </a:r>
            <a:endParaRPr lang="en-US" sz="1700" dirty="0"/>
          </a:p>
        </p:txBody>
      </p:sp>
      <p:sp>
        <p:nvSpPr>
          <p:cNvPr id="10" name="Shape 8"/>
          <p:cNvSpPr/>
          <p:nvPr/>
        </p:nvSpPr>
        <p:spPr>
          <a:xfrm>
            <a:off x="640080" y="4288536"/>
            <a:ext cx="502920" cy="502920"/>
          </a:xfrm>
          <a:prstGeom prst="roundRect">
            <a:avLst>
              <a:gd name="adj" fmla="val 50909"/>
            </a:avLst>
          </a:prstGeom>
          <a:solidFill>
            <a:srgbClr val="00A19C"/>
          </a:solidFill>
          <a:ln w="12700">
            <a:solidFill>
              <a:srgbClr val="00A19C"/>
            </a:solidFill>
            <a:prstDash val="solid"/>
          </a:ln>
        </p:spPr>
      </p:sp>
      <p:sp>
        <p:nvSpPr>
          <p:cNvPr id="11" name="Text 9"/>
          <p:cNvSpPr/>
          <p:nvPr/>
        </p:nvSpPr>
        <p:spPr>
          <a:xfrm>
            <a:off x="640080" y="428853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Telegraf" pitchFamily="34" charset="0"/>
                <a:ea typeface="Telegraf" pitchFamily="34" charset="-122"/>
                <a:cs typeface="Telegraf" pitchFamily="34" charset="-120"/>
              </a:rPr>
              <a:t>2</a:t>
            </a:r>
            <a:endParaRPr lang="en-US" sz="1900" dirty="0"/>
          </a:p>
        </p:txBody>
      </p:sp>
      <p:sp>
        <p:nvSpPr>
          <p:cNvPr id="12" name="Text 10"/>
          <p:cNvSpPr/>
          <p:nvPr/>
        </p:nvSpPr>
        <p:spPr>
          <a:xfrm>
            <a:off x="1463040" y="4251960"/>
            <a:ext cx="9966960" cy="411480"/>
          </a:xfrm>
          <a:prstGeom prst="rect">
            <a:avLst/>
          </a:prstGeom>
          <a:noFill/>
          <a:ln/>
        </p:spPr>
        <p:txBody>
          <a:bodyPr wrap="square" lIns="0" tIns="0" rIns="0" bIns="0" rtlCol="0" anchor="ctr"/>
          <a:lstStyle/>
          <a:p>
            <a:pPr indent="0" marL="0">
              <a:buNone/>
            </a:pPr>
            <a:r>
              <a:rPr lang="en-US" sz="2100" b="1" dirty="0">
                <a:solidFill>
                  <a:srgbClr val="FFFFFF"/>
                </a:solidFill>
                <a:latin typeface="Telegraf" pitchFamily="34" charset="0"/>
                <a:ea typeface="Telegraf" pitchFamily="34" charset="-122"/>
                <a:cs typeface="Telegraf" pitchFamily="34" charset="-120"/>
              </a:rPr>
              <a:t>Donated the runtime source code</a:t>
            </a:r>
            <a:endParaRPr lang="en-US" sz="2100" dirty="0"/>
          </a:p>
        </p:txBody>
      </p:sp>
      <p:sp>
        <p:nvSpPr>
          <p:cNvPr id="13" name="Text 11"/>
          <p:cNvSpPr/>
          <p:nvPr/>
        </p:nvSpPr>
        <p:spPr>
          <a:xfrm>
            <a:off x="1463040" y="4672584"/>
            <a:ext cx="9966960" cy="548640"/>
          </a:xfrm>
          <a:prstGeom prst="rect">
            <a:avLst/>
          </a:prstGeom>
          <a:noFill/>
          <a:ln/>
        </p:spPr>
        <p:txBody>
          <a:bodyPr wrap="square" lIns="0" tIns="0" rIns="0" bIns="0" rtlCol="0" anchor="t"/>
          <a:lstStyle/>
          <a:p>
            <a:pPr indent="0" marL="0">
              <a:lnSpc>
                <a:spcPts val="2200"/>
              </a:lnSpc>
              <a:buNone/>
            </a:pPr>
            <a:r>
              <a:rPr lang="en-US" sz="1700" dirty="0">
                <a:solidFill>
                  <a:srgbClr val="9AA3AA"/>
                </a:solidFill>
                <a:latin typeface="Telegraf" pitchFamily="34" charset="0"/>
                <a:ea typeface="Telegraf" pitchFamily="34" charset="-122"/>
                <a:cs typeface="Telegraf" pitchFamily="34" charset="-120"/>
              </a:rPr>
              <a:t>The shared IEC 61499 runtime UAO stewards came from Schneider Electric. Any vendor, including our competitors, can license and ship it.</a:t>
            </a:r>
            <a:endParaRPr lang="en-US" sz="1700" dirty="0"/>
          </a:p>
        </p:txBody>
      </p:sp>
      <p:sp>
        <p:nvSpPr>
          <p:cNvPr id="14" name="Shape 12"/>
          <p:cNvSpPr/>
          <p:nvPr/>
        </p:nvSpPr>
        <p:spPr>
          <a:xfrm>
            <a:off x="640080" y="5294376"/>
            <a:ext cx="502920" cy="502920"/>
          </a:xfrm>
          <a:prstGeom prst="roundRect">
            <a:avLst>
              <a:gd name="adj" fmla="val 50909"/>
            </a:avLst>
          </a:prstGeom>
          <a:solidFill>
            <a:srgbClr val="00A19C"/>
          </a:solidFill>
          <a:ln w="12700">
            <a:solidFill>
              <a:srgbClr val="00A19C"/>
            </a:solidFill>
            <a:prstDash val="solid"/>
          </a:ln>
        </p:spPr>
      </p:sp>
      <p:sp>
        <p:nvSpPr>
          <p:cNvPr id="15" name="Text 13"/>
          <p:cNvSpPr/>
          <p:nvPr/>
        </p:nvSpPr>
        <p:spPr>
          <a:xfrm>
            <a:off x="640080" y="529437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Telegraf" pitchFamily="34" charset="0"/>
                <a:ea typeface="Telegraf" pitchFamily="34" charset="-122"/>
                <a:cs typeface="Telegraf" pitchFamily="34" charset="-120"/>
              </a:rPr>
              <a:t>3</a:t>
            </a:r>
            <a:endParaRPr lang="en-US" sz="1900" dirty="0"/>
          </a:p>
        </p:txBody>
      </p:sp>
      <p:sp>
        <p:nvSpPr>
          <p:cNvPr id="16" name="Text 14"/>
          <p:cNvSpPr/>
          <p:nvPr/>
        </p:nvSpPr>
        <p:spPr>
          <a:xfrm>
            <a:off x="1463040" y="5257800"/>
            <a:ext cx="9966960" cy="411480"/>
          </a:xfrm>
          <a:prstGeom prst="rect">
            <a:avLst/>
          </a:prstGeom>
          <a:noFill/>
          <a:ln/>
        </p:spPr>
        <p:txBody>
          <a:bodyPr wrap="square" lIns="0" tIns="0" rIns="0" bIns="0" rtlCol="0" anchor="ctr"/>
          <a:lstStyle/>
          <a:p>
            <a:pPr indent="0" marL="0">
              <a:buNone/>
            </a:pPr>
            <a:r>
              <a:rPr lang="en-US" sz="2100" b="1" dirty="0">
                <a:solidFill>
                  <a:srgbClr val="FFFFFF"/>
                </a:solidFill>
                <a:latin typeface="Telegraf" pitchFamily="34" charset="0"/>
                <a:ea typeface="Telegraf" pitchFamily="34" charset="-122"/>
                <a:cs typeface="Telegraf" pitchFamily="34" charset="-120"/>
              </a:rPr>
              <a:t>EcoStruxure Automation Expert</a:t>
            </a:r>
            <a:endParaRPr lang="en-US" sz="2100" dirty="0"/>
          </a:p>
        </p:txBody>
      </p:sp>
      <p:sp>
        <p:nvSpPr>
          <p:cNvPr id="17" name="Text 15"/>
          <p:cNvSpPr/>
          <p:nvPr/>
        </p:nvSpPr>
        <p:spPr>
          <a:xfrm>
            <a:off x="1463040" y="5678424"/>
            <a:ext cx="9966960" cy="548640"/>
          </a:xfrm>
          <a:prstGeom prst="rect">
            <a:avLst/>
          </a:prstGeom>
          <a:noFill/>
          <a:ln/>
        </p:spPr>
        <p:txBody>
          <a:bodyPr wrap="square" lIns="0" tIns="0" rIns="0" bIns="0" rtlCol="0" anchor="t"/>
          <a:lstStyle/>
          <a:p>
            <a:pPr indent="0" marL="0">
              <a:lnSpc>
                <a:spcPts val="2200"/>
              </a:lnSpc>
              <a:buNone/>
            </a:pPr>
            <a:r>
              <a:rPr lang="en-US" sz="1700" dirty="0">
                <a:solidFill>
                  <a:srgbClr val="9AA3AA"/>
                </a:solidFill>
                <a:latin typeface="Telegraf" pitchFamily="34" charset="0"/>
                <a:ea typeface="Telegraf" pitchFamily="34" charset="-122"/>
                <a:cs typeface="Telegraf" pitchFamily="34" charset="-120"/>
              </a:rPr>
              <a:t>Our implementation of it. 530+ active projects globally. It is one option, not the only one — and that's the point of a standard.</a:t>
            </a:r>
            <a:endParaRPr lang="en-US" sz="1700" dirty="0"/>
          </a:p>
        </p:txBody>
      </p:sp>
      <p:sp>
        <p:nvSpPr>
          <p:cNvPr id="18" name="Text 16"/>
          <p:cNvSpPr/>
          <p:nvPr/>
        </p:nvSpPr>
        <p:spPr>
          <a:xfrm>
            <a:off x="640080" y="6291072"/>
            <a:ext cx="10332720" cy="384048"/>
          </a:xfrm>
          <a:prstGeom prst="rect">
            <a:avLst/>
          </a:prstGeom>
          <a:noFill/>
          <a:ln/>
        </p:spPr>
        <p:txBody>
          <a:bodyPr wrap="square" lIns="0" tIns="0" rIns="0" bIns="0" rtlCol="0" anchor="t"/>
          <a:lstStyle/>
          <a:p>
            <a:pPr indent="0" marL="0">
              <a:buNone/>
            </a:pPr>
            <a:r>
              <a:rPr lang="en-US" sz="1800" i="1" dirty="0">
                <a:solidFill>
                  <a:srgbClr val="3DCD58"/>
                </a:solidFill>
                <a:latin typeface="Telegraf" pitchFamily="34" charset="0"/>
                <a:ea typeface="Telegraf" pitchFamily="34" charset="-122"/>
                <a:cs typeface="Telegraf" pitchFamily="34" charset="-120"/>
              </a:rPr>
              <a:t>If this leads you to a competitor's open platform, the talk still worked.</a:t>
            </a:r>
            <a:endParaRPr lang="en-US" sz="1800" dirty="0"/>
          </a:p>
        </p:txBody>
      </p:sp>
      <p:sp>
        <p:nvSpPr>
          <p:cNvPr id="20" name="Text 17"/>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2377440" cy="402336"/>
          </a:xfrm>
          <a:prstGeom prst="roundRect">
            <a:avLst>
              <a:gd name="adj" fmla="val 50000"/>
            </a:avLst>
          </a:prstGeom>
          <a:solidFill>
            <a:srgbClr val="00A19C"/>
          </a:solidFill>
          <a:ln w="12700">
            <a:solidFill>
              <a:srgbClr val="00A19C"/>
            </a:solidFill>
            <a:prstDash val="solid"/>
          </a:ln>
        </p:spPr>
      </p:sp>
      <p:sp>
        <p:nvSpPr>
          <p:cNvPr id="3" name="Text 1"/>
          <p:cNvSpPr/>
          <p:nvPr/>
        </p:nvSpPr>
        <p:spPr>
          <a:xfrm>
            <a:off x="640080" y="475488"/>
            <a:ext cx="2377440" cy="402336"/>
          </a:xfrm>
          <a:prstGeom prst="rect">
            <a:avLst/>
          </a:prstGeom>
          <a:noFill/>
          <a:ln/>
        </p:spPr>
        <p:txBody>
          <a:bodyPr wrap="square" lIns="0" tIns="0" rIns="0" bIns="0" rtlCol="0" anchor="ctr"/>
          <a:lstStyle/>
          <a:p>
            <a:pPr algn="ctr" indent="0" marL="0">
              <a:buNone/>
            </a:pPr>
            <a:r>
              <a:rPr lang="en-US" sz="1500" b="1" spc="110" kern="0" dirty="0">
                <a:solidFill>
                  <a:srgbClr val="FFFFFF"/>
                </a:solidFill>
                <a:latin typeface="Telegraf" pitchFamily="34" charset="0"/>
                <a:ea typeface="Telegraf" pitchFamily="34" charset="-122"/>
                <a:cs typeface="Telegraf" pitchFamily="34" charset="-120"/>
              </a:rPr>
              <a:t>HOW IT STARTS</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Nobody is asking you to rip anything out</a:t>
            </a:r>
            <a:endParaRPr lang="en-US" sz="3800" dirty="0"/>
          </a:p>
        </p:txBody>
      </p:sp>
      <p:sp>
        <p:nvSpPr>
          <p:cNvPr id="5" name="Shape 3"/>
          <p:cNvSpPr/>
          <p:nvPr/>
        </p:nvSpPr>
        <p:spPr>
          <a:xfrm>
            <a:off x="640080" y="2194560"/>
            <a:ext cx="3401568" cy="3840480"/>
          </a:xfrm>
          <a:prstGeom prst="roundRect">
            <a:avLst>
              <a:gd name="adj" fmla="val 3226"/>
            </a:avLst>
          </a:prstGeom>
          <a:solidFill>
            <a:srgbClr val="161616"/>
          </a:solidFill>
          <a:ln w="12700">
            <a:solidFill>
              <a:srgbClr val="161616"/>
            </a:solidFill>
            <a:prstDash val="solid"/>
          </a:ln>
        </p:spPr>
      </p:sp>
      <p:sp>
        <p:nvSpPr>
          <p:cNvPr id="6" name="Shape 4"/>
          <p:cNvSpPr/>
          <p:nvPr/>
        </p:nvSpPr>
        <p:spPr>
          <a:xfrm>
            <a:off x="960120" y="2468880"/>
            <a:ext cx="566928" cy="566928"/>
          </a:xfrm>
          <a:prstGeom prst="roundRect">
            <a:avLst>
              <a:gd name="adj" fmla="val 22581"/>
            </a:avLst>
          </a:prstGeom>
          <a:solidFill>
            <a:srgbClr val="3DCD58"/>
          </a:solidFill>
          <a:ln w="12700">
            <a:solidFill>
              <a:srgbClr val="3DCD58"/>
            </a:solidFill>
            <a:prstDash val="solid"/>
          </a:ln>
        </p:spPr>
      </p:sp>
      <p:sp>
        <p:nvSpPr>
          <p:cNvPr id="7" name="Text 5"/>
          <p:cNvSpPr/>
          <p:nvPr/>
        </p:nvSpPr>
        <p:spPr>
          <a:xfrm>
            <a:off x="960120" y="2468880"/>
            <a:ext cx="566928" cy="566928"/>
          </a:xfrm>
          <a:prstGeom prst="rect">
            <a:avLst/>
          </a:prstGeom>
          <a:noFill/>
          <a:ln/>
        </p:spPr>
        <p:txBody>
          <a:bodyPr wrap="square" lIns="0" tIns="0" rIns="0" bIns="0" rtlCol="0" anchor="ctr"/>
          <a:lstStyle/>
          <a:p>
            <a:pPr algn="ctr" indent="0" marL="0">
              <a:buNone/>
            </a:pPr>
            <a:r>
              <a:rPr lang="en-US" sz="2400" b="1" dirty="0">
                <a:solidFill>
                  <a:srgbClr val="000000"/>
                </a:solidFill>
                <a:latin typeface="Telegraf" pitchFamily="34" charset="0"/>
                <a:ea typeface="Telegraf" pitchFamily="34" charset="-122"/>
                <a:cs typeface="Telegraf" pitchFamily="34" charset="-120"/>
              </a:rPr>
              <a:t>1</a:t>
            </a:r>
            <a:endParaRPr lang="en-US" sz="2400" dirty="0"/>
          </a:p>
        </p:txBody>
      </p:sp>
      <p:sp>
        <p:nvSpPr>
          <p:cNvPr id="8" name="Text 6"/>
          <p:cNvSpPr/>
          <p:nvPr/>
        </p:nvSpPr>
        <p:spPr>
          <a:xfrm>
            <a:off x="960120" y="3182112"/>
            <a:ext cx="2834640" cy="457200"/>
          </a:xfrm>
          <a:prstGeom prst="rect">
            <a:avLst/>
          </a:prstGeom>
          <a:noFill/>
          <a:ln/>
        </p:spPr>
        <p:txBody>
          <a:bodyPr wrap="square" lIns="0" tIns="0" rIns="0" bIns="0" rtlCol="0" anchor="ctr"/>
          <a:lstStyle/>
          <a:p>
            <a:pPr indent="0" marL="0">
              <a:buNone/>
            </a:pPr>
            <a:r>
              <a:rPr lang="en-US" sz="2500" b="1" dirty="0">
                <a:solidFill>
                  <a:srgbClr val="00A19C"/>
                </a:solidFill>
                <a:latin typeface="Telegraf" pitchFamily="34" charset="0"/>
                <a:ea typeface="Telegraf" pitchFamily="34" charset="-122"/>
                <a:cs typeface="Telegraf" pitchFamily="34" charset="-120"/>
              </a:rPr>
              <a:t>Listen</a:t>
            </a:r>
            <a:endParaRPr lang="en-US" sz="2500" dirty="0"/>
          </a:p>
        </p:txBody>
      </p:sp>
      <p:sp>
        <p:nvSpPr>
          <p:cNvPr id="9" name="Text 7"/>
          <p:cNvSpPr/>
          <p:nvPr/>
        </p:nvSpPr>
        <p:spPr>
          <a:xfrm>
            <a:off x="960120" y="3703320"/>
            <a:ext cx="2852928" cy="2240280"/>
          </a:xfrm>
          <a:prstGeom prst="rect">
            <a:avLst/>
          </a:prstGeom>
          <a:noFill/>
          <a:ln/>
        </p:spPr>
        <p:txBody>
          <a:bodyPr wrap="square" lIns="0" tIns="0" rIns="0" bIns="0" rtlCol="0" anchor="t"/>
          <a:lstStyle/>
          <a:p>
            <a:pPr indent="0" marL="0">
              <a:lnSpc>
                <a:spcPts val="2100"/>
              </a:lnSpc>
              <a:buNone/>
            </a:pPr>
            <a:r>
              <a:rPr lang="en-US" sz="1600" dirty="0">
                <a:solidFill>
                  <a:srgbClr val="FFFFFF"/>
                </a:solidFill>
                <a:latin typeface="Telegraf" pitchFamily="34" charset="0"/>
                <a:ea typeface="Telegraf" pitchFamily="34" charset="-122"/>
                <a:cs typeface="Telegraf" pitchFamily="34" charset="-120"/>
              </a:rPr>
              <a:t>The new layer goes in alongside your existing PLCs and SCADA with no control authority at all. It reads data, publishes it securely, adds analytics. If it fails, nothing happens to your process.</a:t>
            </a:r>
            <a:endParaRPr lang="en-US" sz="1600" dirty="0"/>
          </a:p>
        </p:txBody>
      </p:sp>
      <p:sp>
        <p:nvSpPr>
          <p:cNvPr id="10" name="Shape 8"/>
          <p:cNvSpPr/>
          <p:nvPr/>
        </p:nvSpPr>
        <p:spPr>
          <a:xfrm>
            <a:off x="4398264" y="2194560"/>
            <a:ext cx="3401568" cy="3840480"/>
          </a:xfrm>
          <a:prstGeom prst="roundRect">
            <a:avLst>
              <a:gd name="adj" fmla="val 3226"/>
            </a:avLst>
          </a:prstGeom>
          <a:solidFill>
            <a:srgbClr val="161616"/>
          </a:solidFill>
          <a:ln w="12700">
            <a:solidFill>
              <a:srgbClr val="161616"/>
            </a:solidFill>
            <a:prstDash val="solid"/>
          </a:ln>
        </p:spPr>
      </p:sp>
      <p:sp>
        <p:nvSpPr>
          <p:cNvPr id="11" name="Shape 9"/>
          <p:cNvSpPr/>
          <p:nvPr/>
        </p:nvSpPr>
        <p:spPr>
          <a:xfrm>
            <a:off x="4718304" y="2468880"/>
            <a:ext cx="566928" cy="566928"/>
          </a:xfrm>
          <a:prstGeom prst="roundRect">
            <a:avLst>
              <a:gd name="adj" fmla="val 22581"/>
            </a:avLst>
          </a:prstGeom>
          <a:solidFill>
            <a:srgbClr val="3DCD58"/>
          </a:solidFill>
          <a:ln w="12700">
            <a:solidFill>
              <a:srgbClr val="3DCD58"/>
            </a:solidFill>
            <a:prstDash val="solid"/>
          </a:ln>
        </p:spPr>
      </p:sp>
      <p:sp>
        <p:nvSpPr>
          <p:cNvPr id="12" name="Text 10"/>
          <p:cNvSpPr/>
          <p:nvPr/>
        </p:nvSpPr>
        <p:spPr>
          <a:xfrm>
            <a:off x="4718304" y="2468880"/>
            <a:ext cx="566928" cy="566928"/>
          </a:xfrm>
          <a:prstGeom prst="rect">
            <a:avLst/>
          </a:prstGeom>
          <a:noFill/>
          <a:ln/>
        </p:spPr>
        <p:txBody>
          <a:bodyPr wrap="square" lIns="0" tIns="0" rIns="0" bIns="0" rtlCol="0" anchor="ctr"/>
          <a:lstStyle/>
          <a:p>
            <a:pPr algn="ctr" indent="0" marL="0">
              <a:buNone/>
            </a:pPr>
            <a:r>
              <a:rPr lang="en-US" sz="2400" b="1" dirty="0">
                <a:solidFill>
                  <a:srgbClr val="000000"/>
                </a:solidFill>
                <a:latin typeface="Telegraf" pitchFamily="34" charset="0"/>
                <a:ea typeface="Telegraf" pitchFamily="34" charset="-122"/>
                <a:cs typeface="Telegraf" pitchFamily="34" charset="-120"/>
              </a:rPr>
              <a:t>2</a:t>
            </a:r>
            <a:endParaRPr lang="en-US" sz="2400" dirty="0"/>
          </a:p>
        </p:txBody>
      </p:sp>
      <p:sp>
        <p:nvSpPr>
          <p:cNvPr id="13" name="Text 11"/>
          <p:cNvSpPr/>
          <p:nvPr/>
        </p:nvSpPr>
        <p:spPr>
          <a:xfrm>
            <a:off x="4718304" y="3182112"/>
            <a:ext cx="2834640" cy="457200"/>
          </a:xfrm>
          <a:prstGeom prst="rect">
            <a:avLst/>
          </a:prstGeom>
          <a:noFill/>
          <a:ln/>
        </p:spPr>
        <p:txBody>
          <a:bodyPr wrap="square" lIns="0" tIns="0" rIns="0" bIns="0" rtlCol="0" anchor="ctr"/>
          <a:lstStyle/>
          <a:p>
            <a:pPr indent="0" marL="0">
              <a:buNone/>
            </a:pPr>
            <a:r>
              <a:rPr lang="en-US" sz="2500" b="1" dirty="0">
                <a:solidFill>
                  <a:srgbClr val="00A19C"/>
                </a:solidFill>
                <a:latin typeface="Telegraf" pitchFamily="34" charset="0"/>
                <a:ea typeface="Telegraf" pitchFamily="34" charset="-122"/>
                <a:cs typeface="Telegraf" pitchFamily="34" charset="-120"/>
              </a:rPr>
              <a:t>Rehearse</a:t>
            </a:r>
            <a:endParaRPr lang="en-US" sz="2500" dirty="0"/>
          </a:p>
        </p:txBody>
      </p:sp>
      <p:sp>
        <p:nvSpPr>
          <p:cNvPr id="14" name="Text 12"/>
          <p:cNvSpPr/>
          <p:nvPr/>
        </p:nvSpPr>
        <p:spPr>
          <a:xfrm>
            <a:off x="4718304" y="3703320"/>
            <a:ext cx="2852928" cy="2240280"/>
          </a:xfrm>
          <a:prstGeom prst="rect">
            <a:avLst/>
          </a:prstGeom>
          <a:noFill/>
          <a:ln/>
        </p:spPr>
        <p:txBody>
          <a:bodyPr wrap="square" lIns="0" tIns="0" rIns="0" bIns="0" rtlCol="0" anchor="t"/>
          <a:lstStyle/>
          <a:p>
            <a:pPr indent="0" marL="0">
              <a:lnSpc>
                <a:spcPts val="2100"/>
              </a:lnSpc>
              <a:buNone/>
            </a:pPr>
            <a:r>
              <a:rPr lang="en-US" sz="1600" dirty="0">
                <a:solidFill>
                  <a:srgbClr val="FFFFFF"/>
                </a:solidFill>
                <a:latin typeface="Telegraf" pitchFamily="34" charset="0"/>
                <a:ea typeface="Telegraf" pitchFamily="34" charset="-122"/>
                <a:cs typeface="Telegraf" pitchFamily="34" charset="-120"/>
              </a:rPr>
              <a:t>Build the control logic in parallel. Simulate it. Run it beside the live controller and watch its outputs without letting it act. You are proving it before you trust it.</a:t>
            </a:r>
            <a:endParaRPr lang="en-US" sz="1600" dirty="0"/>
          </a:p>
        </p:txBody>
      </p:sp>
      <p:sp>
        <p:nvSpPr>
          <p:cNvPr id="15" name="Shape 13"/>
          <p:cNvSpPr/>
          <p:nvPr/>
        </p:nvSpPr>
        <p:spPr>
          <a:xfrm>
            <a:off x="8156448" y="2194560"/>
            <a:ext cx="3401568" cy="3840480"/>
          </a:xfrm>
          <a:prstGeom prst="roundRect">
            <a:avLst>
              <a:gd name="adj" fmla="val 3226"/>
            </a:avLst>
          </a:prstGeom>
          <a:solidFill>
            <a:srgbClr val="161616"/>
          </a:solidFill>
          <a:ln w="12700">
            <a:solidFill>
              <a:srgbClr val="161616"/>
            </a:solidFill>
            <a:prstDash val="solid"/>
          </a:ln>
        </p:spPr>
      </p:sp>
      <p:sp>
        <p:nvSpPr>
          <p:cNvPr id="16" name="Shape 14"/>
          <p:cNvSpPr/>
          <p:nvPr/>
        </p:nvSpPr>
        <p:spPr>
          <a:xfrm>
            <a:off x="8476488" y="2468880"/>
            <a:ext cx="566928" cy="566928"/>
          </a:xfrm>
          <a:prstGeom prst="roundRect">
            <a:avLst>
              <a:gd name="adj" fmla="val 22581"/>
            </a:avLst>
          </a:prstGeom>
          <a:solidFill>
            <a:srgbClr val="3DCD58"/>
          </a:solidFill>
          <a:ln w="12700">
            <a:solidFill>
              <a:srgbClr val="3DCD58"/>
            </a:solidFill>
            <a:prstDash val="solid"/>
          </a:ln>
        </p:spPr>
      </p:sp>
      <p:sp>
        <p:nvSpPr>
          <p:cNvPr id="17" name="Text 15"/>
          <p:cNvSpPr/>
          <p:nvPr/>
        </p:nvSpPr>
        <p:spPr>
          <a:xfrm>
            <a:off x="8476488" y="2468880"/>
            <a:ext cx="566928" cy="566928"/>
          </a:xfrm>
          <a:prstGeom prst="rect">
            <a:avLst/>
          </a:prstGeom>
          <a:noFill/>
          <a:ln/>
        </p:spPr>
        <p:txBody>
          <a:bodyPr wrap="square" lIns="0" tIns="0" rIns="0" bIns="0" rtlCol="0" anchor="ctr"/>
          <a:lstStyle/>
          <a:p>
            <a:pPr algn="ctr" indent="0" marL="0">
              <a:buNone/>
            </a:pPr>
            <a:r>
              <a:rPr lang="en-US" sz="2400" b="1" dirty="0">
                <a:solidFill>
                  <a:srgbClr val="000000"/>
                </a:solidFill>
                <a:latin typeface="Telegraf" pitchFamily="34" charset="0"/>
                <a:ea typeface="Telegraf" pitchFamily="34" charset="-122"/>
                <a:cs typeface="Telegraf" pitchFamily="34" charset="-120"/>
              </a:rPr>
              <a:t>3</a:t>
            </a:r>
            <a:endParaRPr lang="en-US" sz="2400" dirty="0"/>
          </a:p>
        </p:txBody>
      </p:sp>
      <p:sp>
        <p:nvSpPr>
          <p:cNvPr id="18" name="Text 16"/>
          <p:cNvSpPr/>
          <p:nvPr/>
        </p:nvSpPr>
        <p:spPr>
          <a:xfrm>
            <a:off x="8476488" y="3182112"/>
            <a:ext cx="2834640" cy="457200"/>
          </a:xfrm>
          <a:prstGeom prst="rect">
            <a:avLst/>
          </a:prstGeom>
          <a:noFill/>
          <a:ln/>
        </p:spPr>
        <p:txBody>
          <a:bodyPr wrap="square" lIns="0" tIns="0" rIns="0" bIns="0" rtlCol="0" anchor="ctr"/>
          <a:lstStyle/>
          <a:p>
            <a:pPr indent="0" marL="0">
              <a:buNone/>
            </a:pPr>
            <a:r>
              <a:rPr lang="en-US" sz="2500" b="1" dirty="0">
                <a:solidFill>
                  <a:srgbClr val="00A19C"/>
                </a:solidFill>
                <a:latin typeface="Telegraf" pitchFamily="34" charset="0"/>
                <a:ea typeface="Telegraf" pitchFamily="34" charset="-122"/>
                <a:cs typeface="Telegraf" pitchFamily="34" charset="-120"/>
              </a:rPr>
              <a:t>Hand over</a:t>
            </a:r>
            <a:endParaRPr lang="en-US" sz="2500" dirty="0"/>
          </a:p>
        </p:txBody>
      </p:sp>
      <p:sp>
        <p:nvSpPr>
          <p:cNvPr id="19" name="Text 17"/>
          <p:cNvSpPr/>
          <p:nvPr/>
        </p:nvSpPr>
        <p:spPr>
          <a:xfrm>
            <a:off x="8476488" y="3703320"/>
            <a:ext cx="2852928" cy="2240280"/>
          </a:xfrm>
          <a:prstGeom prst="rect">
            <a:avLst/>
          </a:prstGeom>
          <a:noFill/>
          <a:ln/>
        </p:spPr>
        <p:txBody>
          <a:bodyPr wrap="square" lIns="0" tIns="0" rIns="0" bIns="0" rtlCol="0" anchor="t"/>
          <a:lstStyle/>
          <a:p>
            <a:pPr indent="0" marL="0">
              <a:lnSpc>
                <a:spcPts val="2100"/>
              </a:lnSpc>
              <a:buNone/>
            </a:pPr>
            <a:r>
              <a:rPr lang="en-US" sz="1600" dirty="0">
                <a:solidFill>
                  <a:srgbClr val="FFFFFF"/>
                </a:solidFill>
                <a:latin typeface="Telegraf" pitchFamily="34" charset="0"/>
                <a:ea typeface="Telegraf" pitchFamily="34" charset="-122"/>
                <a:cs typeface="Telegraf" pitchFamily="34" charset="-120"/>
              </a:rPr>
              <a:t>Only when it's proven does control authority move — one asset at a time. The existing I/O, wiring, cabinets and drives stay exactly where they are.</a:t>
            </a:r>
            <a:endParaRPr lang="en-US" sz="1600" dirty="0"/>
          </a:p>
        </p:txBody>
      </p:sp>
      <p:sp>
        <p:nvSpPr>
          <p:cNvPr id="20" name="Text 18"/>
          <p:cNvSpPr/>
          <p:nvPr/>
        </p:nvSpPr>
        <p:spPr>
          <a:xfrm>
            <a:off x="640080" y="6144768"/>
            <a:ext cx="10332720" cy="640080"/>
          </a:xfrm>
          <a:prstGeom prst="rect">
            <a:avLst/>
          </a:prstGeom>
          <a:noFill/>
          <a:ln/>
        </p:spPr>
        <p:txBody>
          <a:bodyPr wrap="square" lIns="0" tIns="0" rIns="0" bIns="0" rtlCol="0" anchor="t"/>
          <a:lstStyle/>
          <a:p>
            <a:pPr indent="0" marL="0">
              <a:buNone/>
            </a:pPr>
            <a:r>
              <a:rPr lang="en-US" sz="1900" b="1" dirty="0">
                <a:solidFill>
                  <a:srgbClr val="FFFFFF"/>
                </a:solidFill>
                <a:latin typeface="Telegraf" pitchFamily="34" charset="0"/>
                <a:ea typeface="Telegraf" pitchFamily="34" charset="-122"/>
                <a:cs typeface="Telegraf" pitchFamily="34" charset="-120"/>
              </a:rPr>
              <a:t>Phase 1 is a data project with a hardware bill in the low thousands. It is not a control decision, and it is reversible.</a:t>
            </a:r>
            <a:endParaRPr lang="en-US" sz="1900" dirty="0"/>
          </a:p>
        </p:txBody>
      </p:sp>
      <p:sp>
        <p:nvSpPr>
          <p:cNvPr id="22" name="Text 19"/>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475488"/>
            <a:ext cx="2743200" cy="402336"/>
          </a:xfrm>
          <a:prstGeom prst="roundRect">
            <a:avLst>
              <a:gd name="adj" fmla="val 50000"/>
            </a:avLst>
          </a:prstGeom>
          <a:solidFill>
            <a:srgbClr val="3DCD58"/>
          </a:solidFill>
          <a:ln w="12700">
            <a:solidFill>
              <a:srgbClr val="3DCD58"/>
            </a:solidFill>
            <a:prstDash val="solid"/>
          </a:ln>
        </p:spPr>
      </p:sp>
      <p:sp>
        <p:nvSpPr>
          <p:cNvPr id="3" name="Text 1"/>
          <p:cNvSpPr/>
          <p:nvPr/>
        </p:nvSpPr>
        <p:spPr>
          <a:xfrm>
            <a:off x="640080" y="475488"/>
            <a:ext cx="2743200" cy="402336"/>
          </a:xfrm>
          <a:prstGeom prst="rect">
            <a:avLst/>
          </a:prstGeom>
          <a:noFill/>
          <a:ln/>
        </p:spPr>
        <p:txBody>
          <a:bodyPr wrap="square" lIns="0" tIns="0" rIns="0" bIns="0" rtlCol="0" anchor="ctr"/>
          <a:lstStyle/>
          <a:p>
            <a:pPr algn="ctr" indent="0" marL="0">
              <a:buNone/>
            </a:pPr>
            <a:r>
              <a:rPr lang="en-US" sz="1500" b="1" spc="110" kern="0" dirty="0">
                <a:solidFill>
                  <a:srgbClr val="000000"/>
                </a:solidFill>
                <a:latin typeface="Telegraf" pitchFamily="34" charset="0"/>
                <a:ea typeface="Telegraf" pitchFamily="34" charset="-122"/>
                <a:cs typeface="Telegraf" pitchFamily="34" charset="-120"/>
              </a:rPr>
              <a:t>MONDAY MORNING</a:t>
            </a:r>
            <a:endParaRPr lang="en-US" sz="1500" dirty="0"/>
          </a:p>
        </p:txBody>
      </p:sp>
      <p:sp>
        <p:nvSpPr>
          <p:cNvPr id="4" name="Text 2"/>
          <p:cNvSpPr/>
          <p:nvPr/>
        </p:nvSpPr>
        <p:spPr>
          <a:xfrm>
            <a:off x="640080" y="1024128"/>
            <a:ext cx="10908792" cy="960120"/>
          </a:xfrm>
          <a:prstGeom prst="rect">
            <a:avLst/>
          </a:prstGeom>
          <a:noFill/>
          <a:ln/>
        </p:spPr>
        <p:txBody>
          <a:bodyPr wrap="square" lIns="0" tIns="0" rIns="0" bIns="0" rtlCol="0" anchor="t"/>
          <a:lstStyle/>
          <a:p>
            <a:pPr indent="0" marL="0">
              <a:buNone/>
            </a:pPr>
            <a:r>
              <a:rPr lang="en-US" sz="3800" b="1" dirty="0">
                <a:solidFill>
                  <a:srgbClr val="FFFFFF"/>
                </a:solidFill>
                <a:latin typeface="Telegraf" pitchFamily="34" charset="0"/>
                <a:ea typeface="Telegraf" pitchFamily="34" charset="-122"/>
                <a:cs typeface="Telegraf" pitchFamily="34" charset="-120"/>
              </a:rPr>
              <a:t>Three things, none of which cost money</a:t>
            </a:r>
            <a:endParaRPr lang="en-US" sz="3800" dirty="0"/>
          </a:p>
        </p:txBody>
      </p:sp>
      <p:sp>
        <p:nvSpPr>
          <p:cNvPr id="5" name="Shape 3"/>
          <p:cNvSpPr/>
          <p:nvPr/>
        </p:nvSpPr>
        <p:spPr>
          <a:xfrm>
            <a:off x="640080" y="2093976"/>
            <a:ext cx="566928" cy="566928"/>
          </a:xfrm>
          <a:prstGeom prst="roundRect">
            <a:avLst>
              <a:gd name="adj" fmla="val 50000"/>
            </a:avLst>
          </a:prstGeom>
          <a:solidFill>
            <a:srgbClr val="3DCD58"/>
          </a:solidFill>
          <a:ln w="12700">
            <a:solidFill>
              <a:srgbClr val="3DCD58"/>
            </a:solidFill>
            <a:prstDash val="solid"/>
          </a:ln>
        </p:spPr>
      </p:sp>
      <p:sp>
        <p:nvSpPr>
          <p:cNvPr id="6" name="Text 4"/>
          <p:cNvSpPr/>
          <p:nvPr/>
        </p:nvSpPr>
        <p:spPr>
          <a:xfrm>
            <a:off x="640080" y="2093976"/>
            <a:ext cx="566928" cy="566928"/>
          </a:xfrm>
          <a:prstGeom prst="rect">
            <a:avLst/>
          </a:prstGeom>
          <a:noFill/>
          <a:ln/>
        </p:spPr>
        <p:txBody>
          <a:bodyPr wrap="square" lIns="0" tIns="0" rIns="0" bIns="0" rtlCol="0" anchor="ctr"/>
          <a:lstStyle/>
          <a:p>
            <a:pPr algn="ctr" indent="0" marL="0">
              <a:buNone/>
            </a:pPr>
            <a:r>
              <a:rPr lang="en-US" sz="2200" b="1" dirty="0">
                <a:solidFill>
                  <a:srgbClr val="000000"/>
                </a:solidFill>
                <a:latin typeface="Telegraf" pitchFamily="34" charset="0"/>
                <a:ea typeface="Telegraf" pitchFamily="34" charset="-122"/>
                <a:cs typeface="Telegraf" pitchFamily="34" charset="-120"/>
              </a:rPr>
              <a:t>1</a:t>
            </a:r>
            <a:endParaRPr lang="en-US" sz="2200" dirty="0"/>
          </a:p>
        </p:txBody>
      </p:sp>
      <p:sp>
        <p:nvSpPr>
          <p:cNvPr id="7" name="Text 5"/>
          <p:cNvSpPr/>
          <p:nvPr/>
        </p:nvSpPr>
        <p:spPr>
          <a:xfrm>
            <a:off x="1554480" y="2057400"/>
            <a:ext cx="9692640" cy="457200"/>
          </a:xfrm>
          <a:prstGeom prst="rect">
            <a:avLst/>
          </a:prstGeom>
          <a:noFill/>
          <a:ln/>
        </p:spPr>
        <p:txBody>
          <a:bodyPr wrap="square" lIns="0" tIns="0" rIns="0" bIns="0" rtlCol="0" anchor="ctr"/>
          <a:lstStyle/>
          <a:p>
            <a:pPr indent="0" marL="0">
              <a:buNone/>
            </a:pPr>
            <a:r>
              <a:rPr lang="en-US" sz="2400" b="1" dirty="0">
                <a:solidFill>
                  <a:srgbClr val="FFFFFF"/>
                </a:solidFill>
                <a:latin typeface="Telegraf" pitchFamily="34" charset="0"/>
                <a:ea typeface="Telegraf" pitchFamily="34" charset="-122"/>
                <a:cs typeface="Telegraf" pitchFamily="34" charset="-120"/>
              </a:rPr>
              <a:t>Find your cliff edge</a:t>
            </a:r>
            <a:endParaRPr lang="en-US" sz="2400" dirty="0"/>
          </a:p>
        </p:txBody>
      </p:sp>
      <p:sp>
        <p:nvSpPr>
          <p:cNvPr id="8" name="Text 6"/>
          <p:cNvSpPr/>
          <p:nvPr/>
        </p:nvSpPr>
        <p:spPr>
          <a:xfrm>
            <a:off x="1554480" y="2532888"/>
            <a:ext cx="9692640" cy="932688"/>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Pull the list of controllers, drives and operator stations past or nearing end-of-support. Most utilities have never seen that list on one page — and it is usually worse than expected.</a:t>
            </a:r>
            <a:endParaRPr lang="en-US" sz="1800" dirty="0"/>
          </a:p>
        </p:txBody>
      </p:sp>
      <p:sp>
        <p:nvSpPr>
          <p:cNvPr id="9" name="Shape 7"/>
          <p:cNvSpPr/>
          <p:nvPr/>
        </p:nvSpPr>
        <p:spPr>
          <a:xfrm>
            <a:off x="640080" y="3557016"/>
            <a:ext cx="566928" cy="566928"/>
          </a:xfrm>
          <a:prstGeom prst="roundRect">
            <a:avLst>
              <a:gd name="adj" fmla="val 50000"/>
            </a:avLst>
          </a:prstGeom>
          <a:solidFill>
            <a:srgbClr val="3DCD58"/>
          </a:solidFill>
          <a:ln w="12700">
            <a:solidFill>
              <a:srgbClr val="3DCD58"/>
            </a:solidFill>
            <a:prstDash val="solid"/>
          </a:ln>
        </p:spPr>
      </p:sp>
      <p:sp>
        <p:nvSpPr>
          <p:cNvPr id="10" name="Text 8"/>
          <p:cNvSpPr/>
          <p:nvPr/>
        </p:nvSpPr>
        <p:spPr>
          <a:xfrm>
            <a:off x="640080" y="3557016"/>
            <a:ext cx="566928" cy="566928"/>
          </a:xfrm>
          <a:prstGeom prst="rect">
            <a:avLst/>
          </a:prstGeom>
          <a:noFill/>
          <a:ln/>
        </p:spPr>
        <p:txBody>
          <a:bodyPr wrap="square" lIns="0" tIns="0" rIns="0" bIns="0" rtlCol="0" anchor="ctr"/>
          <a:lstStyle/>
          <a:p>
            <a:pPr algn="ctr" indent="0" marL="0">
              <a:buNone/>
            </a:pPr>
            <a:r>
              <a:rPr lang="en-US" sz="2200" b="1" dirty="0">
                <a:solidFill>
                  <a:srgbClr val="000000"/>
                </a:solidFill>
                <a:latin typeface="Telegraf" pitchFamily="34" charset="0"/>
                <a:ea typeface="Telegraf" pitchFamily="34" charset="-122"/>
                <a:cs typeface="Telegraf" pitchFamily="34" charset="-120"/>
              </a:rPr>
              <a:t>2</a:t>
            </a:r>
            <a:endParaRPr lang="en-US" sz="2200" dirty="0"/>
          </a:p>
        </p:txBody>
      </p:sp>
      <p:sp>
        <p:nvSpPr>
          <p:cNvPr id="11" name="Text 9"/>
          <p:cNvSpPr/>
          <p:nvPr/>
        </p:nvSpPr>
        <p:spPr>
          <a:xfrm>
            <a:off x="1554480" y="3520440"/>
            <a:ext cx="9692640" cy="457200"/>
          </a:xfrm>
          <a:prstGeom prst="rect">
            <a:avLst/>
          </a:prstGeom>
          <a:noFill/>
          <a:ln/>
        </p:spPr>
        <p:txBody>
          <a:bodyPr wrap="square" lIns="0" tIns="0" rIns="0" bIns="0" rtlCol="0" anchor="ctr"/>
          <a:lstStyle/>
          <a:p>
            <a:pPr indent="0" marL="0">
              <a:buNone/>
            </a:pPr>
            <a:r>
              <a:rPr lang="en-US" sz="2400" b="1" dirty="0">
                <a:solidFill>
                  <a:srgbClr val="FFFFFF"/>
                </a:solidFill>
                <a:latin typeface="Telegraf" pitchFamily="34" charset="0"/>
                <a:ea typeface="Telegraf" pitchFamily="34" charset="-122"/>
                <a:cs typeface="Telegraf" pitchFamily="34" charset="-120"/>
              </a:rPr>
              <a:t>Ask one question in every vendor meeting</a:t>
            </a:r>
            <a:endParaRPr lang="en-US" sz="2400" dirty="0"/>
          </a:p>
        </p:txBody>
      </p:sp>
      <p:sp>
        <p:nvSpPr>
          <p:cNvPr id="12" name="Text 10"/>
          <p:cNvSpPr/>
          <p:nvPr/>
        </p:nvSpPr>
        <p:spPr>
          <a:xfrm>
            <a:off x="1554480" y="3995928"/>
            <a:ext cx="9692640" cy="932688"/>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"Is your software-defined offering portable to hardware you don't manufacture — yes or no?" Write the answer down. You'll learn a lot from who hesitates.</a:t>
            </a:r>
            <a:endParaRPr lang="en-US" sz="1800" dirty="0"/>
          </a:p>
        </p:txBody>
      </p:sp>
      <p:sp>
        <p:nvSpPr>
          <p:cNvPr id="13" name="Shape 11"/>
          <p:cNvSpPr/>
          <p:nvPr/>
        </p:nvSpPr>
        <p:spPr>
          <a:xfrm>
            <a:off x="640080" y="5020056"/>
            <a:ext cx="566928" cy="566928"/>
          </a:xfrm>
          <a:prstGeom prst="roundRect">
            <a:avLst>
              <a:gd name="adj" fmla="val 50000"/>
            </a:avLst>
          </a:prstGeom>
          <a:solidFill>
            <a:srgbClr val="3DCD58"/>
          </a:solidFill>
          <a:ln w="12700">
            <a:solidFill>
              <a:srgbClr val="3DCD58"/>
            </a:solidFill>
            <a:prstDash val="solid"/>
          </a:ln>
        </p:spPr>
      </p:sp>
      <p:sp>
        <p:nvSpPr>
          <p:cNvPr id="14" name="Text 12"/>
          <p:cNvSpPr/>
          <p:nvPr/>
        </p:nvSpPr>
        <p:spPr>
          <a:xfrm>
            <a:off x="640080" y="5020056"/>
            <a:ext cx="566928" cy="566928"/>
          </a:xfrm>
          <a:prstGeom prst="rect">
            <a:avLst/>
          </a:prstGeom>
          <a:noFill/>
          <a:ln/>
        </p:spPr>
        <p:txBody>
          <a:bodyPr wrap="square" lIns="0" tIns="0" rIns="0" bIns="0" rtlCol="0" anchor="ctr"/>
          <a:lstStyle/>
          <a:p>
            <a:pPr algn="ctr" indent="0" marL="0">
              <a:buNone/>
            </a:pPr>
            <a:r>
              <a:rPr lang="en-US" sz="2200" b="1" dirty="0">
                <a:solidFill>
                  <a:srgbClr val="000000"/>
                </a:solidFill>
                <a:latin typeface="Telegraf" pitchFamily="34" charset="0"/>
                <a:ea typeface="Telegraf" pitchFamily="34" charset="-122"/>
                <a:cs typeface="Telegraf" pitchFamily="34" charset="-120"/>
              </a:rPr>
              <a:t>3</a:t>
            </a:r>
            <a:endParaRPr lang="en-US" sz="2200" dirty="0"/>
          </a:p>
        </p:txBody>
      </p:sp>
      <p:sp>
        <p:nvSpPr>
          <p:cNvPr id="15" name="Text 13"/>
          <p:cNvSpPr/>
          <p:nvPr/>
        </p:nvSpPr>
        <p:spPr>
          <a:xfrm>
            <a:off x="1554480" y="4983480"/>
            <a:ext cx="9692640" cy="457200"/>
          </a:xfrm>
          <a:prstGeom prst="rect">
            <a:avLst/>
          </a:prstGeom>
          <a:noFill/>
          <a:ln/>
        </p:spPr>
        <p:txBody>
          <a:bodyPr wrap="square" lIns="0" tIns="0" rIns="0" bIns="0" rtlCol="0" anchor="ctr"/>
          <a:lstStyle/>
          <a:p>
            <a:pPr indent="0" marL="0">
              <a:buNone/>
            </a:pPr>
            <a:r>
              <a:rPr lang="en-US" sz="2400" b="1" dirty="0">
                <a:solidFill>
                  <a:srgbClr val="FFFFFF"/>
                </a:solidFill>
                <a:latin typeface="Telegraf" pitchFamily="34" charset="0"/>
                <a:ea typeface="Telegraf" pitchFamily="34" charset="-122"/>
                <a:cs typeface="Telegraf" pitchFamily="34" charset="-120"/>
              </a:rPr>
              <a:t>Pick one place to prove it</a:t>
            </a:r>
            <a:endParaRPr lang="en-US" sz="2400" dirty="0"/>
          </a:p>
        </p:txBody>
      </p:sp>
      <p:sp>
        <p:nvSpPr>
          <p:cNvPr id="16" name="Text 14"/>
          <p:cNvSpPr/>
          <p:nvPr/>
        </p:nvSpPr>
        <p:spPr>
          <a:xfrm>
            <a:off x="1554480" y="5458968"/>
            <a:ext cx="9692640" cy="932688"/>
          </a:xfrm>
          <a:prstGeom prst="rect">
            <a:avLst/>
          </a:prstGeom>
          <a:noFill/>
          <a:ln/>
        </p:spPr>
        <p:txBody>
          <a:bodyPr wrap="square" lIns="0" tIns="0" rIns="0" bIns="0" rtlCol="0" anchor="t"/>
          <a:lstStyle/>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Not the headworks. A remote site, a lift station, a well — somewhere a failure is inconvenient rather than catastrophic. Prove the architecture where the stakes are low.</a:t>
            </a:r>
            <a:endParaRPr lang="en-US" sz="1800" dirty="0"/>
          </a:p>
        </p:txBody>
      </p:sp>
      <p:sp>
        <p:nvSpPr>
          <p:cNvPr id="17" name="Text 15"/>
          <p:cNvSpPr/>
          <p:nvPr/>
        </p:nvSpPr>
        <p:spPr>
          <a:xfrm>
            <a:off x="640080" y="6428232"/>
            <a:ext cx="10332720" cy="347472"/>
          </a:xfrm>
          <a:prstGeom prst="rect">
            <a:avLst/>
          </a:prstGeom>
          <a:noFill/>
          <a:ln/>
        </p:spPr>
        <p:txBody>
          <a:bodyPr wrap="square" lIns="0" tIns="0" rIns="0" bIns="0" rtlCol="0" anchor="t"/>
          <a:lstStyle/>
          <a:p>
            <a:pPr indent="0" marL="0">
              <a:buNone/>
            </a:pPr>
            <a:r>
              <a:rPr lang="en-US" sz="1900" i="1" dirty="0">
                <a:solidFill>
                  <a:srgbClr val="3DCD58"/>
                </a:solidFill>
                <a:latin typeface="Telegraf" pitchFamily="34" charset="0"/>
                <a:ea typeface="Telegraf" pitchFamily="34" charset="-122"/>
                <a:cs typeface="Telegraf" pitchFamily="34" charset="-120"/>
              </a:rPr>
              <a:t>None of this requires a budget cycle. All of it changes the next one.</a:t>
            </a:r>
            <a:endParaRPr lang="en-US" sz="1900" dirty="0"/>
          </a:p>
        </p:txBody>
      </p:sp>
      <p:sp>
        <p:nvSpPr>
          <p:cNvPr id="19" name="Text 16"/>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4434840"/>
            <a:ext cx="12188952" cy="2423160"/>
          </a:xfrm>
          <a:prstGeom prst="rect">
            <a:avLst/>
          </a:prstGeom>
          <a:solidFill>
            <a:srgbClr val="0A0A0A"/>
          </a:solidFill>
          <a:ln w="12700">
            <a:solidFill>
              <a:srgbClr val="333333"/>
            </a:solidFill>
            <a:prstDash val="solid"/>
          </a:ln>
        </p:spPr>
      </p:sp>
      <p:sp>
        <p:nvSpPr>
          <p:cNvPr id="3" name="Text 1"/>
          <p:cNvSpPr/>
          <p:nvPr/>
        </p:nvSpPr>
        <p:spPr>
          <a:xfrm>
            <a:off x="640080" y="1051560"/>
            <a:ext cx="10607040" cy="1554480"/>
          </a:xfrm>
          <a:prstGeom prst="rect">
            <a:avLst/>
          </a:prstGeom>
          <a:noFill/>
          <a:ln/>
        </p:spPr>
        <p:txBody>
          <a:bodyPr wrap="square" lIns="0" tIns="0" rIns="0" bIns="0" rtlCol="0" anchor="ctr"/>
          <a:lstStyle/>
          <a:p>
            <a:pPr indent="0" marL="0">
              <a:lnSpc>
                <a:spcPts val="4600"/>
              </a:lnSpc>
              <a:buNone/>
            </a:pPr>
            <a:r>
              <a:rPr lang="en-US" sz="3600" dirty="0">
                <a:solidFill>
                  <a:srgbClr val="6FD9D4"/>
                </a:solidFill>
                <a:latin typeface="Telegraf" pitchFamily="34" charset="0"/>
                <a:ea typeface="Telegraf" pitchFamily="34" charset="-122"/>
                <a:cs typeface="Telegraf" pitchFamily="34" charset="-120"/>
              </a:rPr>
              <a:t>In 1968 we decided logic</a:t>
            </a:r>
            <a:endParaRPr lang="en-US" sz="3600" dirty="0"/>
          </a:p>
          <a:p>
            <a:pPr indent="0" marL="0">
              <a:lnSpc>
                <a:spcPts val="4600"/>
              </a:lnSpc>
              <a:buNone/>
            </a:pPr>
            <a:r>
              <a:rPr lang="en-US" sz="3600" dirty="0">
                <a:solidFill>
                  <a:srgbClr val="6FD9D4"/>
                </a:solidFill>
                <a:latin typeface="Telegraf" pitchFamily="34" charset="0"/>
                <a:ea typeface="Telegraf" pitchFamily="34" charset="-122"/>
                <a:cs typeface="Telegraf" pitchFamily="34" charset="-120"/>
              </a:rPr>
              <a:t>shouldn't be welded to copper.</a:t>
            </a:r>
            <a:endParaRPr lang="en-US" sz="3600" dirty="0"/>
          </a:p>
        </p:txBody>
      </p:sp>
      <p:sp>
        <p:nvSpPr>
          <p:cNvPr id="4" name="Text 2"/>
          <p:cNvSpPr/>
          <p:nvPr/>
        </p:nvSpPr>
        <p:spPr>
          <a:xfrm>
            <a:off x="640080" y="2880360"/>
            <a:ext cx="10607040" cy="1097280"/>
          </a:xfrm>
          <a:prstGeom prst="rect">
            <a:avLst/>
          </a:prstGeom>
          <a:noFill/>
          <a:ln/>
        </p:spPr>
        <p:txBody>
          <a:bodyPr wrap="square" lIns="0" tIns="0" rIns="0" bIns="0" rtlCol="0" anchor="ctr"/>
          <a:lstStyle/>
          <a:p>
            <a:pPr indent="0" marL="0">
              <a:lnSpc>
                <a:spcPts val="5000"/>
              </a:lnSpc>
              <a:buNone/>
            </a:pPr>
            <a:r>
              <a:rPr lang="en-US" sz="4000" b="1" dirty="0">
                <a:solidFill>
                  <a:srgbClr val="3DCD58"/>
                </a:solidFill>
                <a:latin typeface="Telegraf" pitchFamily="34" charset="0"/>
                <a:ea typeface="Telegraf" pitchFamily="34" charset="-122"/>
                <a:cs typeface="Telegraf" pitchFamily="34" charset="-120"/>
              </a:rPr>
              <a:t>We were right. We just stopped halfway.</a:t>
            </a:r>
            <a:endParaRPr lang="en-US" sz="4000" dirty="0"/>
          </a:p>
        </p:txBody>
      </p:sp>
      <p:sp>
        <p:nvSpPr>
          <p:cNvPr id="5" name="Text 3"/>
          <p:cNvSpPr/>
          <p:nvPr/>
        </p:nvSpPr>
        <p:spPr>
          <a:xfrm>
            <a:off x="640080" y="4754880"/>
            <a:ext cx="5029200" cy="685800"/>
          </a:xfrm>
          <a:prstGeom prst="rect">
            <a:avLst/>
          </a:prstGeom>
          <a:noFill/>
          <a:ln/>
        </p:spPr>
        <p:txBody>
          <a:bodyPr wrap="square" lIns="0" tIns="0" rIns="0" bIns="0" rtlCol="0" anchor="ctr"/>
          <a:lstStyle/>
          <a:p>
            <a:pPr indent="0" marL="0">
              <a:buNone/>
            </a:pPr>
            <a:r>
              <a:rPr lang="en-US" sz="3400" b="1" dirty="0">
                <a:solidFill>
                  <a:srgbClr val="FFFFFF"/>
                </a:solidFill>
                <a:latin typeface="Telegraf" pitchFamily="34" charset="0"/>
                <a:ea typeface="Telegraf" pitchFamily="34" charset="-122"/>
                <a:cs typeface="Telegraf" pitchFamily="34" charset="-120"/>
              </a:rPr>
              <a:t>Questions</a:t>
            </a:r>
            <a:endParaRPr lang="en-US" sz="3400" dirty="0"/>
          </a:p>
        </p:txBody>
      </p:sp>
      <p:sp>
        <p:nvSpPr>
          <p:cNvPr id="6" name="Text 4"/>
          <p:cNvSpPr/>
          <p:nvPr/>
        </p:nvSpPr>
        <p:spPr>
          <a:xfrm>
            <a:off x="6492240" y="4754880"/>
            <a:ext cx="5029200" cy="1463040"/>
          </a:xfrm>
          <a:prstGeom prst="rect">
            <a:avLst/>
          </a:prstGeom>
          <a:noFill/>
          <a:ln/>
        </p:spPr>
        <p:txBody>
          <a:bodyPr wrap="square" lIns="0" tIns="0" rIns="0" bIns="0" rtlCol="0" anchor="t"/>
          <a:lstStyle/>
          <a:p>
            <a:pPr indent="0" marL="0">
              <a:lnSpc>
                <a:spcPts val="2400"/>
              </a:lnSpc>
              <a:buNone/>
            </a:pPr>
            <a:r>
              <a:rPr lang="en-US" sz="2100" b="1" dirty="0">
                <a:solidFill>
                  <a:srgbClr val="FFFFFF"/>
                </a:solidFill>
                <a:latin typeface="Telegraf" pitchFamily="34" charset="0"/>
                <a:ea typeface="Telegraf" pitchFamily="34" charset="-122"/>
                <a:cs typeface="Telegraf" pitchFamily="34" charset="-120"/>
              </a:rPr>
              <a:t>Kyle Sanders
</a:t>
            </a:r>
            <a:endParaRPr lang="en-US" sz="2100" dirty="0"/>
          </a:p>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Business Development Manager</a:t>
            </a:r>
            <a:endParaRPr lang="en-US" sz="2100" dirty="0"/>
          </a:p>
          <a:p>
            <a:pPr indent="0" marL="0">
              <a:lnSpc>
                <a:spcPts val="2400"/>
              </a:lnSpc>
              <a:buNone/>
            </a:pPr>
            <a:r>
              <a:rPr lang="en-US" sz="1800" dirty="0">
                <a:solidFill>
                  <a:srgbClr val="6FD9D4"/>
                </a:solidFill>
                <a:latin typeface="Telegraf" pitchFamily="34" charset="0"/>
                <a:ea typeface="Telegraf" pitchFamily="34" charset="-122"/>
                <a:cs typeface="Telegraf" pitchFamily="34" charset="-120"/>
              </a:rPr>
              <a:t>Schneider Electric</a:t>
            </a:r>
            <a:endParaRPr lang="en-US" sz="2100" dirty="0"/>
          </a:p>
        </p:txBody>
      </p:sp>
      <p:sp>
        <p:nvSpPr>
          <p:cNvPr id="8" name="Text 5"/>
          <p:cNvSpPr/>
          <p:nvPr/>
        </p:nvSpPr>
        <p:spPr>
          <a:xfrm>
            <a:off x="11228832" y="6473952"/>
            <a:ext cx="502920" cy="292608"/>
          </a:xfrm>
          <a:prstGeom prst="rect">
            <a:avLst/>
          </a:prstGeom>
          <a:noFill/>
          <a:ln/>
        </p:spPr>
        <p:txBody>
          <a:bodyPr wrap="square" lIns="0" tIns="0" rIns="0" bIns="0" rtlCol="0" anchor="ctr"/>
          <a:lstStyle/>
          <a:p>
            <a:pPr algn="r" indent="0" marL="0">
              <a:buNone/>
            </a:pPr>
            <a:r>
              <a:rPr lang="en-US" sz="1100" dirty="0">
                <a:solidFill>
                  <a:srgbClr val="3A3A3A"/>
                </a:solidFill>
                <a:latin typeface="Telegraf" pitchFamily="34" charset="0"/>
                <a:ea typeface="Telegraf" pitchFamily="34" charset="-122"/>
                <a:cs typeface="Telegraf" pitchFamily="34" charset="-120"/>
              </a:rPr>
              <a:t>33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Schneider Electric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Shift to Software-Defined Automation in Water &amp; Wastewater</dc:title>
  <dc:subject>PptxGenJS Presentation</dc:subject>
  <dc:creator>Kyle Sanders</dc:creator>
  <cp:lastModifiedBy>Kyle Sanders</cp:lastModifiedBy>
  <cp:revision>1</cp:revision>
  <dcterms:created xsi:type="dcterms:W3CDTF">2026-08-05T02:54:54Z</dcterms:created>
  <dcterms:modified xsi:type="dcterms:W3CDTF">2026-08-05T02:54:54Z</dcterms:modified>
</cp:coreProperties>
</file>